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72dcf85d-d1b3-032d-7c76-5762c9d9b1f2}">
          <p14:sldIdLst>
            <p14:sldId id="256"/>
          </p14:sldIdLst>
        </p14:section>
        <p14:section name="Metodologia" id="{704cd747-cd24-4d94-fc55-a5156337ede7}">
          <p14:sldIdLst>
            <p14:sldId id="257"/>
          </p14:sldIdLst>
        </p14:section>
        <p14:section name="Analisi funzionale" id="{7aea13a9-ba6d-b47b-7275-2fbdacd2e1a8}">
          <p14:sldIdLst>
            <p14:sldId id="258"/>
            <p14:sldId id="259"/>
          </p14:sldIdLst>
        </p14:section>
        <p14:section name="Già realtà" id="{f8fa33dd-19da-1cb8-c46b-644204232470}">
          <p14:sldIdLst>
            <p14:sldId id="260"/>
          </p14:sldIdLst>
        </p14:section>
        <p14:section name="Architettura e ruoli" id="{c391fc6a-bae1-76c8-05c0-3d7eab2e638b}">
          <p14:sldIdLst>
            <p14:sldId id="261"/>
            <p14:sldId id="262"/>
          </p14:sldIdLst>
        </p14:section>
        <p14:section name="Novità" id="{e8151675-4c11-0eda-fb5b-a4fe0bb7e986}">
          <p14:sldIdLst>
            <p14:sldId id="263"/>
            <p14:sldId id="264"/>
          </p14:sldIdLst>
        </p14:section>
        <p14:section name="Punti aperti" id="{23d060e4-995d-e197-4ee6-318309b81da3}">
          <p14:sldIdLst>
            <p14:sldId id="265"/>
            <p14:sldId id="266"/>
            <p14:sldId id="267"/>
            <p14:sldId id="268"/>
            <p14:sldId id="269"/>
          </p14:sldIdLst>
        </p14:section>
        <p14:section name="Scelte da prendere" id="{f234ab9a-4333-25d8-2094-c4a115f64894}">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Presentazione di riepilogo del portale, aggiornata al 23 ottobre 2026 (revisione 4.0): metodologia, funzioni realizzate, novità, punti aperti di sviluppo e scelte ancora da prendere. Si rigenera a ogni rilascio insieme agli altri documenti ed è disponibile agli Amministratori nella pagina Documentazione del portale.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Metodologia CWP v1.2 (Wastelab e Altraleonia, 04/09/2025), validata da RINA nel 2018 e nel 2020; la versione attuale fa riferimento alla UNI EN ISO 14064-2:2019. I crediti devono essere reali, misurabili, addizionali, verificati, univoci e trasparenti; i ricavi vanno reinvestiti nella gestione dei rifiuti e tracciati nel PEF (Standard 4.9.3). Soggetto promotore del programma (Guida 3.1): lo Studio Associato Wastelab, proprietario del Programma, ha conferito in esclusiva a Fondazione Operate, con accordi legali e commerciali, la gestione sia della parte commerciale sia della parte tecnologica (portale CWP). Il progetto parte dalla data di «progetto registrato» (Standard 4.5); se non presenta Rapporti entro due anni si avvia l'iter della Guida 6.4.1. Le emissioni attese (EA) vengono dai rifiuti dell'anno di riferimento (Catasto ISPRA) ripartiti per classe di utenza con i coefficienti Kb e Kd della delibera TARI; le emissioni di progetto (EP) dai conferimenti misurati di ogni utenza. ΔI = EP − EA, per utenza e per il territorio: se negativa è credito. Il buffer (Capitolo 7) è la somma di più quote: utenze monitorate (Tabella 15, fino al 30% più fino al 10% per categorie non domestiche non monitorate), rifiuti misurati (Tabella 16, dal 3% al 30%, con riduzioni del 2% e dell'1%), 20% di default se si contano solo le utenze virtuose; massimo 80%, dimezzato dall'anno in cui è attiva la tariffa puntuale. La componente trasporto (Capitolo 9) è facoltativa: i fattori WARM la includono già. Non sono previsti fenomeni di leakage. Monitoraggio annuale sulla Banca Dati Utenze, responsabile il gestore delle tariffe; letture valide almeno al 70% (50% se il contratto prevede penali al gestore), anomalie tollerate fino al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otto aree del requisito funzionale dedicate alla gestione del percorso del Comune sono tutte realizzate e pubblicate. Il 18 ottobre sera il portale è stato allineato ai documenti ufficiali del Programma (Guida, Standard, Schema tariffario): Rapporto a 7 fasi con feedback di 20 giorni, un solo account per Organizzazione (Guida 7.2), periodo di 10 anni o 7 rinnovabili (fino a 21 Rapporti), stati della Guida (in fase di validazione, in fase di verifica documentale, progetto registrato, progetto ritirato), un solo progetto per territorio (codice ISTAT, Standard 4.6), tariffe con sospensione fino al saldo, verifica sull'accuratezza e accertamenti (Guida 6.5.2). Le durate delle fasi del Progetto (10, 30, 20, 75 e 15 giorni) coincidono con la Tabella 3 della Guida al Programma. Il 19 ottobre: il Cruscotto diventa Dashboard, con una barra a LED delle 7 fasi per ogni pratica (accese le fasi completate, spente quelle da fare, la settima verde), e tutte le tabelle e gli elenchi del portale si ordinano per qualsiasi colonna.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Novità del 18 ottobre sera, dai documenti del Programma: crediti emessi con ID univoco dopo la registrazione del Rapporto, caricamento sul registro esterno scelto dal Comune, vendite comunicate dal registro e cancellazione tombale entro 10 giorni (Guida 6.3.3, Standard 6.2); pagina pubblica /programma (Guida 3.7); reclami (Politica di reclamo); controlli della Gestione qualità dei dati. Il calcolo dei crediti è una funzione migliorativa, oltre il perimetro dei requisiti: per la Metodologia il calcolo lo fa il soggetto promotore del progetto nel Rapporto di Monitoraggio e l'ente di validazione e verifica lo verifica; il portale permette alla Fondazione di ricalcolare e controllare. È riservato agli Amministratori: import diretto del file del Comune, controlli, rapporto PDF con impronta e numero progressivo per i calcoli ex post confermati (non è il registro dei crediti, che per lo Standard è una piattaforma esterna di vendita). Le garanzie richieste dai requisiti (audit, fascicolo, conservazione 12 anni, ruoli) sono garantite dal database e non solo dall'interfaccia.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Pagina «effetto sorpresa»: nessuno si aspetta che il portale sia già online. Il sistema è stato realizzato da Luca Moretti con l'ausilio di Claude Code ed è quasi terminato; i servizi sono già in produzione: GitHub (codice), Vercel (pubblicazione del portale), Supabase (database, utenti, documenti, funzioni) e Resend (email). Il portale è pubblicato su portale-cwp.vercel.app e funziona con dati di prova: si può aprire durante la presentazione (collegamento cliccabile) o inquadrare il codice QR con il telefono. La pagina pubblica /programma mostra già gli 8 documenti ufficiali del Programma, la Metodologia approvata, la PEC e il soggetto promotore. Lo sviluppo del portale vero è partito il 17 ottobre 2026: da allora sono state pubblicate 177 versioni, 43 script del database e 7 funzioni sul server. Restano i punti aperti delle prossime slide (servizi a pagamento, sicurezza, dati da inserire, collaudo con un Comune). Suggerimento: aprire il portale dal vivo con un utente di prova e mostrare la pagina pubblica.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portale non ha un server proprio: le pagine sono pubblicate da Vercel e girano nel browser; dati, utenti e documenti stanno su Supabase (database Postgres, autenticazione, archivio file, funzioni server, lavori pianificati); le email partono da Resend; il codice è su GitHub e ogni modifica pubblicata su main va online da sola. La sicurezza è nel database: ogni tabella ha regole di accesso per ruolo (Row Level Security) e le azioni sensibili passano da funzioni che controllano ruolo, stato della pratica e motivazione; l'audit lo scrive il database e non si può modificare; la chiave di servizio non arriva mai al browser. Oggi i servizi sono sui piani gratuiti, in un ambiente unico: il passaggio ai piani a pagamento (deciso) porta backup, repository privato e limiti più ampi; restano da attivare l'ambiente di prova, il dominio email verificato, la verifica in due passaggi per lo staff e l'antivirus sui file. Copie di sicurezza: il 19/10 è stato fatto un archivio di backup completo (codice con tutta la storia, manuali, documenti ufficiali, progetto Claude, artefatti) ed è stato scritto il documento Istruzioni di ripristino, che spiega come rimettere in funzione GitHub, Vercel, Supabase, Resend e il progetto Claude. Oggi il database non ha copie automatiche (piano gratuito): con il piano Pro arrivano le copie giornaliere, ma i file caricati vanno comunque copiati a parte.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Fondazione Operate è il soggetto promotore del programma: lo Studio Associato Wastelab, proprietario del Programma, le ha conferito in esclusiva la gestione commerciale e tecnologica (portale CWP). Nel portale ha due ruoli: Operatori (back-office quotidiano) e Amministratori (configurazione, calcolo ed emissione dei crediti, audit). Il Comune, promotore del progetto, ha un solo account (Guida 7.2). L'ente di validazione e verifica oggi non ha un account: è censito e assegnato alle pratiche e i suoi rapporti e dichiarazioni li carica la Fondazione, rendendoli pubblici come chiede la Guida; un accesso dedicato all'ente (quarto ruolo, solo le pratiche assegnate) è lo sviluppo naturale. Il pubblico usa la pagina /programma e il feedback pubblico; i registri restano piattaforme esterne: vendite e cancellazioni sono registrate dalla Fondazione dalla Comunicazione di vendita e dalla Dichiarazione di cancellazione tombale (Standard 6.2).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Novità pubblicate il 19 ottobre pomeriggio, su richiesta di Luca. Dashboard (prima «Cruscotto»): per ogni pratica una barra di 7 luci, una per fase, accese le fasi completate e spente quelle da fare, la settima verde; la fase in corso ha il contorno. Ordinamento: ogni tabella del portale si ordina per qualsiasi colonna e gli elenchi a schede hanno il menu «Ordina per». Utenti: un Amministratore può nominare altri Amministratori, tutti con accesso completo; l'Amministratore principale luca.moretti@operate.it è protetto dal database (non si declassa, non si disattiva, non si cancella, nemmeno dal pannello di Supabase); si possono eliminare solo gli utenti che non hanno mai operato (nessuna voce nell'audit e nessun dato a loro nome). Email: il nuovo utente riceve indirizzo del portale, email e password temporanea, con l'obbligo di sceglierne una personale al primo accesso; finché il dominio operate.it non è verificato su Resend le email arrivano solo al titolare dell'account. Simulatore: oltre al bilancio del Comune c'è il metodo per utenza con le sole utenze virtuose (formula 32 con buffer), lo stesso delle stime dell'Allegato A dei contratti EsaCom; il buffer si calcola dalle Tabelle 15-16. Decisione: il portale non va qualificato ACN come servizio cloud per la PA, perché serve a qualificare il modello e il Comune vi riversa dati senza acquistare un servizio; restano GDPR, dati in UE e sicurezza; da confermare con un parere legale. Il 20 ottobre: sezione «Audit User» per l'Amministratore principale, con tutti gli utenti online o no, il registro degli accessi (entrate, uscite, tentativi non riusciti, senza indirizzi IP) e le operazioni dell'audit trail per utente, compreso lo scaricamento dei documenti; utenti online per l'Amministratore principale (chi è collegato adesso, pagina aperta, da quanto, e chi è stato visto nelle ultime 24 ore; si conserva solo l'ultimo collegamento, gli utenti ne sono informati nel Manuale Utente); messaggi d'errore dell'assistente in italiano semplice, con la causa per gli Amministratori; simulatore con PDF impaginato in A4 orizzontale ed export Excel con i fogli Sintesi, Anni, Economia e Costi. Menu riordinati da Luca il 20/10: Amministratori Dashboard, Anagrafiche, Simulatore, Pratiche, Reclami, Calcolo crediti, Crediti emessi, Impostazioni, Utenti, Audit, Audit User (solo il principale), Documentazione; enti Le mie pratiche, I tuoi documenti, Reclami, Formato dati, Il Programma CWP, Manuali; per entrambi la voce Marketplaces in grigio, sezione in arrivo da definire.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Novità del 22 e 23 ottobre 2026. Collaudo: i rilievi N01-N04 della terza sessione sono corretti e in produzione dal 22/10 alle 14:30 (script 39); N05 e N06 aspettano una regola della Fondazione. Smartphone: fino a 760 px l'intestazione è compatta con il pulsante Menu, Dashboard e Audit diventano schede, le pratiche si aprono una alla volta e l'assistente occupa lo schermo. Banca Dati Utenze per utenza (script 40, 22/10): ogni anno il Comune o il gestore compila il modello Excel con l'elenco completo delle utenze, domestiche e non domestiche, con kg e svuotamenti per frazione e categoria tariffaria; il portale propone la categoria di simulazione uguale alla tariffaria e la si può cambiare da un modulo per ogni utenza. Dal 23/10 (script 41) «Calcola» usa le utenze: la categoria di simulazione decide la classe della delibera e quindi i rifiuti attesi, i kg sono i rifiuti prodotti, le frazioni lasciate vuote non entrano nel calcolo di quell'utenza; utenze senza categoria o con categoria fuori delibera restano fuori e bloccano la conferma. Nomi e indirizzi sono visibili solo allo staff, con ogni consultazione nell'Audit; servono DPIA e accordo art. 28 con i Comuni prima dei dati reali. Dashboard (script 42, 23/10): valore complessivo dei crediti in simulazione (ultimo scenario per Comune, crediti ed euro del periodo) e in fase esecutiva (calcoli ex post confermati, lotti emessi, vendite), con prezzo di riferimento di 32 € modificabile in Impostazioni; gli utenti dei Comuni vedono gli stessi riquadri con i soli propri dati.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parte funzionale dei requisiti del 15/09 è chiusa e dal 18/10 sera il portale segue anche i documenti ufficiali del Programma. Restano tre gruppi. 1) Requisiti tecnici e di sicurezza (sezioni 13-15 dei requisiti); il 19/10 sono stati fatti l'archivio di backup completo e le Istruzioni di ripristino, mancano le copie automatiche di database e file. 2) Avvio della piattaforma pubblica (Guida 3.7): la pagina /programma è attiva e pubblica già gli otto documenti ufficiali v1.2 (Guida, Definizioni, Normativa, Standard, Metodologia, Politica di reclamo, Schema tariffario, Gestione qualità dei dati) e la Metodologia approvata; la PEC del Programma per i reclami è operate@pec.it; vanno aggiunti gli enti di validazione e verifica e i registri riconosciuti e la modulistica quando disponibile. L'accesso con SPID, CIE o CNS (Guida 3.9) richiede l'adesione della Fondazione come fornitore di servizi (AgID o aggregatore accreditato): fino ad allora resta l'email confermata. 3) Qualità dei dati e completamenti: i controlli del documento Gestione della qualità dei dati sono nel calcolo (Tabella 3 dello Standard ±30% con motivazione obbligatoria, completezza, unicità, letture a buon fine, tempestività) e servono popolazione e cluster SOSE ufficiali di ogni Comune; poi privacy, accessibilità, collaudo con dati reali. L'assistente AI resta un supporto al back-office, come previsto dai requisiti (sezione 17). Da fare subito (19/10 sera). Azioni di Luca: ripubblicare le funzioni crea-utente e reimposta-password (email delle credenziali), rieseguire la funzione utente_mai_attivo dello script 30, verificare il dominio email su Resend, decidere se intestare alla Fondazione la fatturazione dell'assistente. Sviluppo: utenti online per l'amministratore principale, messaggi d'errore dell'assistente in italiano (proposta), stampa PDF del simulatore, sicurezza e piani a pagamento, collaudo con dati reali.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nuovi moduli entrano nel progetto e in tutti i documenti (Registro, backlog punti 37 e 21). Simulatore di scenari, richiesto da Luca il 19/10: per ogni Comune si creano più scenari; la durata si sceglie da un menu a tendina tra 7, 10 e 21 anni (Standard 4.3.8: periodo di 10 anni oppure 7 rinnovabili fino a 21); si acquisiscono i dati dell'anno base (popolazione, produzione totale e pro capite, raccolta differenziata, ripartizione per frazione, parametri del calcolo); per ogni anno si inseriscono gli obiettivi di produzione totale e pro capite e di secco residuo pro capite; il simulatore ricalcola la percentuale di differenziata e stima anno per anno i crediti che il Comune potrebbe generare, con due metodi: il bilancio del Comune (tutte le utenze insieme, il più prudente) e il metodo per utenza con le sole utenze virtuose e il buffer del Capitolo 7, lo stesso delle stime dell'Allegato A dei contratti EsaCom. È una stima ex ante utile a presentare il Programma ai Comuni: il modello semplificato va confermato dalla Fondazione. Assistente virtuale (prima versione del 19/10, attiva dallo stesso giorno): pulsante «✦ Assistente» per Amministratori e utenti degli enti; risponde in italiano solo dalla base di conoscenza (Manuale Utente e tariffe per gli enti, in più Manuale Amministratore e note sul calcolo per gli Amministratori), non vede le pratiche, non salva i testi, limite di 40 domande al giorno per utente. Funziona con Claude Haiku 5.5 tramite la funzione del server «assistente»; la base di conoscenza resta nella cache dei prompt, quindi una domanda costa di solito meno di un centesimo di dollaro. Funziona con una chiave della Claude Console, legata a un solo spazio di lavoro, inserita da Luca nei segreti di Supabase: l'uso API è fatturato a parte rispetto ai piani claude.ai; Luca ha collegato i crediti API mensili del piano Max e acquistato 100 dollari di crediti. Prova dal vivo del 19/10: risposte corrette su creazione utenti e costi del Caso 1. Passi successivi: Operatori e aiuto sulla singola pratica.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simulatore è già nel portale (menu Simulatore, per Operatori e Amministratori) ed è conforme al modello CWP: scenario di riferimento dello Standard 4.8.1 (anno in cui il Comune ha raggiunto il 65% di differenziata oppure valori medi del cluster SOSE della Tabella 3 × popolazione ISPRA 2022), durata 7, 10 o 21 anni (Standard 4.3.8), stima ex ante a livello di Comune ammessa dalla Metodologia (Capitoli 6.1 e 6.2), fattori di emissione e formule della Metodologia v1.2, buffer. L'esempio usa dati di prova: un Comune di 12.500 abitanti del cluster 4 (riferimento 445 kg/ab, 78,7% di differenziata), oggi a 430 kg/ab con 90 kg/ab di secco, obiettivo al 2036 di 380 kg/ab e 50 kg/ab di secco. Il simulatore ricalcola ogni anno la differenziata (fino all'87%) e stima circa 11.500 tCO₂eq di crediti netti in 10 anni dopo un buffer del 20%. Da sapere: i crediti nascono dai rifiuti evitati rispetto al riferimento (qui 1 t in meno vale circa 2,7 tCO₂eq); spostare rifiuti dal secco alla differenziata a parità di totale non genera crediti. È una stima ex ante, non certificabile; il modello va confermato dalla Fondazione.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simulatore stima anche la parte economica per il Comune o il gestore. Ricavi: crediti netti stimati per anno × valore del credito, digitato anno per anno (proposto 32 €). Costi: il simulatore chiede se usare il Caso 1 (progetto volontario) o il Caso 2 (progetto obbligatorio, per esempio da bando di gara di un Comune che ha inserito il CWP come metodo), con le tabelle «Costi per il Soggetto Promotore» di Fondazione Operate del 28/07/2026: sei voci (Progetto, Rapporto di Monitoraggio, registrazione del Progetto, dei crediti del Progetto, del Rapporto e dei crediti del Rapporto), costo per abitante per fascia di popolazione con interpolazione e arrotondamento per eccesso, minimo e massimo annuo, una tantum ammortizzati in 10 anni; validazione dell'ente esclusa. Esempio con i dati ISPRA 2021 di Bovisio-Masciago (16.735 abitanti), obiettivo 400 kg/ab e 50 kg/ab di secco al 2036, 32 € a credito. Con il metodo per utenza (solo utenze virtuose, secco e organico misurati, tariffa puntuale, variabilità tra utenze 30%, buffer 30%): 34.188 crediti netti in 10 anni (0,20 per abitante all'anno, nell'intervallo 0,19-0,23 dell'Allegato A EsaCom), ricavi 1.093.792 €; Caso 1 costi 162.330 € (9,70 € per abitante) e margine +931.463 €; Caso 2 costi 242.658 € e margine +851.135 €. Con il bilancio del Comune (il metodo più prudente): 6.707 crediti, ricavi 214.464 €, Caso 1 +52.134 € (rientro nel 2034), Caso 2 −28.193 €. La differenza viene soprattutto dal fatto che Bovisio ha già l'84% di differenziata: il secco delle utenze è molto sotto il riferimento al 65%. Il Caso 1 con 154.247 abitanti riproduce le cifre dei contratti tipo EsaCom. L'Allegato A indica 6,08 € per abitante di costo contro 5,36 delle tabelle: la differenza potrebbe essere l'ente di validazione e verifica. Stima indicativa, non un piano finanziario.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Oggi tutti i servizi sono sui piani gratuiti, che non vanno bene per l'esercizio (attenzione: le copie giornaliere di Supabase Pro non comprendono i file caricati, che si copiano a parte come spiegato nelle Istruzioni di ripristino): Vercel Hobby è solo per uso non commerciale, i progetti Supabase gratuiti non hanno backup e si sospendono dopo una settimana di inattività, Resend gratuito invia al massimo 100 email al giorno, e il repository GitHub è pubblico. Indispensabili (circa 74 dollari al mese): GitHub Team (4 dollari per utente) con un'organizzazione intestata alla Fondazione, repository privato e regole sul ramo main (revisione obbligatoria); Vercel Pro (20 dollari per utente, banda 1 TB, uso commerciale, controllo della spesa); Supabase Pro (25 dollari, comprende 10 dollari di calcolo Micro: backup giornalieri conservati 7 giorni, progetto mai sospeso, 8 GB di database, 100 GB di file, 100.000 utenti attivi al mese) più il passaggio al calcolo Small (15 dollari, 2 GB di memoria, differenza 5 dollari); Resend Pro (20 dollari, 50.000 email al mese, nessun limite giornaliero). Consigliati (circa 130 dollari in più): Point-in-Time Recovery di Supabase (100 dollari al mese, ripristino al minuto degli ultimi 7 giorni), ambiente di prova con branching Supabase (0,01344 dollari l'ora, circa 10 dollari al mese se sempre attivo), GitHub Secret Protection (19 dollari per committer attivo). Sentry Developer è gratuito (1 utente, 5.000 errori al mese). Il piano Supabase Team (599 dollari al mese, certificazioni SOC 2 e ISO 27001, backup 14 giorni) oggi non serve. A costo zero: verifica in due passaggi sugli account dei fornitori, chiavi solo nelle variabili d'ambiente, dominio operate.it per portale ed email (SPF, DKIM, DMARC).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18 ottobre sera sono state prese e realizzate le scelte di allineamento ai documenti ufficiali: Rapporto a 7 fasi con feedback di 20 giorni (Guida 6.3.1), conservazione 12 anni (Guida 6.2.1 e 6.5.1), un solo account per Organizzazione con fino a 2 delegati (Guida 7.2), periodo di 10 anni o 7 rinnovabili (Standard 4.3.8), stati e ID della Guida, ritiro e rientro, un solo progetto per territorio, tariffe e sospensione fino al saldo, piattaforma pubblica, crediti emessi con registro esterno, reclami, qualità dei dati. Il ruolo di soggetto promotore del programma è definito: Wastelab ha conferito in esclusiva a Fondazione Operate la gestione commerciale e tecnologica (portale CWP). Restano aperte quelle in tabella. Lo Standard 4.14 chiede al promotore del progetto di conservare i documenti almeno 2 anni dopo la fine del progetto, i registri 5 anni dopo la vendita (Standard 6.3). Scelte prese prima (Registro, capitolo Decisioni): A (una nuova versione non fa ripartire il termine), B (errata corrige: ripartenza decisa caso per caso), D (commentatori esterni con email confermata, in attesa di SPID), durate modificabili dall'Admin, pagamenti visibili al Comune, chiusura manuale della pratica, documenti richiesti non bloccanti, audit leggibile dallo staff. Le scelte interpretative del calcolo sono sette (docs/crediti-cwp.md). Il 19 ottobre: più amministratori con uno principale protetto; qualificazione ACN valutata non necessaria (da confermare con un parere legale).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PERTINA">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48840"/>
            <a:ext cx="6766560" cy="164592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r>
              <a:rPr lang="en-US" sz="4000" b="1" dirty="0">
                <a:solidFill>
                  <a:schemeClr val="bg1"/>
                </a:solidFill>
                <a:latin typeface="Cambria" pitchFamily="34" charset="0"/>
                <a:ea typeface="Cambria" pitchFamily="34" charset="-122"/>
                <a:cs typeface="Cambria" pitchFamily="34" charset="-120"/>
              </a:rPr>
              <a:t>Titolo</a:t>
            </a:r>
            <a:endParaRPr lang="en-US" sz="4000" dirty="0"/>
          </a:p>
        </p:txBody>
      </p:sp>
      <p:sp>
        <p:nvSpPr>
          <p:cNvPr id="3" name="Text 0"/>
          <p:cNvSpPr/>
          <p:nvPr>
            <p:ph idx="101" type="body" hasCustomPrompt="1"/>
          </p:nvPr>
        </p:nvSpPr>
        <p:spPr>
          <a:xfrm>
            <a:off x="731520" y="3977640"/>
            <a:ext cx="6766560" cy="1097280"/>
          </a:xfrm>
          <a:prstGeom prst="rect">
            <a:avLst/>
          </a:prstGeom>
          <a:noFill/>
          <a:ln/>
        </p:spPr>
        <p:txBody>
          <a:bodyPr wrap="square" rtlCol="0"/>
          <a:lstStyle>
            <a:lvl1pPr indent="0" marL="0">
              <a:buNone/>
              <a:defRPr lang="en-US" sz="1800" dirty="0">
                <a:solidFill>
                  <a:schemeClr val="accent3"/>
                </a:solidFill>
              </a:defRPr>
            </a:lvl1pPr>
          </a:lstStyle>
          <a:p>
            <a:pPr indent="0" marL="0">
              <a:buNone/>
            </a:pPr>
            <a:r>
              <a:rPr lang="en-US" sz="1800" dirty="0">
                <a:solidFill>
                  <a:schemeClr val="accent3"/>
                </a:solidFill>
              </a:rPr>
              <a:t>Sottotitolo</a:t>
            </a: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T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31520"/>
          </a:xfrm>
          <a:prstGeom prst="rect">
            <a:avLst/>
          </a:prstGeom>
          <a:noFill/>
          <a:ln/>
        </p:spPr>
        <p:txBody>
          <a:bodyPr wrap="square" rtlCol="0"/>
          <a:lstStyle>
            <a:lvl1pPr algn="l" indent="0" marL="0">
              <a:buNone/>
              <a:defRPr lang="en-US" sz="3000" b="1" dirty="0">
                <a:solidFill>
                  <a:schemeClr val="tx2"/>
                </a:solidFill>
                <a:latin typeface="Cambria" pitchFamily="34" charset="0"/>
                <a:ea typeface="Cambria" pitchFamily="34" charset="-122"/>
                <a:cs typeface="Cambria" pitchFamily="34" charset="-120"/>
              </a:defRPr>
            </a:lvl1pPr>
          </a:lstStyle>
          <a:p>
            <a:pPr algn="l" indent="0" marL="0">
              <a:buNone/>
            </a:pPr>
            <a:r>
              <a:rPr lang="en-US" sz="3000" b="1" dirty="0">
                <a:solidFill>
                  <a:schemeClr val="tx2"/>
                </a:solidFill>
                <a:latin typeface="Cambria" pitchFamily="34" charset="0"/>
                <a:ea typeface="Cambria" pitchFamily="34" charset="-122"/>
                <a:cs typeface="Cambria" pitchFamily="34" charset="-120"/>
              </a:rPr>
              <a:t>Titolo</a:t>
            </a:r>
            <a:endParaRPr lang="en-US" sz="3000" dirty="0"/>
          </a:p>
        </p:txBody>
      </p:sp>
      <p:pic>
        <p:nvPicPr>
          <p:cNvPr id="3" name="Image 0" descr="/home/claude/portale-cwp/public/loghi/carbonwasteprint.png">    </p:cNvPr>
          <p:cNvPicPr>
            <a:picLocks noChangeAspect="1"/>
          </p:cNvPicPr>
          <p:nvPr/>
        </p:nvPicPr>
        <p:blipFill>
          <a:blip r:embed="rId1"/>
          <a:stretch>
            <a:fillRect/>
          </a:stretch>
        </p:blipFill>
        <p:spPr>
          <a:xfrm>
            <a:off x="9902952" y="329184"/>
            <a:ext cx="731520" cy="453542"/>
          </a:xfrm>
          <a:prstGeom prst="rect">
            <a:avLst/>
          </a:prstGeom>
        </p:spPr>
      </p:pic>
      <p:pic>
        <p:nvPicPr>
          <p:cNvPr id="4" name="Image 1" descr="/home/claude/portale-cwp/public/loghi/fondazione-operate.png">    </p:cNvPr>
          <p:cNvPicPr>
            <a:picLocks noChangeAspect="1"/>
          </p:cNvPicPr>
          <p:nvPr/>
        </p:nvPicPr>
        <p:blipFill>
          <a:blip r:embed="rId2"/>
          <a:stretch>
            <a:fillRect/>
          </a:stretch>
        </p:blipFill>
        <p:spPr>
          <a:xfrm>
            <a:off x="10725912" y="448056"/>
            <a:ext cx="914400" cy="328041"/>
          </a:xfrm>
          <a:prstGeom prst="rect">
            <a:avLst/>
          </a:prstGeom>
        </p:spPr>
      </p:pic>
      <p:sp>
        <p:nvSpPr>
          <p:cNvPr id="5"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6"/>
                </a:solidFill>
              </a:rPr>
              <a:t>Portale Carbon WastePrint · Stato dei lavori e recap · 23 ottobre 2026 · rev. 4.0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portale-cwp.vercel.app" TargetMode="External"/><Relationship Id="rId2" Type="http://schemas.openxmlformats.org/officeDocument/2006/relationships/hyperlink" Target="https://portale-cwp.vercel.app/programma" TargetMode="External"/><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png"/><Relationship Id="rId7" Type="http://schemas.openxmlformats.org/officeDocument/2006/relationships/image" Target="../media/image-3-5.png"/><Relationship Id="rId8" Type="http://schemas.openxmlformats.org/officeDocument/2006/relationships/image" Target="../media/image-3-6.png"/><Relationship Id="rId9" Type="http://schemas.openxmlformats.org/officeDocument/2006/relationships/image" Target="../media/image-3-7.png"/><Relationship Id="rId10" Type="http://schemas.openxmlformats.org/officeDocument/2006/relationships/image" Target="../media/image-3-8.png"/><Relationship Id="rId11" Type="http://schemas.openxmlformats.org/officeDocument/2006/relationships/slideLayout" Target="../slideLayouts/slideLayout3.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portale-cwp.vercel.app" TargetMode="External"/><Relationship Id="rId2" Type="http://schemas.openxmlformats.org/officeDocument/2006/relationships/hyperlink" Target="https://portale-cwp.vercel.app/programma" TargetMode="External"/><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image" Target="../media/image-4-5.png"/><Relationship Id="rId8" Type="http://schemas.openxmlformats.org/officeDocument/2006/relationships/image" Target="../media/image-4-6.png"/><Relationship Id="rId9" Type="http://schemas.openxmlformats.org/officeDocument/2006/relationships/image" Target="../media/image-4-7.png"/><Relationship Id="rId10" Type="http://schemas.openxmlformats.org/officeDocument/2006/relationships/image" Target="../media/image-4-8.png"/><Relationship Id="rId11" Type="http://schemas.openxmlformats.org/officeDocument/2006/relationships/image" Target="../media/image-4-9.png"/><Relationship Id="rId12" Type="http://schemas.openxmlformats.org/officeDocument/2006/relationships/slideLayout" Target="../slideLayouts/slideLayout3.xml"/><Relationship Id="rId1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portale-cwp.vercel.app" TargetMode="External"/><Relationship Id="rId2" Type="http://schemas.openxmlformats.org/officeDocument/2006/relationships/hyperlink" Target="https://portale-cwp.vercel.app/programma" TargetMode="External"/><Relationship Id="rId6" Type="http://schemas.openxmlformats.org/officeDocument/2006/relationships/hyperlink" Target="https://portale-cwp.vercel.app" TargetMode="External"/><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Pannello verde"/>
          <p:cNvSpPr/>
          <p:nvPr/>
        </p:nvSpPr>
        <p:spPr>
          <a:xfrm>
            <a:off x="0" y="0"/>
            <a:ext cx="8138160" cy="6858000"/>
          </a:xfrm>
          <a:prstGeom prst="rect">
            <a:avLst/>
          </a:prstGeom>
          <a:solidFill>
            <a:schemeClr val="tx2"/>
          </a:solidFill>
          <a:ln w="12700">
            <a:solidFill>
              <a:schemeClr val="tx2"/>
            </a:solidFill>
            <a:prstDash val="solid"/>
          </a:ln>
        </p:spPr>
      </p:sp>
      <p:sp>
        <p:nvSpPr>
          <p:cNvPr id="3" name="Text 0"/>
          <p:cNvSpPr/>
          <p:nvPr>
            <p:ph idx="100" type="title" hasCustomPrompt="1"/>
          </p:nvPr>
        </p:nvSpPr>
        <p:spPr>
          <a:xfrm>
            <a:off x="731520" y="2148840"/>
            <a:ext cx="6766560" cy="164592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Portale Carbon WastePrint</a:t>
            </a:r>
            <a:endParaRPr lang="en-US" sz="4000" dirty="0"/>
          </a:p>
        </p:txBody>
      </p:sp>
      <p:sp>
        <p:nvSpPr>
          <p:cNvPr id="4" name="Text 0"/>
          <p:cNvSpPr/>
          <p:nvPr>
            <p:ph idx="101" type="body" hasCustomPrompt="1"/>
          </p:nvPr>
        </p:nvSpPr>
        <p:spPr>
          <a:xfrm>
            <a:off x="731520" y="3977640"/>
            <a:ext cx="6766560" cy="1097280"/>
          </a:xfrm>
          <a:prstGeom prst="rect">
            <a:avLst/>
          </a:prstGeom>
          <a:noFill/>
          <a:ln/>
        </p:spPr>
        <p:txBody>
          <a:bodyPr wrap="square" lIns="0" tIns="0" rIns="0" bIns="0" rtlCol="0" anchor="t"/>
          <a:lstStyle/>
          <a:p>
            <a:pPr indent="0" marL="0">
              <a:buNone/>
            </a:pPr>
            <a:r>
              <a:rPr lang="en-US" sz="1800" dirty="0">
                <a:solidFill>
                  <a:schemeClr val="accent3"/>
                </a:solidFill>
              </a:rPr>
              <a:t>Stato dei lavori e recap: metodologia, funzioni, novità, punti aperti e scelte da prendere · aggiornata al 23 ottobre 2026 · rev. 4.0</a:t>
            </a:r>
            <a:endParaRPr lang="en-US" sz="1800" dirty="0"/>
          </a:p>
        </p:txBody>
      </p:sp>
      <p:sp>
        <p:nvSpPr>
          <p:cNvPr id="5" name="Text 3"/>
          <p:cNvSpPr txBox="1"/>
          <p:nvPr/>
        </p:nvSpPr>
        <p:spPr>
          <a:xfrm>
            <a:off x="731520" y="640080"/>
            <a:ext cx="6766560" cy="365760"/>
          </a:xfrm>
          <a:prstGeom prst="rect">
            <a:avLst/>
          </a:prstGeom>
          <a:noFill/>
          <a:ln/>
        </p:spPr>
        <p:txBody>
          <a:bodyPr wrap="square" lIns="0" tIns="0" rIns="0" bIns="0" rtlCol="0" anchor="ctr"/>
          <a:lstStyle/>
          <a:p>
            <a:pPr indent="0" marL="0">
              <a:buNone/>
            </a:pPr>
            <a:r>
              <a:rPr lang="en-US" sz="1200" b="1" spc="200" kern="0" dirty="0">
                <a:solidFill>
                  <a:schemeClr val="accent3"/>
                </a:solidFill>
              </a:rPr>
              <a:t>FONDAZIONE OPERATE · PROGRAMMA CARBON WASTEPRINT®</a:t>
            </a:r>
            <a:endParaRPr lang="en-US" sz="1200" dirty="0"/>
          </a:p>
        </p:txBody>
      </p:sp>
      <p:pic>
        <p:nvPicPr>
          <p:cNvPr id="6" name="Logo Carbon WastePrint" descr="/home/claude/portale-cwp/public/loghi/carbonwasteprint.png">    </p:cNvPr>
          <p:cNvPicPr>
            <a:picLocks noChangeAspect="1"/>
          </p:cNvPicPr>
          <p:nvPr/>
        </p:nvPicPr>
        <p:blipFill>
          <a:blip r:embed="rId1"/>
          <a:stretch>
            <a:fillRect/>
          </a:stretch>
        </p:blipFill>
        <p:spPr>
          <a:xfrm>
            <a:off x="8732520" y="1737360"/>
            <a:ext cx="2926080" cy="1814170"/>
          </a:xfrm>
          <a:prstGeom prst="rect">
            <a:avLst/>
          </a:prstGeom>
        </p:spPr>
      </p:pic>
      <p:pic>
        <p:nvPicPr>
          <p:cNvPr id="7" name="Logo Fondazione Operate" descr="/home/claude/portale-cwp/public/loghi/fondazione-operate.png">    </p:cNvPr>
          <p:cNvPicPr>
            <a:picLocks noChangeAspect="1"/>
          </p:cNvPicPr>
          <p:nvPr/>
        </p:nvPicPr>
        <p:blipFill>
          <a:blip r:embed="rId2"/>
          <a:stretch>
            <a:fillRect/>
          </a:stretch>
        </p:blipFill>
        <p:spPr>
          <a:xfrm>
            <a:off x="8732520" y="3931920"/>
            <a:ext cx="2926080" cy="104973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La metodologia CWP in sintesi</a:t>
            </a:r>
            <a:endParaRPr lang="en-US" sz="3000" dirty="0"/>
          </a:p>
        </p:txBody>
      </p:sp>
      <p:sp>
        <p:nvSpPr>
          <p:cNvPr id="3" name="Text 1"/>
          <p:cNvSpPr txBox="1"/>
          <p:nvPr/>
        </p:nvSpPr>
        <p:spPr>
          <a:xfrm>
            <a:off x="548640" y="1097280"/>
            <a:ext cx="11064240" cy="457200"/>
          </a:xfrm>
          <a:prstGeom prst="rect">
            <a:avLst/>
          </a:prstGeom>
          <a:noFill/>
          <a:ln/>
        </p:spPr>
        <p:txBody>
          <a:bodyPr wrap="square" lIns="0" tIns="0" rIns="0" bIns="0" rtlCol="0" anchor="ctr"/>
          <a:lstStyle/>
          <a:p>
            <a:pPr indent="0" marL="0">
              <a:buNone/>
            </a:pPr>
            <a:r>
              <a:rPr lang="en-US" sz="1500" dirty="0">
                <a:solidFill>
                  <a:schemeClr val="accent6"/>
                </a:solidFill>
              </a:rPr>
              <a:t>Il Programma trasforma in crediti di carbonio la CO₂eq evitata dai comportamenti virtuosi delle utenze, misurati uno per uno (Metodologia CWP v1.2, conforme a UNI EN ISO 14064-2:2019).</a:t>
            </a:r>
            <a:endParaRPr lang="en-US" sz="1500" dirty="0"/>
          </a:p>
        </p:txBody>
      </p:sp>
      <p:sp>
        <p:nvSpPr>
          <p:cNvPr id="4" name="Formula Emissioni attese (EA)"/>
          <p:cNvSpPr/>
          <p:nvPr/>
        </p:nvSpPr>
        <p:spPr>
          <a:xfrm>
            <a:off x="548640" y="1691640"/>
            <a:ext cx="2514600" cy="1280160"/>
          </a:xfrm>
          <a:prstGeom prst="roundRect">
            <a:avLst>
              <a:gd name="adj" fmla="val 8571"/>
            </a:avLst>
          </a:prstGeom>
          <a:solidFill>
            <a:schemeClr val="bg2"/>
          </a:solidFill>
          <a:ln w="12700">
            <a:solidFill>
              <a:schemeClr val="bg2"/>
            </a:solidFill>
            <a:prstDash val="solid"/>
          </a:ln>
        </p:spPr>
      </p:sp>
      <p:sp>
        <p:nvSpPr>
          <p:cNvPr id="5" name="Text 3"/>
          <p:cNvSpPr txBox="1"/>
          <p:nvPr/>
        </p:nvSpPr>
        <p:spPr>
          <a:xfrm>
            <a:off x="731520" y="1828800"/>
            <a:ext cx="2148840" cy="1005840"/>
          </a:xfrm>
          <a:prstGeom prst="rect">
            <a:avLst/>
          </a:prstGeom>
          <a:noFill/>
          <a:ln/>
        </p:spPr>
        <p:txBody>
          <a:bodyPr wrap="square" lIns="0" tIns="0" rIns="0" bIns="0" rtlCol="0" anchor="ctr"/>
          <a:lstStyle/>
          <a:p>
            <a:pPr indent="0" marL="0">
              <a:spcAft>
                <a:spcPts val="600"/>
              </a:spcAft>
              <a:buNone/>
            </a:pPr>
            <a:r>
              <a:rPr lang="en-US" sz="1800" b="1" dirty="0">
                <a:solidFill>
                  <a:schemeClr val="tx1"/>
                </a:solidFill>
              </a:rPr>
              <a:t>Emissioni attese (EA)</a:t>
            </a:r>
            <a:endParaRPr lang="en-US" sz="1800" dirty="0"/>
          </a:p>
          <a:p>
            <a:pPr indent="0" marL="0">
              <a:spcAft>
                <a:spcPts val="600"/>
              </a:spcAft>
              <a:buNone/>
            </a:pPr>
            <a:r>
              <a:rPr lang="en-US" sz="1300" dirty="0">
                <a:solidFill>
                  <a:schemeClr val="tx1"/>
                </a:solidFill>
              </a:rPr>
              <a:t>Scenario di riferimento: rifiuti dell'anno (Catasto ISPRA) ripartiti per classe di utenza (delibera TARI)</a:t>
            </a:r>
            <a:endParaRPr lang="en-US" sz="1800" dirty="0"/>
          </a:p>
        </p:txBody>
      </p:sp>
      <p:sp>
        <p:nvSpPr>
          <p:cNvPr id="6" name="Formula Emissioni di progetto (EP)"/>
          <p:cNvSpPr/>
          <p:nvPr/>
        </p:nvSpPr>
        <p:spPr>
          <a:xfrm>
            <a:off x="3520440" y="1691640"/>
            <a:ext cx="2514600" cy="1280160"/>
          </a:xfrm>
          <a:prstGeom prst="roundRect">
            <a:avLst>
              <a:gd name="adj" fmla="val 8571"/>
            </a:avLst>
          </a:prstGeom>
          <a:solidFill>
            <a:schemeClr val="bg2"/>
          </a:solidFill>
          <a:ln w="12700">
            <a:solidFill>
              <a:schemeClr val="bg2"/>
            </a:solidFill>
            <a:prstDash val="solid"/>
          </a:ln>
        </p:spPr>
      </p:sp>
      <p:sp>
        <p:nvSpPr>
          <p:cNvPr id="7" name="Text 5"/>
          <p:cNvSpPr txBox="1"/>
          <p:nvPr/>
        </p:nvSpPr>
        <p:spPr>
          <a:xfrm>
            <a:off x="3703320" y="1828800"/>
            <a:ext cx="2148840" cy="1005840"/>
          </a:xfrm>
          <a:prstGeom prst="rect">
            <a:avLst/>
          </a:prstGeom>
          <a:noFill/>
          <a:ln/>
        </p:spPr>
        <p:txBody>
          <a:bodyPr wrap="square" lIns="0" tIns="0" rIns="0" bIns="0" rtlCol="0" anchor="ctr"/>
          <a:lstStyle/>
          <a:p>
            <a:pPr indent="0" marL="0">
              <a:spcAft>
                <a:spcPts val="600"/>
              </a:spcAft>
              <a:buNone/>
            </a:pPr>
            <a:r>
              <a:rPr lang="en-US" sz="1800" b="1" dirty="0">
                <a:solidFill>
                  <a:schemeClr val="tx1"/>
                </a:solidFill>
              </a:rPr>
              <a:t>Emissioni di progetto (EP)</a:t>
            </a:r>
            <a:endParaRPr lang="en-US" sz="1800" dirty="0"/>
          </a:p>
          <a:p>
            <a:pPr indent="0" marL="0">
              <a:spcAft>
                <a:spcPts val="600"/>
              </a:spcAft>
              <a:buNone/>
            </a:pPr>
            <a:r>
              <a:rPr lang="en-US" sz="1300" dirty="0">
                <a:solidFill>
                  <a:schemeClr val="tx1"/>
                </a:solidFill>
              </a:rPr>
              <a:t>Dai kg misurati di ogni utenza (Banca Dati Utenze dell'anno), ex post</a:t>
            </a:r>
            <a:endParaRPr lang="en-US" sz="1800" dirty="0"/>
          </a:p>
        </p:txBody>
      </p:sp>
      <p:sp>
        <p:nvSpPr>
          <p:cNvPr id="8" name="Formula Crediti lordi"/>
          <p:cNvSpPr/>
          <p:nvPr/>
        </p:nvSpPr>
        <p:spPr>
          <a:xfrm>
            <a:off x="6492240" y="1691640"/>
            <a:ext cx="2286000" cy="1280160"/>
          </a:xfrm>
          <a:prstGeom prst="roundRect">
            <a:avLst>
              <a:gd name="adj" fmla="val 8571"/>
            </a:avLst>
          </a:prstGeom>
          <a:solidFill>
            <a:schemeClr val="accent3"/>
          </a:solidFill>
          <a:ln w="12700">
            <a:solidFill>
              <a:schemeClr val="accent3"/>
            </a:solidFill>
            <a:prstDash val="solid"/>
          </a:ln>
        </p:spPr>
      </p:sp>
      <p:sp>
        <p:nvSpPr>
          <p:cNvPr id="9" name="Text 7"/>
          <p:cNvSpPr txBox="1"/>
          <p:nvPr/>
        </p:nvSpPr>
        <p:spPr>
          <a:xfrm>
            <a:off x="6675120" y="1828800"/>
            <a:ext cx="1920240" cy="1005840"/>
          </a:xfrm>
          <a:prstGeom prst="rect">
            <a:avLst/>
          </a:prstGeom>
          <a:noFill/>
          <a:ln/>
        </p:spPr>
        <p:txBody>
          <a:bodyPr wrap="square" lIns="0" tIns="0" rIns="0" bIns="0" rtlCol="0" anchor="ctr"/>
          <a:lstStyle/>
          <a:p>
            <a:pPr indent="0" marL="0">
              <a:spcAft>
                <a:spcPts val="600"/>
              </a:spcAft>
              <a:buNone/>
            </a:pPr>
            <a:r>
              <a:rPr lang="en-US" sz="1800" b="1" dirty="0">
                <a:solidFill>
                  <a:schemeClr val="tx2"/>
                </a:solidFill>
              </a:rPr>
              <a:t>Crediti lordi</a:t>
            </a:r>
            <a:endParaRPr lang="en-US" sz="1800" dirty="0"/>
          </a:p>
          <a:p>
            <a:pPr indent="0" marL="0">
              <a:spcAft>
                <a:spcPts val="600"/>
              </a:spcAft>
              <a:buNone/>
            </a:pPr>
            <a:r>
              <a:rPr lang="en-US" sz="1300" dirty="0">
                <a:solidFill>
                  <a:schemeClr val="tx2"/>
                </a:solidFill>
              </a:rPr>
              <a:t>ΔI = EP − EA: se negativa, la riduzione in tCO₂eq (formule 31-32)</a:t>
            </a:r>
            <a:endParaRPr lang="en-US" sz="1800" dirty="0"/>
          </a:p>
        </p:txBody>
      </p:sp>
      <p:sp>
        <p:nvSpPr>
          <p:cNvPr id="10" name="Formula Crediti netti"/>
          <p:cNvSpPr/>
          <p:nvPr/>
        </p:nvSpPr>
        <p:spPr>
          <a:xfrm>
            <a:off x="9235440" y="1691640"/>
            <a:ext cx="2377440" cy="1280160"/>
          </a:xfrm>
          <a:prstGeom prst="roundRect">
            <a:avLst>
              <a:gd name="adj" fmla="val 8571"/>
            </a:avLst>
          </a:prstGeom>
          <a:solidFill>
            <a:schemeClr val="tx2"/>
          </a:solidFill>
          <a:ln w="12700">
            <a:solidFill>
              <a:schemeClr val="tx2"/>
            </a:solidFill>
            <a:prstDash val="solid"/>
          </a:ln>
        </p:spPr>
      </p:sp>
      <p:sp>
        <p:nvSpPr>
          <p:cNvPr id="11" name="Text 9"/>
          <p:cNvSpPr txBox="1"/>
          <p:nvPr/>
        </p:nvSpPr>
        <p:spPr>
          <a:xfrm>
            <a:off x="9418320" y="1828800"/>
            <a:ext cx="2011680" cy="1005840"/>
          </a:xfrm>
          <a:prstGeom prst="rect">
            <a:avLst/>
          </a:prstGeom>
          <a:noFill/>
          <a:ln/>
        </p:spPr>
        <p:txBody>
          <a:bodyPr wrap="square" lIns="0" tIns="0" rIns="0" bIns="0" rtlCol="0" anchor="ctr"/>
          <a:lstStyle/>
          <a:p>
            <a:pPr indent="0" marL="0">
              <a:spcAft>
                <a:spcPts val="600"/>
              </a:spcAft>
              <a:buNone/>
            </a:pPr>
            <a:r>
              <a:rPr lang="en-US" sz="1800" b="1" dirty="0">
                <a:solidFill>
                  <a:schemeClr val="bg1"/>
                </a:solidFill>
              </a:rPr>
              <a:t>Crediti netti</a:t>
            </a:r>
            <a:endParaRPr lang="en-US" sz="1800" dirty="0"/>
          </a:p>
          <a:p>
            <a:pPr indent="0" marL="0">
              <a:spcAft>
                <a:spcPts val="600"/>
              </a:spcAft>
              <a:buNone/>
            </a:pPr>
            <a:r>
              <a:rPr lang="en-US" sz="1300" dirty="0">
                <a:solidFill>
                  <a:schemeClr val="bg1"/>
                </a:solidFill>
              </a:rPr>
              <a:t>Lordi meno il buffer cautelativo (Cap. 7, massimo 80%)</a:t>
            </a:r>
            <a:endParaRPr lang="en-US" sz="1800" dirty="0"/>
          </a:p>
        </p:txBody>
      </p:sp>
      <p:sp>
        <p:nvSpPr>
          <p:cNvPr id="12" name="Text 10"/>
          <p:cNvSpPr txBox="1"/>
          <p:nvPr/>
        </p:nvSpPr>
        <p:spPr>
          <a:xfrm>
            <a:off x="3063240" y="1691640"/>
            <a:ext cx="457200" cy="1280160"/>
          </a:xfrm>
          <a:prstGeom prst="rect">
            <a:avLst/>
          </a:prstGeom>
          <a:noFill/>
          <a:ln/>
        </p:spPr>
        <p:txBody>
          <a:bodyPr wrap="square" lIns="0" tIns="0" rIns="0" bIns="0" rtlCol="0" anchor="ctr"/>
          <a:lstStyle/>
          <a:p>
            <a:pPr algn="ctr" indent="0" marL="0">
              <a:buNone/>
            </a:pPr>
            <a:r>
              <a:rPr lang="en-US" sz="3000" b="1" dirty="0">
                <a:solidFill>
                  <a:schemeClr val="accent2"/>
                </a:solidFill>
              </a:rPr>
              <a:t>−</a:t>
            </a:r>
            <a:endParaRPr lang="en-US" sz="3000" dirty="0"/>
          </a:p>
        </p:txBody>
      </p:sp>
      <p:sp>
        <p:nvSpPr>
          <p:cNvPr id="13" name="Text 11"/>
          <p:cNvSpPr txBox="1"/>
          <p:nvPr/>
        </p:nvSpPr>
        <p:spPr>
          <a:xfrm>
            <a:off x="6035040" y="1691640"/>
            <a:ext cx="457200" cy="1280160"/>
          </a:xfrm>
          <a:prstGeom prst="rect">
            <a:avLst/>
          </a:prstGeom>
          <a:noFill/>
          <a:ln/>
        </p:spPr>
        <p:txBody>
          <a:bodyPr wrap="square" lIns="0" tIns="0" rIns="0" bIns="0" rtlCol="0" anchor="ctr"/>
          <a:lstStyle/>
          <a:p>
            <a:pPr algn="ctr" indent="0" marL="0">
              <a:buNone/>
            </a:pPr>
            <a:r>
              <a:rPr lang="en-US" sz="3000" b="1" dirty="0">
                <a:solidFill>
                  <a:schemeClr val="accent2"/>
                </a:solidFill>
              </a:rPr>
              <a:t>=</a:t>
            </a:r>
            <a:endParaRPr lang="en-US" sz="3000" dirty="0"/>
          </a:p>
        </p:txBody>
      </p:sp>
      <p:sp>
        <p:nvSpPr>
          <p:cNvPr id="14" name="Text 12"/>
          <p:cNvSpPr txBox="1"/>
          <p:nvPr/>
        </p:nvSpPr>
        <p:spPr>
          <a:xfrm>
            <a:off x="8778240" y="1691640"/>
            <a:ext cx="457200" cy="1280160"/>
          </a:xfrm>
          <a:prstGeom prst="rect">
            <a:avLst/>
          </a:prstGeom>
          <a:noFill/>
          <a:ln/>
        </p:spPr>
        <p:txBody>
          <a:bodyPr wrap="square" lIns="0" tIns="0" rIns="0" bIns="0" rtlCol="0" anchor="ctr"/>
          <a:lstStyle/>
          <a:p>
            <a:pPr algn="ctr" indent="0" marL="0">
              <a:buNone/>
            </a:pPr>
            <a:r>
              <a:rPr lang="en-US" sz="3000" b="1" dirty="0">
                <a:solidFill>
                  <a:schemeClr val="accent2"/>
                </a:solidFill>
              </a:rPr>
              <a:t>→</a:t>
            </a:r>
            <a:endParaRPr lang="en-US" sz="3000" dirty="0"/>
          </a:p>
        </p:txBody>
      </p:sp>
      <p:sp>
        <p:nvSpPr>
          <p:cNvPr id="15" name="Scheda Condizioni e buffer"/>
          <p:cNvSpPr/>
          <p:nvPr/>
        </p:nvSpPr>
        <p:spPr>
          <a:xfrm>
            <a:off x="548640" y="3200400"/>
            <a:ext cx="3502152" cy="3017520"/>
          </a:xfrm>
          <a:prstGeom prst="roundRect">
            <a:avLst>
              <a:gd name="adj" fmla="val 3636"/>
            </a:avLst>
          </a:prstGeom>
          <a:solidFill>
            <a:schemeClr val="bg2"/>
          </a:solidFill>
          <a:ln w="12700">
            <a:solidFill>
              <a:schemeClr val="bg2"/>
            </a:solidFill>
            <a:prstDash val="solid"/>
          </a:ln>
        </p:spPr>
      </p:sp>
      <p:sp>
        <p:nvSpPr>
          <p:cNvPr id="16" name="Text 14"/>
          <p:cNvSpPr txBox="1"/>
          <p:nvPr/>
        </p:nvSpPr>
        <p:spPr>
          <a:xfrm>
            <a:off x="777240" y="3364992"/>
            <a:ext cx="3044952" cy="365760"/>
          </a:xfrm>
          <a:prstGeom prst="rect">
            <a:avLst/>
          </a:prstGeom>
          <a:noFill/>
          <a:ln/>
        </p:spPr>
        <p:txBody>
          <a:bodyPr wrap="square" lIns="0" tIns="0" rIns="0" bIns="0" rtlCol="0" anchor="ctr"/>
          <a:lstStyle/>
          <a:p>
            <a:pPr indent="0" marL="0">
              <a:buNone/>
            </a:pPr>
            <a:r>
              <a:rPr lang="en-US" sz="1700" b="1" dirty="0">
                <a:solidFill>
                  <a:schemeClr val="tx2"/>
                </a:solidFill>
              </a:rPr>
              <a:t>Condizioni e buffer</a:t>
            </a:r>
            <a:endParaRPr lang="en-US" sz="1700" dirty="0"/>
          </a:p>
        </p:txBody>
      </p:sp>
      <p:sp>
        <p:nvSpPr>
          <p:cNvPr id="17" name="Text 15"/>
          <p:cNvSpPr txBox="1"/>
          <p:nvPr/>
        </p:nvSpPr>
        <p:spPr>
          <a:xfrm>
            <a:off x="777240" y="3767328"/>
            <a:ext cx="3090672" cy="233172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Anno di riferimento con differenziata al 65% ±1% (Catasto ISPRA) o media del cluster</a:t>
            </a:r>
            <a:endParaRPr lang="en-US" sz="1300" dirty="0"/>
          </a:p>
          <a:p>
            <a:pPr marL="342900" indent="-342900">
              <a:spcAft>
                <a:spcPts val="400"/>
              </a:spcAft>
              <a:buSzPct val="100000"/>
              <a:buChar char="•"/>
            </a:pPr>
            <a:r>
              <a:rPr lang="en-US" sz="1300" dirty="0">
                <a:solidFill>
                  <a:schemeClr val="tx1"/>
                </a:solidFill>
              </a:rPr>
              <a:t>Addizionalità normativa, tecnica (almeno l'indifferenziato misurato) ed economica (CUE &lt; FS + 30%)</a:t>
            </a:r>
            <a:endParaRPr lang="en-US" sz="1300" dirty="0"/>
          </a:p>
          <a:p>
            <a:pPr marL="342900" indent="-342900">
              <a:spcAft>
                <a:spcPts val="400"/>
              </a:spcAft>
              <a:buSzPct val="100000"/>
              <a:buChar char="•"/>
            </a:pPr>
            <a:r>
              <a:rPr lang="en-US" sz="1300" dirty="0">
                <a:solidFill>
                  <a:schemeClr val="tx1"/>
                </a:solidFill>
              </a:rPr>
              <a:t>Buffer: utenze monitorate + rifiuti misurati (30% col solo indifferenziato) + 20% se si contano solo le virtuose; massimo 80%, dimezzato con tariffa puntuale</a:t>
            </a:r>
            <a:endParaRPr lang="en-US" sz="1300" dirty="0"/>
          </a:p>
        </p:txBody>
      </p:sp>
      <p:sp>
        <p:nvSpPr>
          <p:cNvPr id="18" name="Scheda Il percorso"/>
          <p:cNvSpPr/>
          <p:nvPr/>
        </p:nvSpPr>
        <p:spPr>
          <a:xfrm>
            <a:off x="4325112" y="3200400"/>
            <a:ext cx="3502152" cy="3017520"/>
          </a:xfrm>
          <a:prstGeom prst="roundRect">
            <a:avLst>
              <a:gd name="adj" fmla="val 3636"/>
            </a:avLst>
          </a:prstGeom>
          <a:solidFill>
            <a:schemeClr val="bg2"/>
          </a:solidFill>
          <a:ln w="12700">
            <a:solidFill>
              <a:schemeClr val="bg2"/>
            </a:solidFill>
            <a:prstDash val="solid"/>
          </a:ln>
        </p:spPr>
      </p:sp>
      <p:sp>
        <p:nvSpPr>
          <p:cNvPr id="19" name="Text 17"/>
          <p:cNvSpPr txBox="1"/>
          <p:nvPr/>
        </p:nvSpPr>
        <p:spPr>
          <a:xfrm>
            <a:off x="4553712" y="3364992"/>
            <a:ext cx="3044952" cy="365760"/>
          </a:xfrm>
          <a:prstGeom prst="rect">
            <a:avLst/>
          </a:prstGeom>
          <a:noFill/>
          <a:ln/>
        </p:spPr>
        <p:txBody>
          <a:bodyPr wrap="square" lIns="0" tIns="0" rIns="0" bIns="0" rtlCol="0" anchor="ctr"/>
          <a:lstStyle/>
          <a:p>
            <a:pPr indent="0" marL="0">
              <a:buNone/>
            </a:pPr>
            <a:r>
              <a:rPr lang="en-US" sz="1700" b="1" dirty="0">
                <a:solidFill>
                  <a:schemeClr val="tx2"/>
                </a:solidFill>
              </a:rPr>
              <a:t>Il percorso</a:t>
            </a:r>
            <a:endParaRPr lang="en-US" sz="1700" dirty="0"/>
          </a:p>
        </p:txBody>
      </p:sp>
      <p:sp>
        <p:nvSpPr>
          <p:cNvPr id="20" name="Text 18"/>
          <p:cNvSpPr txBox="1"/>
          <p:nvPr/>
        </p:nvSpPr>
        <p:spPr>
          <a:xfrm>
            <a:off x="4553712" y="3767328"/>
            <a:ext cx="3090672" cy="233172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Registrazione del progetto: 150 giorni, con feedback pubblico di 30 giorni; il progetto inizia da «progetto registrato»</a:t>
            </a:r>
            <a:endParaRPr lang="en-US" sz="1300" dirty="0"/>
          </a:p>
          <a:p>
            <a:pPr marL="342900" indent="-342900">
              <a:spcAft>
                <a:spcPts val="400"/>
              </a:spcAft>
              <a:buSzPct val="100000"/>
              <a:buChar char="•"/>
            </a:pPr>
            <a:r>
              <a:rPr lang="en-US" sz="1300" dirty="0">
                <a:solidFill>
                  <a:schemeClr val="tx1"/>
                </a:solidFill>
              </a:rPr>
              <a:t>Poi un Rapporto di Monitoraggio per anno solare (feedback pubblico 20 giorni, verifica dell'ente), per tutto il periodo: 10 anni o 7 per 3 volte</a:t>
            </a:r>
            <a:endParaRPr lang="en-US" sz="1300" dirty="0"/>
          </a:p>
          <a:p>
            <a:pPr marL="342900" indent="-342900">
              <a:spcAft>
                <a:spcPts val="400"/>
              </a:spcAft>
              <a:buSzPct val="100000"/>
              <a:buChar char="•"/>
            </a:pPr>
            <a:r>
              <a:rPr lang="en-US" sz="1300" dirty="0">
                <a:solidFill>
                  <a:schemeClr val="tx1"/>
                </a:solidFill>
              </a:rPr>
              <a:t>Letture valide almeno al 70% (50% con penali al gestore)</a:t>
            </a:r>
            <a:endParaRPr lang="en-US" sz="1300" dirty="0"/>
          </a:p>
        </p:txBody>
      </p:sp>
      <p:sp>
        <p:nvSpPr>
          <p:cNvPr id="21" name="Scheda Chi partecipa"/>
          <p:cNvSpPr/>
          <p:nvPr/>
        </p:nvSpPr>
        <p:spPr>
          <a:xfrm>
            <a:off x="8101584" y="3200400"/>
            <a:ext cx="3502152" cy="3017520"/>
          </a:xfrm>
          <a:prstGeom prst="roundRect">
            <a:avLst>
              <a:gd name="adj" fmla="val 3636"/>
            </a:avLst>
          </a:prstGeom>
          <a:solidFill>
            <a:schemeClr val="bg2"/>
          </a:solidFill>
          <a:ln w="12700">
            <a:solidFill>
              <a:schemeClr val="bg2"/>
            </a:solidFill>
            <a:prstDash val="solid"/>
          </a:ln>
        </p:spPr>
      </p:sp>
      <p:sp>
        <p:nvSpPr>
          <p:cNvPr id="22" name="Text 20"/>
          <p:cNvSpPr txBox="1"/>
          <p:nvPr/>
        </p:nvSpPr>
        <p:spPr>
          <a:xfrm>
            <a:off x="8330184" y="3364992"/>
            <a:ext cx="3044952" cy="365760"/>
          </a:xfrm>
          <a:prstGeom prst="rect">
            <a:avLst/>
          </a:prstGeom>
          <a:noFill/>
          <a:ln/>
        </p:spPr>
        <p:txBody>
          <a:bodyPr wrap="square" lIns="0" tIns="0" rIns="0" bIns="0" rtlCol="0" anchor="ctr"/>
          <a:lstStyle/>
          <a:p>
            <a:pPr indent="0" marL="0">
              <a:buNone/>
            </a:pPr>
            <a:r>
              <a:rPr lang="en-US" sz="1700" b="1" dirty="0">
                <a:solidFill>
                  <a:schemeClr val="tx2"/>
                </a:solidFill>
              </a:rPr>
              <a:t>Chi partecipa</a:t>
            </a:r>
            <a:endParaRPr lang="en-US" sz="1700" dirty="0"/>
          </a:p>
        </p:txBody>
      </p:sp>
      <p:sp>
        <p:nvSpPr>
          <p:cNvPr id="23" name="Text 21"/>
          <p:cNvSpPr txBox="1"/>
          <p:nvPr/>
        </p:nvSpPr>
        <p:spPr>
          <a:xfrm>
            <a:off x="8330184" y="3767328"/>
            <a:ext cx="3090672" cy="233172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Promotore del progetto (Comune, EGATO o gestore): presenta progetto e Rapporti, è titolare dei crediti</a:t>
            </a:r>
            <a:endParaRPr lang="en-US" sz="1300" dirty="0"/>
          </a:p>
          <a:p>
            <a:pPr marL="342900" indent="-342900">
              <a:spcAft>
                <a:spcPts val="400"/>
              </a:spcAft>
              <a:buSzPct val="100000"/>
              <a:buChar char="•"/>
            </a:pPr>
            <a:r>
              <a:rPr lang="en-US" sz="1300" dirty="0">
                <a:solidFill>
                  <a:schemeClr val="tx1"/>
                </a:solidFill>
              </a:rPr>
              <a:t>Promotore del programma: Fondazione Operate, in esclusiva da Wastelab (gestione commerciale e portale CWP)</a:t>
            </a:r>
            <a:endParaRPr lang="en-US" sz="1300" dirty="0"/>
          </a:p>
          <a:p>
            <a:pPr marL="342900" indent="-342900">
              <a:spcAft>
                <a:spcPts val="400"/>
              </a:spcAft>
              <a:buSzPct val="100000"/>
              <a:buChar char="•"/>
            </a:pPr>
            <a:r>
              <a:rPr lang="en-US" sz="1300" dirty="0">
                <a:solidFill>
                  <a:schemeClr val="tx1"/>
                </a:solidFill>
              </a:rPr>
              <a:t>Ente di validazione e verifica (ISO 14065 o 17029)</a:t>
            </a:r>
            <a:endParaRPr lang="en-US" sz="1300" dirty="0"/>
          </a:p>
          <a:p>
            <a:pPr marL="342900" indent="-342900">
              <a:spcAft>
                <a:spcPts val="400"/>
              </a:spcAft>
              <a:buSzPct val="100000"/>
              <a:buChar char="•"/>
            </a:pPr>
            <a:r>
              <a:rPr lang="en-US" sz="1300" dirty="0">
                <a:solidFill>
                  <a:schemeClr val="tx1"/>
                </a:solidFill>
              </a:rPr>
              <a:t>Stakeholders: feedback pubblico; registri esterni: vendita dei crediti</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Analisi funzionale (1/2): la gestione delle pratiche</a:t>
            </a:r>
            <a:endParaRPr lang="en-US" sz="3000" dirty="0"/>
          </a:p>
        </p:txBody>
      </p:sp>
      <p:sp>
        <p:nvSpPr>
          <p:cNvPr id="3" name="Collegamento al portale"/>
          <p:cNvSpPr txBox="1"/>
          <p:nvPr/>
        </p:nvSpPr>
        <p:spPr>
          <a:xfrm>
            <a:off x="548640" y="932688"/>
            <a:ext cx="11064240" cy="274320"/>
          </a:xfrm>
          <a:prstGeom prst="rect">
            <a:avLst/>
          </a:prstGeom>
          <a:noFill/>
          <a:ln/>
        </p:spPr>
        <p:txBody>
          <a:bodyPr wrap="square" lIns="0" tIns="0" rIns="0" bIns="0" rtlCol="0" anchor="ctr"/>
          <a:lstStyle/>
          <a:p>
            <a:pPr indent="0" marL="0">
              <a:buNone/>
            </a:pPr>
            <a:r>
              <a:rPr lang="en-US" sz="1200" dirty="0">
                <a:solidFill>
                  <a:schemeClr val="accent6"/>
                </a:solidFill>
              </a:rPr>
              <a:t>Portale online: </a:t>
            </a:r>
            <a:pPr indent="0" marL="0">
              <a:buNone/>
            </a:pPr>
            <a:r>
              <a:rPr lang="en-US" sz="1200" b="1" u="sng" dirty="0">
                <a:solidFill>
                  <a:schemeClr val="tx2"/>
                </a:solidFill>
                <a:hlinkClick r:id="rId1" invalidUrl="" action="" tgtFrame="" tooltip="Apri il portale" history="1" highlightClick="0" endSnd="0">
                  <a:extLst>
                    <a:ext uri="{A12FA001-AC4F-418D-AE19-62706E023703}">
                      <ahyp:hlinkClr xmlns:ahyp="http://schemas.microsoft.com/office/drawing/2018/hyperlinkcolor" val="tx"/>
                    </a:ext>
                  </a:extLst>
                </a:hlinkClick>
              </a:rPr>
              <a:t>portale-cwp.vercel.app</a:t>
            </a:r>
            <a:pPr indent="0" marL="0">
              <a:buNone/>
            </a:pPr>
            <a:r>
              <a:rPr lang="en-US" sz="1200" dirty="0">
                <a:solidFill>
                  <a:schemeClr val="accent6"/>
                </a:solidFill>
              </a:rPr>
              <a:t>   ·   pagina pubblica: </a:t>
            </a:r>
            <a:pPr indent="0" marL="0">
              <a:buNone/>
            </a:pPr>
            <a:r>
              <a:rPr lang="en-US" sz="1200" b="1" u="sng" dirty="0">
                <a:solidFill>
                  <a:schemeClr val="tx2"/>
                </a:solidFill>
                <a:hlinkClick r:id="rId2" invalidUrl="" action="" tgtFrame="" tooltip="Apri la pagina pubblica del Programma" history="1" highlightClick="0" endSnd="0">
                  <a:extLst>
                    <a:ext uri="{A12FA001-AC4F-418D-AE19-62706E023703}">
                      <ahyp:hlinkClr xmlns:ahyp="http://schemas.microsoft.com/office/drawing/2018/hyperlinkcolor" val="tx"/>
                    </a:ext>
                  </a:extLst>
                </a:hlinkClick>
              </a:rPr>
              <a:t>portale-cwp.vercel.app/programma</a:t>
            </a:r>
            <a:endParaRPr lang="en-US" sz="1200" dirty="0"/>
          </a:p>
        </p:txBody>
      </p:sp>
      <p:sp>
        <p:nvSpPr>
          <p:cNvPr id="4" name="Scheda Anagrafiche"/>
          <p:cNvSpPr/>
          <p:nvPr/>
        </p:nvSpPr>
        <p:spPr>
          <a:xfrm>
            <a:off x="548640" y="1371600"/>
            <a:ext cx="2560320" cy="2240280"/>
          </a:xfrm>
          <a:prstGeom prst="roundRect">
            <a:avLst>
              <a:gd name="adj" fmla="val 4898"/>
            </a:avLst>
          </a:prstGeom>
          <a:solidFill>
            <a:schemeClr val="bg2"/>
          </a:solidFill>
          <a:ln w="12700">
            <a:solidFill>
              <a:schemeClr val="bg2"/>
            </a:solidFill>
            <a:prstDash val="solid"/>
          </a:ln>
        </p:spPr>
      </p:sp>
      <p:sp>
        <p:nvSpPr>
          <p:cNvPr id="5" name="Anagrafiche cerchio"/>
          <p:cNvSpPr/>
          <p:nvPr/>
        </p:nvSpPr>
        <p:spPr>
          <a:xfrm>
            <a:off x="713232" y="1499616"/>
            <a:ext cx="502920" cy="502920"/>
          </a:xfrm>
          <a:prstGeom prst="ellipse">
            <a:avLst/>
          </a:prstGeom>
          <a:solidFill>
            <a:schemeClr val="tx2"/>
          </a:solidFill>
          <a:ln w="12700">
            <a:solidFill>
              <a:schemeClr val="tx2"/>
            </a:solidFill>
            <a:prstDash val="solid"/>
          </a:ln>
        </p:spPr>
      </p:sp>
      <p:pic>
        <p:nvPicPr>
          <p:cNvPr id="6" name="Anagrafiche icona" descr="preencoded.png">    </p:cNvPr>
          <p:cNvPicPr>
            <a:picLocks noChangeAspect="1"/>
          </p:cNvPicPr>
          <p:nvPr/>
        </p:nvPicPr>
        <p:blipFill>
          <a:blip r:embed="rId3"/>
          <a:stretch>
            <a:fillRect/>
          </a:stretch>
        </p:blipFill>
        <p:spPr>
          <a:xfrm>
            <a:off x="838962" y="1625346"/>
            <a:ext cx="251460" cy="251460"/>
          </a:xfrm>
          <a:prstGeom prst="rect">
            <a:avLst/>
          </a:prstGeom>
        </p:spPr>
      </p:pic>
      <p:sp>
        <p:nvSpPr>
          <p:cNvPr id="7" name="Text 4"/>
          <p:cNvSpPr txBox="1"/>
          <p:nvPr/>
        </p:nvSpPr>
        <p:spPr>
          <a:xfrm>
            <a:off x="1353312" y="1499616"/>
            <a:ext cx="1600200" cy="502920"/>
          </a:xfrm>
          <a:prstGeom prst="rect">
            <a:avLst/>
          </a:prstGeom>
          <a:noFill/>
          <a:ln/>
        </p:spPr>
        <p:txBody>
          <a:bodyPr wrap="square" lIns="0" tIns="0" rIns="0" bIns="0" rtlCol="0" anchor="ctr"/>
          <a:lstStyle/>
          <a:p>
            <a:pPr indent="0" marL="0">
              <a:buNone/>
            </a:pPr>
            <a:r>
              <a:rPr lang="en-US" sz="1500" b="1" dirty="0">
                <a:solidFill>
                  <a:schemeClr val="tx2"/>
                </a:solidFill>
              </a:rPr>
              <a:t>Anagrafiche</a:t>
            </a:r>
            <a:endParaRPr lang="en-US" sz="1500" dirty="0"/>
          </a:p>
        </p:txBody>
      </p:sp>
      <p:sp>
        <p:nvSpPr>
          <p:cNvPr id="8" name="Text 5"/>
          <p:cNvSpPr txBox="1"/>
          <p:nvPr/>
        </p:nvSpPr>
        <p:spPr>
          <a:xfrm>
            <a:off x="731520" y="2212848"/>
            <a:ext cx="2212848" cy="1325880"/>
          </a:xfrm>
          <a:prstGeom prst="rect">
            <a:avLst/>
          </a:prstGeom>
          <a:noFill/>
          <a:ln/>
        </p:spPr>
        <p:txBody>
          <a:bodyPr wrap="square" lIns="0" tIns="0" rIns="0" bIns="0" rtlCol="0" anchor="t"/>
          <a:lstStyle/>
          <a:p>
            <a:pPr indent="0" marL="0">
              <a:buNone/>
            </a:pPr>
            <a:r>
              <a:rPr lang="en-US" sz="1350" dirty="0">
                <a:solidFill>
                  <a:schemeClr val="tx1"/>
                </a:solidFill>
              </a:rPr>
              <a:t>Organizzazioni con 2 delegati e un solo account, Enti di validazione e verifica, Registri</a:t>
            </a:r>
            <a:endParaRPr lang="en-US" sz="1350" dirty="0"/>
          </a:p>
        </p:txBody>
      </p:sp>
      <p:sp>
        <p:nvSpPr>
          <p:cNvPr id="9" name="Scheda Pratiche e fasi"/>
          <p:cNvSpPr/>
          <p:nvPr/>
        </p:nvSpPr>
        <p:spPr>
          <a:xfrm>
            <a:off x="3383280" y="1371600"/>
            <a:ext cx="2560320" cy="2240280"/>
          </a:xfrm>
          <a:prstGeom prst="roundRect">
            <a:avLst>
              <a:gd name="adj" fmla="val 4898"/>
            </a:avLst>
          </a:prstGeom>
          <a:solidFill>
            <a:schemeClr val="bg2"/>
          </a:solidFill>
          <a:ln w="12700">
            <a:solidFill>
              <a:schemeClr val="bg2"/>
            </a:solidFill>
            <a:prstDash val="solid"/>
          </a:ln>
        </p:spPr>
      </p:sp>
      <p:sp>
        <p:nvSpPr>
          <p:cNvPr id="10" name="Pratiche e fasi cerchio"/>
          <p:cNvSpPr/>
          <p:nvPr/>
        </p:nvSpPr>
        <p:spPr>
          <a:xfrm>
            <a:off x="3547872" y="1499616"/>
            <a:ext cx="502920" cy="502920"/>
          </a:xfrm>
          <a:prstGeom prst="ellipse">
            <a:avLst/>
          </a:prstGeom>
          <a:solidFill>
            <a:schemeClr val="tx2"/>
          </a:solidFill>
          <a:ln w="12700">
            <a:solidFill>
              <a:schemeClr val="tx2"/>
            </a:solidFill>
            <a:prstDash val="solid"/>
          </a:ln>
        </p:spPr>
      </p:sp>
      <p:pic>
        <p:nvPicPr>
          <p:cNvPr id="11" name="Pratiche e fasi icona" descr="preencoded.png">    </p:cNvPr>
          <p:cNvPicPr>
            <a:picLocks noChangeAspect="1"/>
          </p:cNvPicPr>
          <p:nvPr/>
        </p:nvPicPr>
        <p:blipFill>
          <a:blip r:embed="rId4"/>
          <a:stretch>
            <a:fillRect/>
          </a:stretch>
        </p:blipFill>
        <p:spPr>
          <a:xfrm>
            <a:off x="3673602" y="1625346"/>
            <a:ext cx="251460" cy="251460"/>
          </a:xfrm>
          <a:prstGeom prst="rect">
            <a:avLst/>
          </a:prstGeom>
        </p:spPr>
      </p:pic>
      <p:sp>
        <p:nvSpPr>
          <p:cNvPr id="12" name="Text 8"/>
          <p:cNvSpPr txBox="1"/>
          <p:nvPr/>
        </p:nvSpPr>
        <p:spPr>
          <a:xfrm>
            <a:off x="4187952" y="1499616"/>
            <a:ext cx="1600200" cy="502920"/>
          </a:xfrm>
          <a:prstGeom prst="rect">
            <a:avLst/>
          </a:prstGeom>
          <a:noFill/>
          <a:ln/>
        </p:spPr>
        <p:txBody>
          <a:bodyPr wrap="square" lIns="0" tIns="0" rIns="0" bIns="0" rtlCol="0" anchor="ctr"/>
          <a:lstStyle/>
          <a:p>
            <a:pPr indent="0" marL="0">
              <a:buNone/>
            </a:pPr>
            <a:r>
              <a:rPr lang="en-US" sz="1500" b="1" dirty="0">
                <a:solidFill>
                  <a:schemeClr val="tx2"/>
                </a:solidFill>
              </a:rPr>
              <a:t>Pratiche e fasi</a:t>
            </a:r>
            <a:endParaRPr lang="en-US" sz="1500" dirty="0"/>
          </a:p>
        </p:txBody>
      </p:sp>
      <p:sp>
        <p:nvSpPr>
          <p:cNvPr id="13" name="Text 9"/>
          <p:cNvSpPr txBox="1"/>
          <p:nvPr/>
        </p:nvSpPr>
        <p:spPr>
          <a:xfrm>
            <a:off x="3566160" y="2212848"/>
            <a:ext cx="2212848" cy="1325880"/>
          </a:xfrm>
          <a:prstGeom prst="rect">
            <a:avLst/>
          </a:prstGeom>
          <a:noFill/>
          <a:ln/>
        </p:spPr>
        <p:txBody>
          <a:bodyPr wrap="square" lIns="0" tIns="0" rIns="0" bIns="0" rtlCol="0" anchor="t"/>
          <a:lstStyle/>
          <a:p>
            <a:pPr indent="0" marL="0">
              <a:buNone/>
            </a:pPr>
            <a:r>
              <a:rPr lang="en-US" sz="1350" dirty="0">
                <a:solidFill>
                  <a:schemeClr val="tx1"/>
                </a:solidFill>
              </a:rPr>
              <a:t>Progetti e Rapporti a 7 fasi (Guida), ID e stato nel Programma, territorio ISTAT, periodo, ritiro e rientro</a:t>
            </a:r>
            <a:endParaRPr lang="en-US" sz="1350" dirty="0"/>
          </a:p>
        </p:txBody>
      </p:sp>
      <p:sp>
        <p:nvSpPr>
          <p:cNvPr id="14" name="Scheda Documenti"/>
          <p:cNvSpPr/>
          <p:nvPr/>
        </p:nvSpPr>
        <p:spPr>
          <a:xfrm>
            <a:off x="6217920" y="1371600"/>
            <a:ext cx="2560320" cy="2240280"/>
          </a:xfrm>
          <a:prstGeom prst="roundRect">
            <a:avLst>
              <a:gd name="adj" fmla="val 4898"/>
            </a:avLst>
          </a:prstGeom>
          <a:solidFill>
            <a:schemeClr val="bg2"/>
          </a:solidFill>
          <a:ln w="12700">
            <a:solidFill>
              <a:schemeClr val="bg2"/>
            </a:solidFill>
            <a:prstDash val="solid"/>
          </a:ln>
        </p:spPr>
      </p:sp>
      <p:sp>
        <p:nvSpPr>
          <p:cNvPr id="15" name="Documenti cerchio"/>
          <p:cNvSpPr/>
          <p:nvPr/>
        </p:nvSpPr>
        <p:spPr>
          <a:xfrm>
            <a:off x="6382512" y="1499616"/>
            <a:ext cx="502920" cy="502920"/>
          </a:xfrm>
          <a:prstGeom prst="ellipse">
            <a:avLst/>
          </a:prstGeom>
          <a:solidFill>
            <a:schemeClr val="tx2"/>
          </a:solidFill>
          <a:ln w="12700">
            <a:solidFill>
              <a:schemeClr val="tx2"/>
            </a:solidFill>
            <a:prstDash val="solid"/>
          </a:ln>
        </p:spPr>
      </p:sp>
      <p:pic>
        <p:nvPicPr>
          <p:cNvPr id="16" name="Documenti icona" descr="preencoded.png">    </p:cNvPr>
          <p:cNvPicPr>
            <a:picLocks noChangeAspect="1"/>
          </p:cNvPicPr>
          <p:nvPr/>
        </p:nvPicPr>
        <p:blipFill>
          <a:blip r:embed="rId5"/>
          <a:stretch>
            <a:fillRect/>
          </a:stretch>
        </p:blipFill>
        <p:spPr>
          <a:xfrm>
            <a:off x="6508242" y="1625346"/>
            <a:ext cx="251460" cy="251460"/>
          </a:xfrm>
          <a:prstGeom prst="rect">
            <a:avLst/>
          </a:prstGeom>
        </p:spPr>
      </p:pic>
      <p:sp>
        <p:nvSpPr>
          <p:cNvPr id="17" name="Text 12"/>
          <p:cNvSpPr txBox="1"/>
          <p:nvPr/>
        </p:nvSpPr>
        <p:spPr>
          <a:xfrm>
            <a:off x="7022592" y="1499616"/>
            <a:ext cx="1600200" cy="502920"/>
          </a:xfrm>
          <a:prstGeom prst="rect">
            <a:avLst/>
          </a:prstGeom>
          <a:noFill/>
          <a:ln/>
        </p:spPr>
        <p:txBody>
          <a:bodyPr wrap="square" lIns="0" tIns="0" rIns="0" bIns="0" rtlCol="0" anchor="ctr"/>
          <a:lstStyle/>
          <a:p>
            <a:pPr indent="0" marL="0">
              <a:buNone/>
            </a:pPr>
            <a:r>
              <a:rPr lang="en-US" sz="1500" b="1" dirty="0">
                <a:solidFill>
                  <a:schemeClr val="tx2"/>
                </a:solidFill>
              </a:rPr>
              <a:t>Documenti</a:t>
            </a:r>
            <a:endParaRPr lang="en-US" sz="1500" dirty="0"/>
          </a:p>
        </p:txBody>
      </p:sp>
      <p:sp>
        <p:nvSpPr>
          <p:cNvPr id="18" name="Text 13"/>
          <p:cNvSpPr txBox="1"/>
          <p:nvPr/>
        </p:nvSpPr>
        <p:spPr>
          <a:xfrm>
            <a:off x="6400800" y="2212848"/>
            <a:ext cx="2212848" cy="1325880"/>
          </a:xfrm>
          <a:prstGeom prst="rect">
            <a:avLst/>
          </a:prstGeom>
          <a:noFill/>
          <a:ln/>
        </p:spPr>
        <p:txBody>
          <a:bodyPr wrap="square" lIns="0" tIns="0" rIns="0" bIns="0" rtlCol="0" anchor="t"/>
          <a:lstStyle/>
          <a:p>
            <a:pPr indent="0" marL="0">
              <a:buNone/>
            </a:pPr>
            <a:r>
              <a:rPr lang="en-US" sz="1350" dirty="0">
                <a:solidFill>
                  <a:schemeClr val="tx1"/>
                </a:solidFill>
              </a:rPr>
              <a:t>Versioni mai sovrascritte, impronta, tipologie ufficiali, richiesti per fase; contratto e versione privata mai pubblici</a:t>
            </a:r>
            <a:endParaRPr lang="en-US" sz="1350" dirty="0"/>
          </a:p>
        </p:txBody>
      </p:sp>
      <p:sp>
        <p:nvSpPr>
          <p:cNvPr id="19" name="Scheda Integrazioni e verifiche"/>
          <p:cNvSpPr/>
          <p:nvPr/>
        </p:nvSpPr>
        <p:spPr>
          <a:xfrm>
            <a:off x="9052560" y="1371600"/>
            <a:ext cx="2560320" cy="2240280"/>
          </a:xfrm>
          <a:prstGeom prst="roundRect">
            <a:avLst>
              <a:gd name="adj" fmla="val 4898"/>
            </a:avLst>
          </a:prstGeom>
          <a:solidFill>
            <a:schemeClr val="bg2"/>
          </a:solidFill>
          <a:ln w="12700">
            <a:solidFill>
              <a:schemeClr val="bg2"/>
            </a:solidFill>
            <a:prstDash val="solid"/>
          </a:ln>
        </p:spPr>
      </p:sp>
      <p:sp>
        <p:nvSpPr>
          <p:cNvPr id="20" name="Integrazioni e verifiche cerchio"/>
          <p:cNvSpPr/>
          <p:nvPr/>
        </p:nvSpPr>
        <p:spPr>
          <a:xfrm>
            <a:off x="9217152" y="1499616"/>
            <a:ext cx="502920" cy="502920"/>
          </a:xfrm>
          <a:prstGeom prst="ellipse">
            <a:avLst/>
          </a:prstGeom>
          <a:solidFill>
            <a:schemeClr val="tx2"/>
          </a:solidFill>
          <a:ln w="12700">
            <a:solidFill>
              <a:schemeClr val="tx2"/>
            </a:solidFill>
            <a:prstDash val="solid"/>
          </a:ln>
        </p:spPr>
      </p:sp>
      <p:pic>
        <p:nvPicPr>
          <p:cNvPr id="21" name="Integrazioni e verifiche icona" descr="preencoded.png">    </p:cNvPr>
          <p:cNvPicPr>
            <a:picLocks noChangeAspect="1"/>
          </p:cNvPicPr>
          <p:nvPr/>
        </p:nvPicPr>
        <p:blipFill>
          <a:blip r:embed="rId6"/>
          <a:stretch>
            <a:fillRect/>
          </a:stretch>
        </p:blipFill>
        <p:spPr>
          <a:xfrm>
            <a:off x="9342882" y="1625346"/>
            <a:ext cx="251460" cy="251460"/>
          </a:xfrm>
          <a:prstGeom prst="rect">
            <a:avLst/>
          </a:prstGeom>
        </p:spPr>
      </p:pic>
      <p:sp>
        <p:nvSpPr>
          <p:cNvPr id="22" name="Text 16"/>
          <p:cNvSpPr txBox="1"/>
          <p:nvPr/>
        </p:nvSpPr>
        <p:spPr>
          <a:xfrm>
            <a:off x="9857232" y="1499616"/>
            <a:ext cx="1600200" cy="502920"/>
          </a:xfrm>
          <a:prstGeom prst="rect">
            <a:avLst/>
          </a:prstGeom>
          <a:noFill/>
          <a:ln/>
        </p:spPr>
        <p:txBody>
          <a:bodyPr wrap="square" lIns="0" tIns="0" rIns="0" bIns="0" rtlCol="0" anchor="ctr"/>
          <a:lstStyle/>
          <a:p>
            <a:pPr indent="0" marL="0">
              <a:buNone/>
            </a:pPr>
            <a:r>
              <a:rPr lang="en-US" sz="1500" b="1" dirty="0">
                <a:solidFill>
                  <a:schemeClr val="tx2"/>
                </a:solidFill>
              </a:rPr>
              <a:t>Integrazioni e verifiche</a:t>
            </a:r>
            <a:endParaRPr lang="en-US" sz="1500" dirty="0"/>
          </a:p>
        </p:txBody>
      </p:sp>
      <p:sp>
        <p:nvSpPr>
          <p:cNvPr id="23" name="Text 17"/>
          <p:cNvSpPr txBox="1"/>
          <p:nvPr/>
        </p:nvSpPr>
        <p:spPr>
          <a:xfrm>
            <a:off x="9235440" y="2212848"/>
            <a:ext cx="2212848" cy="1325880"/>
          </a:xfrm>
          <a:prstGeom prst="rect">
            <a:avLst/>
          </a:prstGeom>
          <a:noFill/>
          <a:ln/>
        </p:spPr>
        <p:txBody>
          <a:bodyPr wrap="square" lIns="0" tIns="0" rIns="0" bIns="0" rtlCol="0" anchor="t"/>
          <a:lstStyle/>
          <a:p>
            <a:pPr indent="0" marL="0">
              <a:buNone/>
            </a:pPr>
            <a:r>
              <a:rPr lang="en-US" sz="1350" dirty="0">
                <a:solidFill>
                  <a:schemeClr val="tx1"/>
                </a:solidFill>
              </a:rPr>
              <a:t>Richiesta e risposta del Comune; verifica sull'accuratezza (+15 gg) e fino a 3 accertamenti</a:t>
            </a:r>
            <a:endParaRPr lang="en-US" sz="1350" dirty="0"/>
          </a:p>
        </p:txBody>
      </p:sp>
      <p:sp>
        <p:nvSpPr>
          <p:cNvPr id="24" name="Scheda Feedback pubblico"/>
          <p:cNvSpPr/>
          <p:nvPr/>
        </p:nvSpPr>
        <p:spPr>
          <a:xfrm>
            <a:off x="548640" y="3886200"/>
            <a:ext cx="2560320" cy="2240280"/>
          </a:xfrm>
          <a:prstGeom prst="roundRect">
            <a:avLst>
              <a:gd name="adj" fmla="val 4898"/>
            </a:avLst>
          </a:prstGeom>
          <a:solidFill>
            <a:schemeClr val="bg2"/>
          </a:solidFill>
          <a:ln w="12700">
            <a:solidFill>
              <a:schemeClr val="bg2"/>
            </a:solidFill>
            <a:prstDash val="solid"/>
          </a:ln>
        </p:spPr>
      </p:sp>
      <p:sp>
        <p:nvSpPr>
          <p:cNvPr id="25" name="Feedback pubblico cerchio"/>
          <p:cNvSpPr/>
          <p:nvPr/>
        </p:nvSpPr>
        <p:spPr>
          <a:xfrm>
            <a:off x="713232" y="4014216"/>
            <a:ext cx="502920" cy="502920"/>
          </a:xfrm>
          <a:prstGeom prst="ellipse">
            <a:avLst/>
          </a:prstGeom>
          <a:solidFill>
            <a:schemeClr val="tx2"/>
          </a:solidFill>
          <a:ln w="12700">
            <a:solidFill>
              <a:schemeClr val="tx2"/>
            </a:solidFill>
            <a:prstDash val="solid"/>
          </a:ln>
        </p:spPr>
      </p:sp>
      <p:pic>
        <p:nvPicPr>
          <p:cNvPr id="26" name="Feedback pubblico icona" descr="preencoded.png">    </p:cNvPr>
          <p:cNvPicPr>
            <a:picLocks noChangeAspect="1"/>
          </p:cNvPicPr>
          <p:nvPr/>
        </p:nvPicPr>
        <p:blipFill>
          <a:blip r:embed="rId7"/>
          <a:stretch>
            <a:fillRect/>
          </a:stretch>
        </p:blipFill>
        <p:spPr>
          <a:xfrm>
            <a:off x="838962" y="4139946"/>
            <a:ext cx="251460" cy="251460"/>
          </a:xfrm>
          <a:prstGeom prst="rect">
            <a:avLst/>
          </a:prstGeom>
        </p:spPr>
      </p:pic>
      <p:sp>
        <p:nvSpPr>
          <p:cNvPr id="27" name="Text 20"/>
          <p:cNvSpPr txBox="1"/>
          <p:nvPr/>
        </p:nvSpPr>
        <p:spPr>
          <a:xfrm>
            <a:off x="1353312" y="4014216"/>
            <a:ext cx="1600200" cy="502920"/>
          </a:xfrm>
          <a:prstGeom prst="rect">
            <a:avLst/>
          </a:prstGeom>
          <a:noFill/>
          <a:ln/>
        </p:spPr>
        <p:txBody>
          <a:bodyPr wrap="square" lIns="0" tIns="0" rIns="0" bIns="0" rtlCol="0" anchor="ctr"/>
          <a:lstStyle/>
          <a:p>
            <a:pPr indent="0" marL="0">
              <a:buNone/>
            </a:pPr>
            <a:r>
              <a:rPr lang="en-US" sz="1500" b="1" dirty="0">
                <a:solidFill>
                  <a:schemeClr val="tx2"/>
                </a:solidFill>
              </a:rPr>
              <a:t>Feedback pubblico</a:t>
            </a:r>
            <a:endParaRPr lang="en-US" sz="1500" dirty="0"/>
          </a:p>
        </p:txBody>
      </p:sp>
      <p:sp>
        <p:nvSpPr>
          <p:cNvPr id="28" name="Text 21"/>
          <p:cNvSpPr txBox="1"/>
          <p:nvPr/>
        </p:nvSpPr>
        <p:spPr>
          <a:xfrm>
            <a:off x="731520" y="4727448"/>
            <a:ext cx="2212848" cy="1325880"/>
          </a:xfrm>
          <a:prstGeom prst="rect">
            <a:avLst/>
          </a:prstGeom>
          <a:noFill/>
          <a:ln/>
        </p:spPr>
        <p:txBody>
          <a:bodyPr wrap="square" lIns="0" tIns="0" rIns="0" bIns="0" rtlCol="0" anchor="t"/>
          <a:lstStyle/>
          <a:p>
            <a:pPr indent="0" marL="0">
              <a:buNone/>
            </a:pPr>
            <a:r>
              <a:rPr lang="en-US" sz="1350" dirty="0">
                <a:solidFill>
                  <a:schemeClr val="tx1"/>
                </a:solidFill>
              </a:rPr>
              <a:t>Progetti 30 giorni, Rapporti 20; documento bloccato, osservazioni numerate con email confermata, errata corrige</a:t>
            </a:r>
            <a:endParaRPr lang="en-US" sz="1350" dirty="0"/>
          </a:p>
        </p:txBody>
      </p:sp>
      <p:sp>
        <p:nvSpPr>
          <p:cNvPr id="29" name="Scheda Pagamenti"/>
          <p:cNvSpPr/>
          <p:nvPr/>
        </p:nvSpPr>
        <p:spPr>
          <a:xfrm>
            <a:off x="3383280" y="3886200"/>
            <a:ext cx="2560320" cy="2240280"/>
          </a:xfrm>
          <a:prstGeom prst="roundRect">
            <a:avLst>
              <a:gd name="adj" fmla="val 4898"/>
            </a:avLst>
          </a:prstGeom>
          <a:solidFill>
            <a:schemeClr val="bg2"/>
          </a:solidFill>
          <a:ln w="12700">
            <a:solidFill>
              <a:schemeClr val="bg2"/>
            </a:solidFill>
            <a:prstDash val="solid"/>
          </a:ln>
        </p:spPr>
      </p:sp>
      <p:sp>
        <p:nvSpPr>
          <p:cNvPr id="30" name="Pagamenti cerchio"/>
          <p:cNvSpPr/>
          <p:nvPr/>
        </p:nvSpPr>
        <p:spPr>
          <a:xfrm>
            <a:off x="3547872" y="4014216"/>
            <a:ext cx="502920" cy="502920"/>
          </a:xfrm>
          <a:prstGeom prst="ellipse">
            <a:avLst/>
          </a:prstGeom>
          <a:solidFill>
            <a:schemeClr val="tx2"/>
          </a:solidFill>
          <a:ln w="12700">
            <a:solidFill>
              <a:schemeClr val="tx2"/>
            </a:solidFill>
            <a:prstDash val="solid"/>
          </a:ln>
        </p:spPr>
      </p:sp>
      <p:pic>
        <p:nvPicPr>
          <p:cNvPr id="31" name="Pagamenti icona" descr="preencoded.png">    </p:cNvPr>
          <p:cNvPicPr>
            <a:picLocks noChangeAspect="1"/>
          </p:cNvPicPr>
          <p:nvPr/>
        </p:nvPicPr>
        <p:blipFill>
          <a:blip r:embed="rId8"/>
          <a:stretch>
            <a:fillRect/>
          </a:stretch>
        </p:blipFill>
        <p:spPr>
          <a:xfrm>
            <a:off x="3673602" y="4139946"/>
            <a:ext cx="251460" cy="251460"/>
          </a:xfrm>
          <a:prstGeom prst="rect">
            <a:avLst/>
          </a:prstGeom>
        </p:spPr>
      </p:pic>
      <p:sp>
        <p:nvSpPr>
          <p:cNvPr id="32" name="Text 24"/>
          <p:cNvSpPr txBox="1"/>
          <p:nvPr/>
        </p:nvSpPr>
        <p:spPr>
          <a:xfrm>
            <a:off x="4187952" y="4014216"/>
            <a:ext cx="1600200" cy="502920"/>
          </a:xfrm>
          <a:prstGeom prst="rect">
            <a:avLst/>
          </a:prstGeom>
          <a:noFill/>
          <a:ln/>
        </p:spPr>
        <p:txBody>
          <a:bodyPr wrap="square" lIns="0" tIns="0" rIns="0" bIns="0" rtlCol="0" anchor="ctr"/>
          <a:lstStyle/>
          <a:p>
            <a:pPr indent="0" marL="0">
              <a:buNone/>
            </a:pPr>
            <a:r>
              <a:rPr lang="en-US" sz="1500" b="1" dirty="0">
                <a:solidFill>
                  <a:schemeClr val="tx2"/>
                </a:solidFill>
              </a:rPr>
              <a:t>Pagamenti</a:t>
            </a:r>
            <a:endParaRPr lang="en-US" sz="1500" dirty="0"/>
          </a:p>
        </p:txBody>
      </p:sp>
      <p:sp>
        <p:nvSpPr>
          <p:cNvPr id="33" name="Text 25"/>
          <p:cNvSpPr txBox="1"/>
          <p:nvPr/>
        </p:nvSpPr>
        <p:spPr>
          <a:xfrm>
            <a:off x="3566160" y="4727448"/>
            <a:ext cx="2212848" cy="1325880"/>
          </a:xfrm>
          <a:prstGeom prst="rect">
            <a:avLst/>
          </a:prstGeom>
          <a:noFill/>
          <a:ln/>
        </p:spPr>
        <p:txBody>
          <a:bodyPr wrap="square" lIns="0" tIns="0" rIns="0" bIns="0" rtlCol="0" anchor="t"/>
          <a:lstStyle/>
          <a:p>
            <a:pPr indent="0" marL="0">
              <a:buNone/>
            </a:pPr>
            <a:r>
              <a:rPr lang="en-US" sz="1350" dirty="0">
                <a:solidFill>
                  <a:schemeClr val="tx1"/>
                </a:solidFill>
              </a:rPr>
              <a:t>Voci e importi dello Schema tariffario; attività sospese fino al saldo; il Comune consulta</a:t>
            </a:r>
            <a:endParaRPr lang="en-US" sz="1350" dirty="0"/>
          </a:p>
        </p:txBody>
      </p:sp>
      <p:sp>
        <p:nvSpPr>
          <p:cNvPr id="34" name="Scheda Notifiche e messaggi"/>
          <p:cNvSpPr/>
          <p:nvPr/>
        </p:nvSpPr>
        <p:spPr>
          <a:xfrm>
            <a:off x="6217920" y="3886200"/>
            <a:ext cx="2560320" cy="2240280"/>
          </a:xfrm>
          <a:prstGeom prst="roundRect">
            <a:avLst>
              <a:gd name="adj" fmla="val 4898"/>
            </a:avLst>
          </a:prstGeom>
          <a:solidFill>
            <a:schemeClr val="bg2"/>
          </a:solidFill>
          <a:ln w="12700">
            <a:solidFill>
              <a:schemeClr val="bg2"/>
            </a:solidFill>
            <a:prstDash val="solid"/>
          </a:ln>
        </p:spPr>
      </p:sp>
      <p:sp>
        <p:nvSpPr>
          <p:cNvPr id="35" name="Notifiche e messaggi cerchio"/>
          <p:cNvSpPr/>
          <p:nvPr/>
        </p:nvSpPr>
        <p:spPr>
          <a:xfrm>
            <a:off x="6382512" y="4014216"/>
            <a:ext cx="502920" cy="502920"/>
          </a:xfrm>
          <a:prstGeom prst="ellipse">
            <a:avLst/>
          </a:prstGeom>
          <a:solidFill>
            <a:schemeClr val="tx2"/>
          </a:solidFill>
          <a:ln w="12700">
            <a:solidFill>
              <a:schemeClr val="tx2"/>
            </a:solidFill>
            <a:prstDash val="solid"/>
          </a:ln>
        </p:spPr>
      </p:sp>
      <p:pic>
        <p:nvPicPr>
          <p:cNvPr id="36" name="Notifiche e messaggi icona" descr="preencoded.png">    </p:cNvPr>
          <p:cNvPicPr>
            <a:picLocks noChangeAspect="1"/>
          </p:cNvPicPr>
          <p:nvPr/>
        </p:nvPicPr>
        <p:blipFill>
          <a:blip r:embed="rId9"/>
          <a:stretch>
            <a:fillRect/>
          </a:stretch>
        </p:blipFill>
        <p:spPr>
          <a:xfrm>
            <a:off x="6508242" y="4139946"/>
            <a:ext cx="251460" cy="251460"/>
          </a:xfrm>
          <a:prstGeom prst="rect">
            <a:avLst/>
          </a:prstGeom>
        </p:spPr>
      </p:pic>
      <p:sp>
        <p:nvSpPr>
          <p:cNvPr id="37" name="Text 28"/>
          <p:cNvSpPr txBox="1"/>
          <p:nvPr/>
        </p:nvSpPr>
        <p:spPr>
          <a:xfrm>
            <a:off x="7022592" y="4014216"/>
            <a:ext cx="1600200" cy="502920"/>
          </a:xfrm>
          <a:prstGeom prst="rect">
            <a:avLst/>
          </a:prstGeom>
          <a:noFill/>
          <a:ln/>
        </p:spPr>
        <p:txBody>
          <a:bodyPr wrap="square" lIns="0" tIns="0" rIns="0" bIns="0" rtlCol="0" anchor="ctr"/>
          <a:lstStyle/>
          <a:p>
            <a:pPr indent="0" marL="0">
              <a:buNone/>
            </a:pPr>
            <a:r>
              <a:rPr lang="en-US" sz="1500" b="1" dirty="0">
                <a:solidFill>
                  <a:schemeClr val="tx2"/>
                </a:solidFill>
              </a:rPr>
              <a:t>Notifiche e messaggi</a:t>
            </a:r>
            <a:endParaRPr lang="en-US" sz="1500" dirty="0"/>
          </a:p>
        </p:txBody>
      </p:sp>
      <p:sp>
        <p:nvSpPr>
          <p:cNvPr id="38" name="Text 29"/>
          <p:cNvSpPr txBox="1"/>
          <p:nvPr/>
        </p:nvSpPr>
        <p:spPr>
          <a:xfrm>
            <a:off x="6400800" y="4727448"/>
            <a:ext cx="2212848" cy="1325880"/>
          </a:xfrm>
          <a:prstGeom prst="rect">
            <a:avLst/>
          </a:prstGeom>
          <a:noFill/>
          <a:ln/>
        </p:spPr>
        <p:txBody>
          <a:bodyPr wrap="square" lIns="0" tIns="0" rIns="0" bIns="0" rtlCol="0" anchor="t"/>
          <a:lstStyle/>
          <a:p>
            <a:pPr indent="0" marL="0">
              <a:buNone/>
            </a:pPr>
            <a:r>
              <a:rPr lang="en-US" sz="1350" dirty="0">
                <a:solidFill>
                  <a:schemeClr val="tx1"/>
                </a:solidFill>
              </a:rPr>
              <a:t>Campanella ed email per eventi e scadenze, avviso dopo 2 anni senza Rapporti; messaggi nella pratica</a:t>
            </a:r>
            <a:endParaRPr lang="en-US" sz="1350" dirty="0"/>
          </a:p>
        </p:txBody>
      </p:sp>
      <p:sp>
        <p:nvSpPr>
          <p:cNvPr id="39" name="Scheda Dashboard"/>
          <p:cNvSpPr/>
          <p:nvPr/>
        </p:nvSpPr>
        <p:spPr>
          <a:xfrm>
            <a:off x="9052560" y="3886200"/>
            <a:ext cx="2560320" cy="2240280"/>
          </a:xfrm>
          <a:prstGeom prst="roundRect">
            <a:avLst>
              <a:gd name="adj" fmla="val 4898"/>
            </a:avLst>
          </a:prstGeom>
          <a:solidFill>
            <a:schemeClr val="bg2"/>
          </a:solidFill>
          <a:ln w="12700">
            <a:solidFill>
              <a:schemeClr val="bg2"/>
            </a:solidFill>
            <a:prstDash val="solid"/>
          </a:ln>
        </p:spPr>
      </p:sp>
      <p:sp>
        <p:nvSpPr>
          <p:cNvPr id="40" name="Dashboard cerchio"/>
          <p:cNvSpPr/>
          <p:nvPr/>
        </p:nvSpPr>
        <p:spPr>
          <a:xfrm>
            <a:off x="9217152" y="4014216"/>
            <a:ext cx="502920" cy="502920"/>
          </a:xfrm>
          <a:prstGeom prst="ellipse">
            <a:avLst/>
          </a:prstGeom>
          <a:solidFill>
            <a:schemeClr val="tx2"/>
          </a:solidFill>
          <a:ln w="12700">
            <a:solidFill>
              <a:schemeClr val="tx2"/>
            </a:solidFill>
            <a:prstDash val="solid"/>
          </a:ln>
        </p:spPr>
      </p:sp>
      <p:pic>
        <p:nvPicPr>
          <p:cNvPr id="41" name="Dashboard icona" descr="preencoded.png">    </p:cNvPr>
          <p:cNvPicPr>
            <a:picLocks noChangeAspect="1"/>
          </p:cNvPicPr>
          <p:nvPr/>
        </p:nvPicPr>
        <p:blipFill>
          <a:blip r:embed="rId10"/>
          <a:stretch>
            <a:fillRect/>
          </a:stretch>
        </p:blipFill>
        <p:spPr>
          <a:xfrm>
            <a:off x="9342882" y="4139946"/>
            <a:ext cx="251460" cy="251460"/>
          </a:xfrm>
          <a:prstGeom prst="rect">
            <a:avLst/>
          </a:prstGeom>
        </p:spPr>
      </p:pic>
      <p:sp>
        <p:nvSpPr>
          <p:cNvPr id="42" name="Text 32"/>
          <p:cNvSpPr txBox="1"/>
          <p:nvPr/>
        </p:nvSpPr>
        <p:spPr>
          <a:xfrm>
            <a:off x="9857232" y="4014216"/>
            <a:ext cx="1600200" cy="502920"/>
          </a:xfrm>
          <a:prstGeom prst="rect">
            <a:avLst/>
          </a:prstGeom>
          <a:noFill/>
          <a:ln/>
        </p:spPr>
        <p:txBody>
          <a:bodyPr wrap="square" lIns="0" tIns="0" rIns="0" bIns="0" rtlCol="0" anchor="ctr"/>
          <a:lstStyle/>
          <a:p>
            <a:pPr indent="0" marL="0">
              <a:buNone/>
            </a:pPr>
            <a:r>
              <a:rPr lang="en-US" sz="1500" b="1" dirty="0">
                <a:solidFill>
                  <a:schemeClr val="tx2"/>
                </a:solidFill>
              </a:rPr>
              <a:t>Dashboard</a:t>
            </a:r>
            <a:endParaRPr lang="en-US" sz="1500" dirty="0"/>
          </a:p>
        </p:txBody>
      </p:sp>
      <p:sp>
        <p:nvSpPr>
          <p:cNvPr id="43" name="Text 33"/>
          <p:cNvSpPr txBox="1"/>
          <p:nvPr/>
        </p:nvSpPr>
        <p:spPr>
          <a:xfrm>
            <a:off x="9235440" y="4727448"/>
            <a:ext cx="2212848" cy="1325880"/>
          </a:xfrm>
          <a:prstGeom prst="rect">
            <a:avLst/>
          </a:prstGeom>
          <a:noFill/>
          <a:ln/>
        </p:spPr>
        <p:txBody>
          <a:bodyPr wrap="square" lIns="0" tIns="0" rIns="0" bIns="0" rtlCol="0" anchor="t"/>
          <a:lstStyle/>
          <a:p>
            <a:pPr indent="0" marL="0">
              <a:buNone/>
            </a:pPr>
            <a:r>
              <a:rPr lang="en-US" sz="1350" dirty="0">
                <a:solidFill>
                  <a:schemeClr val="tx1"/>
                </a:solidFill>
              </a:rPr>
              <a:t>Barra a LED delle 7 fasi per pratica; in corso, in scadenza, scadute; ricerca, filtri, ogni colonna ordinabile</a:t>
            </a:r>
            <a:endParaRPr lang="en-US" sz="13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Analisi funzionale (2/2): crediti e garanzie</a:t>
            </a:r>
            <a:endParaRPr lang="en-US" sz="3000" dirty="0"/>
          </a:p>
        </p:txBody>
      </p:sp>
      <p:sp>
        <p:nvSpPr>
          <p:cNvPr id="3" name="Collegamento al portale"/>
          <p:cNvSpPr txBox="1"/>
          <p:nvPr/>
        </p:nvSpPr>
        <p:spPr>
          <a:xfrm>
            <a:off x="548640" y="932688"/>
            <a:ext cx="11064240" cy="274320"/>
          </a:xfrm>
          <a:prstGeom prst="rect">
            <a:avLst/>
          </a:prstGeom>
          <a:noFill/>
          <a:ln/>
        </p:spPr>
        <p:txBody>
          <a:bodyPr wrap="square" lIns="0" tIns="0" rIns="0" bIns="0" rtlCol="0" anchor="ctr"/>
          <a:lstStyle/>
          <a:p>
            <a:pPr indent="0" marL="0">
              <a:buNone/>
            </a:pPr>
            <a:r>
              <a:rPr lang="en-US" sz="1200" dirty="0">
                <a:solidFill>
                  <a:schemeClr val="accent6"/>
                </a:solidFill>
              </a:rPr>
              <a:t>Portale online: </a:t>
            </a:r>
            <a:pPr indent="0" marL="0">
              <a:buNone/>
            </a:pPr>
            <a:r>
              <a:rPr lang="en-US" sz="1200" b="1" u="sng" dirty="0">
                <a:solidFill>
                  <a:schemeClr val="tx2"/>
                </a:solidFill>
                <a:hlinkClick r:id="rId1" invalidUrl="" action="" tgtFrame="" tooltip="Apri il portale" history="1" highlightClick="0" endSnd="0">
                  <a:extLst>
                    <a:ext uri="{A12FA001-AC4F-418D-AE19-62706E023703}">
                      <ahyp:hlinkClr xmlns:ahyp="http://schemas.microsoft.com/office/drawing/2018/hyperlinkcolor" val="tx"/>
                    </a:ext>
                  </a:extLst>
                </a:hlinkClick>
              </a:rPr>
              <a:t>portale-cwp.vercel.app</a:t>
            </a:r>
            <a:pPr indent="0" marL="0">
              <a:buNone/>
            </a:pPr>
            <a:r>
              <a:rPr lang="en-US" sz="1200" dirty="0">
                <a:solidFill>
                  <a:schemeClr val="accent6"/>
                </a:solidFill>
              </a:rPr>
              <a:t>   ·   pagina pubblica: </a:t>
            </a:r>
            <a:pPr indent="0" marL="0">
              <a:buNone/>
            </a:pPr>
            <a:r>
              <a:rPr lang="en-US" sz="1200" b="1" u="sng" dirty="0">
                <a:solidFill>
                  <a:schemeClr val="tx2"/>
                </a:solidFill>
                <a:hlinkClick r:id="rId2" invalidUrl="" action="" tgtFrame="" tooltip="Apri la pagina pubblica del Programma" history="1" highlightClick="0" endSnd="0">
                  <a:extLst>
                    <a:ext uri="{A12FA001-AC4F-418D-AE19-62706E023703}">
                      <ahyp:hlinkClr xmlns:ahyp="http://schemas.microsoft.com/office/drawing/2018/hyperlinkcolor" val="tx"/>
                    </a:ext>
                  </a:extLst>
                </a:hlinkClick>
              </a:rPr>
              <a:t>portale-cwp.vercel.app/programma</a:t>
            </a:r>
            <a:endParaRPr lang="en-US" sz="1200" dirty="0"/>
          </a:p>
        </p:txBody>
      </p:sp>
      <p:sp>
        <p:nvSpPr>
          <p:cNvPr id="4" name="Scheda Calcolo dei crediti"/>
          <p:cNvSpPr/>
          <p:nvPr/>
        </p:nvSpPr>
        <p:spPr>
          <a:xfrm>
            <a:off x="548640" y="1325880"/>
            <a:ext cx="2481072" cy="1481328"/>
          </a:xfrm>
          <a:prstGeom prst="roundRect">
            <a:avLst>
              <a:gd name="adj" fmla="val 7407"/>
            </a:avLst>
          </a:prstGeom>
          <a:solidFill>
            <a:schemeClr val="bg2"/>
          </a:solidFill>
          <a:ln w="12700">
            <a:solidFill>
              <a:schemeClr val="bg2"/>
            </a:solidFill>
            <a:prstDash val="solid"/>
          </a:ln>
        </p:spPr>
      </p:sp>
      <p:sp>
        <p:nvSpPr>
          <p:cNvPr id="5" name="Calcolo dei crediti cerchio"/>
          <p:cNvSpPr/>
          <p:nvPr/>
        </p:nvSpPr>
        <p:spPr>
          <a:xfrm>
            <a:off x="713232" y="1453896"/>
            <a:ext cx="384048" cy="384048"/>
          </a:xfrm>
          <a:prstGeom prst="ellipse">
            <a:avLst/>
          </a:prstGeom>
          <a:solidFill>
            <a:schemeClr val="accent2"/>
          </a:solidFill>
          <a:ln w="12700">
            <a:solidFill>
              <a:schemeClr val="accent2"/>
            </a:solidFill>
            <a:prstDash val="solid"/>
          </a:ln>
        </p:spPr>
      </p:sp>
      <p:pic>
        <p:nvPicPr>
          <p:cNvPr id="6" name="Calcolo dei crediti icona" descr="preencoded.png">    </p:cNvPr>
          <p:cNvPicPr>
            <a:picLocks noChangeAspect="1"/>
          </p:cNvPicPr>
          <p:nvPr/>
        </p:nvPicPr>
        <p:blipFill>
          <a:blip r:embed="rId3"/>
          <a:stretch>
            <a:fillRect/>
          </a:stretch>
        </p:blipFill>
        <p:spPr>
          <a:xfrm>
            <a:off x="809244" y="1549908"/>
            <a:ext cx="192024" cy="192024"/>
          </a:xfrm>
          <a:prstGeom prst="rect">
            <a:avLst/>
          </a:prstGeom>
        </p:spPr>
      </p:pic>
      <p:sp>
        <p:nvSpPr>
          <p:cNvPr id="7" name="Text 4"/>
          <p:cNvSpPr txBox="1"/>
          <p:nvPr/>
        </p:nvSpPr>
        <p:spPr>
          <a:xfrm>
            <a:off x="1234440" y="1453896"/>
            <a:ext cx="1639824" cy="384048"/>
          </a:xfrm>
          <a:prstGeom prst="rect">
            <a:avLst/>
          </a:prstGeom>
          <a:noFill/>
          <a:ln/>
        </p:spPr>
        <p:txBody>
          <a:bodyPr wrap="square" lIns="0" tIns="0" rIns="0" bIns="0" rtlCol="0" anchor="ctr"/>
          <a:lstStyle/>
          <a:p>
            <a:pPr indent="0" marL="0">
              <a:buNone/>
            </a:pPr>
            <a:r>
              <a:rPr lang="en-US" sz="1400" b="1" dirty="0">
                <a:solidFill>
                  <a:schemeClr val="tx2"/>
                </a:solidFill>
              </a:rPr>
              <a:t>Calcolo dei crediti</a:t>
            </a:r>
            <a:endParaRPr lang="en-US" sz="1400" dirty="0"/>
          </a:p>
        </p:txBody>
      </p:sp>
      <p:sp>
        <p:nvSpPr>
          <p:cNvPr id="8" name="Text 5"/>
          <p:cNvSpPr txBox="1"/>
          <p:nvPr/>
        </p:nvSpPr>
        <p:spPr>
          <a:xfrm>
            <a:off x="731520" y="1892808"/>
            <a:ext cx="2133600" cy="841248"/>
          </a:xfrm>
          <a:prstGeom prst="rect">
            <a:avLst/>
          </a:prstGeom>
          <a:noFill/>
          <a:ln/>
        </p:spPr>
        <p:txBody>
          <a:bodyPr wrap="square" lIns="0" tIns="0" rIns="0" bIns="0" rtlCol="0" anchor="t"/>
          <a:lstStyle/>
          <a:p>
            <a:pPr indent="0" marL="0">
              <a:buNone/>
            </a:pPr>
            <a:r>
              <a:rPr lang="en-US" sz="1200" dirty="0">
                <a:solidFill>
                  <a:schemeClr val="tx1"/>
                </a:solidFill>
              </a:rPr>
              <a:t>Controllo della Fondazione: import del tracciato, privacy, coerenza, qualità dei dati (Tabella 3 ±30%), PDF</a:t>
            </a:r>
            <a:endParaRPr lang="en-US" sz="1200" dirty="0"/>
          </a:p>
        </p:txBody>
      </p:sp>
      <p:sp>
        <p:nvSpPr>
          <p:cNvPr id="9" name="Scheda Crediti emessi"/>
          <p:cNvSpPr/>
          <p:nvPr/>
        </p:nvSpPr>
        <p:spPr>
          <a:xfrm>
            <a:off x="3194304" y="1325880"/>
            <a:ext cx="2481072" cy="1481328"/>
          </a:xfrm>
          <a:prstGeom prst="roundRect">
            <a:avLst>
              <a:gd name="adj" fmla="val 7407"/>
            </a:avLst>
          </a:prstGeom>
          <a:solidFill>
            <a:schemeClr val="bg2"/>
          </a:solidFill>
          <a:ln w="12700">
            <a:solidFill>
              <a:schemeClr val="bg2"/>
            </a:solidFill>
            <a:prstDash val="solid"/>
          </a:ln>
        </p:spPr>
      </p:sp>
      <p:sp>
        <p:nvSpPr>
          <p:cNvPr id="10" name="Crediti emessi cerchio"/>
          <p:cNvSpPr/>
          <p:nvPr/>
        </p:nvSpPr>
        <p:spPr>
          <a:xfrm>
            <a:off x="3358896" y="1453896"/>
            <a:ext cx="384048" cy="384048"/>
          </a:xfrm>
          <a:prstGeom prst="ellipse">
            <a:avLst/>
          </a:prstGeom>
          <a:solidFill>
            <a:schemeClr val="accent2"/>
          </a:solidFill>
          <a:ln w="12700">
            <a:solidFill>
              <a:schemeClr val="accent2"/>
            </a:solidFill>
            <a:prstDash val="solid"/>
          </a:ln>
        </p:spPr>
      </p:sp>
      <p:pic>
        <p:nvPicPr>
          <p:cNvPr id="11" name="Crediti emessi icona" descr="preencoded.png">    </p:cNvPr>
          <p:cNvPicPr>
            <a:picLocks noChangeAspect="1"/>
          </p:cNvPicPr>
          <p:nvPr/>
        </p:nvPicPr>
        <p:blipFill>
          <a:blip r:embed="rId4"/>
          <a:stretch>
            <a:fillRect/>
          </a:stretch>
        </p:blipFill>
        <p:spPr>
          <a:xfrm>
            <a:off x="3454908" y="1549908"/>
            <a:ext cx="192024" cy="192024"/>
          </a:xfrm>
          <a:prstGeom prst="rect">
            <a:avLst/>
          </a:prstGeom>
        </p:spPr>
      </p:pic>
      <p:sp>
        <p:nvSpPr>
          <p:cNvPr id="12" name="Text 8"/>
          <p:cNvSpPr txBox="1"/>
          <p:nvPr/>
        </p:nvSpPr>
        <p:spPr>
          <a:xfrm>
            <a:off x="3880104" y="1453896"/>
            <a:ext cx="1639824" cy="384048"/>
          </a:xfrm>
          <a:prstGeom prst="rect">
            <a:avLst/>
          </a:prstGeom>
          <a:noFill/>
          <a:ln/>
        </p:spPr>
        <p:txBody>
          <a:bodyPr wrap="square" lIns="0" tIns="0" rIns="0" bIns="0" rtlCol="0" anchor="ctr"/>
          <a:lstStyle/>
          <a:p>
            <a:pPr indent="0" marL="0">
              <a:buNone/>
            </a:pPr>
            <a:r>
              <a:rPr lang="en-US" sz="1400" b="1" dirty="0">
                <a:solidFill>
                  <a:schemeClr val="tx2"/>
                </a:solidFill>
              </a:rPr>
              <a:t>Crediti emessi</a:t>
            </a:r>
            <a:endParaRPr lang="en-US" sz="1400" dirty="0"/>
          </a:p>
        </p:txBody>
      </p:sp>
      <p:sp>
        <p:nvSpPr>
          <p:cNvPr id="13" name="Text 9"/>
          <p:cNvSpPr txBox="1"/>
          <p:nvPr/>
        </p:nvSpPr>
        <p:spPr>
          <a:xfrm>
            <a:off x="3377184" y="1892808"/>
            <a:ext cx="2133600" cy="841248"/>
          </a:xfrm>
          <a:prstGeom prst="rect">
            <a:avLst/>
          </a:prstGeom>
          <a:noFill/>
          <a:ln/>
        </p:spPr>
        <p:txBody>
          <a:bodyPr wrap="square" lIns="0" tIns="0" rIns="0" bIns="0" rtlCol="0" anchor="t"/>
          <a:lstStyle/>
          <a:p>
            <a:pPr indent="0" marL="0">
              <a:buNone/>
            </a:pPr>
            <a:r>
              <a:rPr lang="en-US" sz="1200" dirty="0">
                <a:solidFill>
                  <a:schemeClr val="tx1"/>
                </a:solidFill>
              </a:rPr>
              <a:t>ID univoci dopo il Rapporto registrato; registro esterno, vendite, cancellazione: attivo / ritirato</a:t>
            </a:r>
            <a:endParaRPr lang="en-US" sz="1200" dirty="0"/>
          </a:p>
        </p:txBody>
      </p:sp>
      <p:sp>
        <p:nvSpPr>
          <p:cNvPr id="14" name="Scheda Piattaforma pubblica"/>
          <p:cNvSpPr/>
          <p:nvPr/>
        </p:nvSpPr>
        <p:spPr>
          <a:xfrm>
            <a:off x="5839968" y="1325880"/>
            <a:ext cx="2481072" cy="1481328"/>
          </a:xfrm>
          <a:prstGeom prst="roundRect">
            <a:avLst>
              <a:gd name="adj" fmla="val 7407"/>
            </a:avLst>
          </a:prstGeom>
          <a:solidFill>
            <a:schemeClr val="bg2"/>
          </a:solidFill>
          <a:ln w="12700">
            <a:solidFill>
              <a:schemeClr val="bg2"/>
            </a:solidFill>
            <a:prstDash val="solid"/>
          </a:ln>
        </p:spPr>
      </p:sp>
      <p:sp>
        <p:nvSpPr>
          <p:cNvPr id="15" name="Piattaforma pubblica cerchio"/>
          <p:cNvSpPr/>
          <p:nvPr/>
        </p:nvSpPr>
        <p:spPr>
          <a:xfrm>
            <a:off x="6004560" y="1453896"/>
            <a:ext cx="384048" cy="384048"/>
          </a:xfrm>
          <a:prstGeom prst="ellipse">
            <a:avLst/>
          </a:prstGeom>
          <a:solidFill>
            <a:schemeClr val="tx2"/>
          </a:solidFill>
          <a:ln w="12700">
            <a:solidFill>
              <a:schemeClr val="tx2"/>
            </a:solidFill>
            <a:prstDash val="solid"/>
          </a:ln>
        </p:spPr>
      </p:sp>
      <p:pic>
        <p:nvPicPr>
          <p:cNvPr id="16" name="Piattaforma pubblica icona" descr="preencoded.png">    </p:cNvPr>
          <p:cNvPicPr>
            <a:picLocks noChangeAspect="1"/>
          </p:cNvPicPr>
          <p:nvPr/>
        </p:nvPicPr>
        <p:blipFill>
          <a:blip r:embed="rId5"/>
          <a:stretch>
            <a:fillRect/>
          </a:stretch>
        </p:blipFill>
        <p:spPr>
          <a:xfrm>
            <a:off x="6100572" y="1549908"/>
            <a:ext cx="192024" cy="192024"/>
          </a:xfrm>
          <a:prstGeom prst="rect">
            <a:avLst/>
          </a:prstGeom>
        </p:spPr>
      </p:pic>
      <p:sp>
        <p:nvSpPr>
          <p:cNvPr id="17" name="Text 12"/>
          <p:cNvSpPr txBox="1"/>
          <p:nvPr/>
        </p:nvSpPr>
        <p:spPr>
          <a:xfrm>
            <a:off x="6525768" y="1453896"/>
            <a:ext cx="1639824" cy="384048"/>
          </a:xfrm>
          <a:prstGeom prst="rect">
            <a:avLst/>
          </a:prstGeom>
          <a:noFill/>
          <a:ln/>
        </p:spPr>
        <p:txBody>
          <a:bodyPr wrap="square" lIns="0" tIns="0" rIns="0" bIns="0" rtlCol="0" anchor="ctr"/>
          <a:lstStyle/>
          <a:p>
            <a:pPr indent="0" marL="0">
              <a:buNone/>
            </a:pPr>
            <a:r>
              <a:rPr lang="en-US" sz="1400" b="1" dirty="0">
                <a:solidFill>
                  <a:schemeClr val="tx2"/>
                </a:solidFill>
              </a:rPr>
              <a:t>Piattaforma pubblica</a:t>
            </a:r>
            <a:endParaRPr lang="en-US" sz="1400" dirty="0"/>
          </a:p>
        </p:txBody>
      </p:sp>
      <p:sp>
        <p:nvSpPr>
          <p:cNvPr id="18" name="Text 13"/>
          <p:cNvSpPr txBox="1"/>
          <p:nvPr/>
        </p:nvSpPr>
        <p:spPr>
          <a:xfrm>
            <a:off x="6022848" y="1892808"/>
            <a:ext cx="2133600" cy="841248"/>
          </a:xfrm>
          <a:prstGeom prst="rect">
            <a:avLst/>
          </a:prstGeom>
          <a:noFill/>
          <a:ln/>
        </p:spPr>
        <p:txBody>
          <a:bodyPr wrap="square" lIns="0" tIns="0" rIns="0" bIns="0" rtlCol="0" anchor="t"/>
          <a:lstStyle/>
          <a:p>
            <a:pPr indent="0" marL="0">
              <a:buNone/>
            </a:pPr>
            <a:r>
              <a:rPr lang="en-US" sz="1200" dirty="0">
                <a:solidFill>
                  <a:schemeClr val="tx1"/>
                </a:solidFill>
              </a:rPr>
              <a:t>Enti, registri, metodologie, modulistica, progetti con documenti pubblici e crediti</a:t>
            </a:r>
            <a:endParaRPr lang="en-US" sz="1200" dirty="0"/>
          </a:p>
        </p:txBody>
      </p:sp>
      <p:sp>
        <p:nvSpPr>
          <p:cNvPr id="19" name="Scheda Reclami"/>
          <p:cNvSpPr/>
          <p:nvPr/>
        </p:nvSpPr>
        <p:spPr>
          <a:xfrm>
            <a:off x="548640" y="2971800"/>
            <a:ext cx="2481072" cy="1481328"/>
          </a:xfrm>
          <a:prstGeom prst="roundRect">
            <a:avLst>
              <a:gd name="adj" fmla="val 7407"/>
            </a:avLst>
          </a:prstGeom>
          <a:solidFill>
            <a:schemeClr val="bg2"/>
          </a:solidFill>
          <a:ln w="12700">
            <a:solidFill>
              <a:schemeClr val="bg2"/>
            </a:solidFill>
            <a:prstDash val="solid"/>
          </a:ln>
        </p:spPr>
      </p:sp>
      <p:sp>
        <p:nvSpPr>
          <p:cNvPr id="20" name="Reclami cerchio"/>
          <p:cNvSpPr/>
          <p:nvPr/>
        </p:nvSpPr>
        <p:spPr>
          <a:xfrm>
            <a:off x="713232" y="3099816"/>
            <a:ext cx="384048" cy="384048"/>
          </a:xfrm>
          <a:prstGeom prst="ellipse">
            <a:avLst/>
          </a:prstGeom>
          <a:solidFill>
            <a:schemeClr val="tx2"/>
          </a:solidFill>
          <a:ln w="12700">
            <a:solidFill>
              <a:schemeClr val="tx2"/>
            </a:solidFill>
            <a:prstDash val="solid"/>
          </a:ln>
        </p:spPr>
      </p:sp>
      <p:pic>
        <p:nvPicPr>
          <p:cNvPr id="21" name="Reclami icona" descr="preencoded.png">    </p:cNvPr>
          <p:cNvPicPr>
            <a:picLocks noChangeAspect="1"/>
          </p:cNvPicPr>
          <p:nvPr/>
        </p:nvPicPr>
        <p:blipFill>
          <a:blip r:embed="rId6"/>
          <a:stretch>
            <a:fillRect/>
          </a:stretch>
        </p:blipFill>
        <p:spPr>
          <a:xfrm>
            <a:off x="809244" y="3195828"/>
            <a:ext cx="192024" cy="192024"/>
          </a:xfrm>
          <a:prstGeom prst="rect">
            <a:avLst/>
          </a:prstGeom>
        </p:spPr>
      </p:pic>
      <p:sp>
        <p:nvSpPr>
          <p:cNvPr id="22" name="Text 16"/>
          <p:cNvSpPr txBox="1"/>
          <p:nvPr/>
        </p:nvSpPr>
        <p:spPr>
          <a:xfrm>
            <a:off x="1234440" y="3099816"/>
            <a:ext cx="1639824" cy="384048"/>
          </a:xfrm>
          <a:prstGeom prst="rect">
            <a:avLst/>
          </a:prstGeom>
          <a:noFill/>
          <a:ln/>
        </p:spPr>
        <p:txBody>
          <a:bodyPr wrap="square" lIns="0" tIns="0" rIns="0" bIns="0" rtlCol="0" anchor="ctr"/>
          <a:lstStyle/>
          <a:p>
            <a:pPr indent="0" marL="0">
              <a:buNone/>
            </a:pPr>
            <a:r>
              <a:rPr lang="en-US" sz="1400" b="1" dirty="0">
                <a:solidFill>
                  <a:schemeClr val="tx2"/>
                </a:solidFill>
              </a:rPr>
              <a:t>Reclami</a:t>
            </a:r>
            <a:endParaRPr lang="en-US" sz="1400" dirty="0"/>
          </a:p>
        </p:txBody>
      </p:sp>
      <p:sp>
        <p:nvSpPr>
          <p:cNvPr id="23" name="Text 17"/>
          <p:cNvSpPr txBox="1"/>
          <p:nvPr/>
        </p:nvSpPr>
        <p:spPr>
          <a:xfrm>
            <a:off x="731520" y="3538728"/>
            <a:ext cx="2133600" cy="841248"/>
          </a:xfrm>
          <a:prstGeom prst="rect">
            <a:avLst/>
          </a:prstGeom>
          <a:noFill/>
          <a:ln/>
        </p:spPr>
        <p:txBody>
          <a:bodyPr wrap="square" lIns="0" tIns="0" rIns="0" bIns="0" rtlCol="0" anchor="t"/>
          <a:lstStyle/>
          <a:p>
            <a:pPr indent="0" marL="0">
              <a:buNone/>
            </a:pPr>
            <a:r>
              <a:rPr lang="en-US" sz="1200" dirty="0">
                <a:solidFill>
                  <a:schemeClr val="tx1"/>
                </a:solidFill>
              </a:rPr>
              <a:t>Invio dal portale o via PEC; gestore, conferma, risposta scritta, costi; notifiche</a:t>
            </a:r>
            <a:endParaRPr lang="en-US" sz="1200" dirty="0"/>
          </a:p>
        </p:txBody>
      </p:sp>
      <p:sp>
        <p:nvSpPr>
          <p:cNvPr id="24" name="Scheda Audit trail"/>
          <p:cNvSpPr/>
          <p:nvPr/>
        </p:nvSpPr>
        <p:spPr>
          <a:xfrm>
            <a:off x="3194304" y="2971800"/>
            <a:ext cx="2481072" cy="1481328"/>
          </a:xfrm>
          <a:prstGeom prst="roundRect">
            <a:avLst>
              <a:gd name="adj" fmla="val 7407"/>
            </a:avLst>
          </a:prstGeom>
          <a:solidFill>
            <a:schemeClr val="bg2"/>
          </a:solidFill>
          <a:ln w="12700">
            <a:solidFill>
              <a:schemeClr val="bg2"/>
            </a:solidFill>
            <a:prstDash val="solid"/>
          </a:ln>
        </p:spPr>
      </p:sp>
      <p:sp>
        <p:nvSpPr>
          <p:cNvPr id="25" name="Audit trail cerchio"/>
          <p:cNvSpPr/>
          <p:nvPr/>
        </p:nvSpPr>
        <p:spPr>
          <a:xfrm>
            <a:off x="3358896" y="3099816"/>
            <a:ext cx="384048" cy="384048"/>
          </a:xfrm>
          <a:prstGeom prst="ellipse">
            <a:avLst/>
          </a:prstGeom>
          <a:solidFill>
            <a:schemeClr val="tx2"/>
          </a:solidFill>
          <a:ln w="12700">
            <a:solidFill>
              <a:schemeClr val="tx2"/>
            </a:solidFill>
            <a:prstDash val="solid"/>
          </a:ln>
        </p:spPr>
      </p:sp>
      <p:pic>
        <p:nvPicPr>
          <p:cNvPr id="26" name="Audit trail icona" descr="preencoded.png">    </p:cNvPr>
          <p:cNvPicPr>
            <a:picLocks noChangeAspect="1"/>
          </p:cNvPicPr>
          <p:nvPr/>
        </p:nvPicPr>
        <p:blipFill>
          <a:blip r:embed="rId7"/>
          <a:stretch>
            <a:fillRect/>
          </a:stretch>
        </p:blipFill>
        <p:spPr>
          <a:xfrm>
            <a:off x="3454908" y="3195828"/>
            <a:ext cx="192024" cy="192024"/>
          </a:xfrm>
          <a:prstGeom prst="rect">
            <a:avLst/>
          </a:prstGeom>
        </p:spPr>
      </p:pic>
      <p:sp>
        <p:nvSpPr>
          <p:cNvPr id="27" name="Text 20"/>
          <p:cNvSpPr txBox="1"/>
          <p:nvPr/>
        </p:nvSpPr>
        <p:spPr>
          <a:xfrm>
            <a:off x="3880104" y="3099816"/>
            <a:ext cx="1639824" cy="384048"/>
          </a:xfrm>
          <a:prstGeom prst="rect">
            <a:avLst/>
          </a:prstGeom>
          <a:noFill/>
          <a:ln/>
        </p:spPr>
        <p:txBody>
          <a:bodyPr wrap="square" lIns="0" tIns="0" rIns="0" bIns="0" rtlCol="0" anchor="ctr"/>
          <a:lstStyle/>
          <a:p>
            <a:pPr indent="0" marL="0">
              <a:buNone/>
            </a:pPr>
            <a:r>
              <a:rPr lang="en-US" sz="1400" b="1" dirty="0">
                <a:solidFill>
                  <a:schemeClr val="tx2"/>
                </a:solidFill>
              </a:rPr>
              <a:t>Audit trail</a:t>
            </a:r>
            <a:endParaRPr lang="en-US" sz="1400" dirty="0"/>
          </a:p>
        </p:txBody>
      </p:sp>
      <p:sp>
        <p:nvSpPr>
          <p:cNvPr id="28" name="Text 21"/>
          <p:cNvSpPr txBox="1"/>
          <p:nvPr/>
        </p:nvSpPr>
        <p:spPr>
          <a:xfrm>
            <a:off x="3377184" y="3538728"/>
            <a:ext cx="2133600" cy="841248"/>
          </a:xfrm>
          <a:prstGeom prst="rect">
            <a:avLst/>
          </a:prstGeom>
          <a:noFill/>
          <a:ln/>
        </p:spPr>
        <p:txBody>
          <a:bodyPr wrap="square" lIns="0" tIns="0" rIns="0" bIns="0" rtlCol="0" anchor="t"/>
          <a:lstStyle/>
          <a:p>
            <a:pPr indent="0" marL="0">
              <a:buNone/>
            </a:pPr>
            <a:r>
              <a:rPr lang="en-US" sz="1200" dirty="0">
                <a:solidFill>
                  <a:schemeClr val="tx1"/>
                </a:solidFill>
              </a:rPr>
              <a:t>Ogni operazione registrata dal database con autore, prima e dopo, motivazione</a:t>
            </a:r>
            <a:endParaRPr lang="en-US" sz="1200" dirty="0"/>
          </a:p>
        </p:txBody>
      </p:sp>
      <p:sp>
        <p:nvSpPr>
          <p:cNvPr id="29" name="Scheda Fascicolo"/>
          <p:cNvSpPr/>
          <p:nvPr/>
        </p:nvSpPr>
        <p:spPr>
          <a:xfrm>
            <a:off x="5839968" y="2971800"/>
            <a:ext cx="2481072" cy="1481328"/>
          </a:xfrm>
          <a:prstGeom prst="roundRect">
            <a:avLst>
              <a:gd name="adj" fmla="val 7407"/>
            </a:avLst>
          </a:prstGeom>
          <a:solidFill>
            <a:schemeClr val="bg2"/>
          </a:solidFill>
          <a:ln w="12700">
            <a:solidFill>
              <a:schemeClr val="bg2"/>
            </a:solidFill>
            <a:prstDash val="solid"/>
          </a:ln>
        </p:spPr>
      </p:sp>
      <p:sp>
        <p:nvSpPr>
          <p:cNvPr id="30" name="Fascicolo cerchio"/>
          <p:cNvSpPr/>
          <p:nvPr/>
        </p:nvSpPr>
        <p:spPr>
          <a:xfrm>
            <a:off x="6004560" y="3099816"/>
            <a:ext cx="384048" cy="384048"/>
          </a:xfrm>
          <a:prstGeom prst="ellipse">
            <a:avLst/>
          </a:prstGeom>
          <a:solidFill>
            <a:schemeClr val="tx2"/>
          </a:solidFill>
          <a:ln w="12700">
            <a:solidFill>
              <a:schemeClr val="tx2"/>
            </a:solidFill>
            <a:prstDash val="solid"/>
          </a:ln>
        </p:spPr>
      </p:sp>
      <p:pic>
        <p:nvPicPr>
          <p:cNvPr id="31" name="Fascicolo icona" descr="preencoded.png">    </p:cNvPr>
          <p:cNvPicPr>
            <a:picLocks noChangeAspect="1"/>
          </p:cNvPicPr>
          <p:nvPr/>
        </p:nvPicPr>
        <p:blipFill>
          <a:blip r:embed="rId8"/>
          <a:stretch>
            <a:fillRect/>
          </a:stretch>
        </p:blipFill>
        <p:spPr>
          <a:xfrm>
            <a:off x="6100572" y="3195828"/>
            <a:ext cx="192024" cy="192024"/>
          </a:xfrm>
          <a:prstGeom prst="rect">
            <a:avLst/>
          </a:prstGeom>
        </p:spPr>
      </p:pic>
      <p:sp>
        <p:nvSpPr>
          <p:cNvPr id="32" name="Text 24"/>
          <p:cNvSpPr txBox="1"/>
          <p:nvPr/>
        </p:nvSpPr>
        <p:spPr>
          <a:xfrm>
            <a:off x="6525768" y="3099816"/>
            <a:ext cx="1639824" cy="384048"/>
          </a:xfrm>
          <a:prstGeom prst="rect">
            <a:avLst/>
          </a:prstGeom>
          <a:noFill/>
          <a:ln/>
        </p:spPr>
        <p:txBody>
          <a:bodyPr wrap="square" lIns="0" tIns="0" rIns="0" bIns="0" rtlCol="0" anchor="ctr"/>
          <a:lstStyle/>
          <a:p>
            <a:pPr indent="0" marL="0">
              <a:buNone/>
            </a:pPr>
            <a:r>
              <a:rPr lang="en-US" sz="1400" b="1" dirty="0">
                <a:solidFill>
                  <a:schemeClr val="tx2"/>
                </a:solidFill>
              </a:rPr>
              <a:t>Fascicolo</a:t>
            </a:r>
            <a:endParaRPr lang="en-US" sz="1400" dirty="0"/>
          </a:p>
        </p:txBody>
      </p:sp>
      <p:sp>
        <p:nvSpPr>
          <p:cNvPr id="33" name="Text 25"/>
          <p:cNvSpPr txBox="1"/>
          <p:nvPr/>
        </p:nvSpPr>
        <p:spPr>
          <a:xfrm>
            <a:off x="6022848" y="3538728"/>
            <a:ext cx="2133600" cy="841248"/>
          </a:xfrm>
          <a:prstGeom prst="rect">
            <a:avLst/>
          </a:prstGeom>
          <a:noFill/>
          <a:ln/>
        </p:spPr>
        <p:txBody>
          <a:bodyPr wrap="square" lIns="0" tIns="0" rIns="0" bIns="0" rtlCol="0" anchor="t"/>
          <a:lstStyle/>
          <a:p>
            <a:pPr indent="0" marL="0">
              <a:buNone/>
            </a:pPr>
            <a:r>
              <a:rPr lang="en-US" sz="1200" dirty="0">
                <a:solidFill>
                  <a:schemeClr val="tx1"/>
                </a:solidFill>
              </a:rPr>
              <a:t>ZIP con riepilogo PDF, versioni, validazione, feedback, note, messaggi, storico</a:t>
            </a:r>
            <a:endParaRPr lang="en-US" sz="1200" dirty="0"/>
          </a:p>
        </p:txBody>
      </p:sp>
      <p:sp>
        <p:nvSpPr>
          <p:cNvPr id="34" name="Scheda Conservazione"/>
          <p:cNvSpPr/>
          <p:nvPr/>
        </p:nvSpPr>
        <p:spPr>
          <a:xfrm>
            <a:off x="548640" y="4617720"/>
            <a:ext cx="2481072" cy="1481328"/>
          </a:xfrm>
          <a:prstGeom prst="roundRect">
            <a:avLst>
              <a:gd name="adj" fmla="val 7407"/>
            </a:avLst>
          </a:prstGeom>
          <a:solidFill>
            <a:schemeClr val="bg2"/>
          </a:solidFill>
          <a:ln w="12700">
            <a:solidFill>
              <a:schemeClr val="bg2"/>
            </a:solidFill>
            <a:prstDash val="solid"/>
          </a:ln>
        </p:spPr>
      </p:sp>
      <p:sp>
        <p:nvSpPr>
          <p:cNvPr id="35" name="Conservazione cerchio"/>
          <p:cNvSpPr/>
          <p:nvPr/>
        </p:nvSpPr>
        <p:spPr>
          <a:xfrm>
            <a:off x="713232" y="4745736"/>
            <a:ext cx="384048" cy="384048"/>
          </a:xfrm>
          <a:prstGeom prst="ellipse">
            <a:avLst/>
          </a:prstGeom>
          <a:solidFill>
            <a:schemeClr val="tx2"/>
          </a:solidFill>
          <a:ln w="12700">
            <a:solidFill>
              <a:schemeClr val="tx2"/>
            </a:solidFill>
            <a:prstDash val="solid"/>
          </a:ln>
        </p:spPr>
      </p:sp>
      <p:pic>
        <p:nvPicPr>
          <p:cNvPr id="36" name="Conservazione icona" descr="preencoded.png">    </p:cNvPr>
          <p:cNvPicPr>
            <a:picLocks noChangeAspect="1"/>
          </p:cNvPicPr>
          <p:nvPr/>
        </p:nvPicPr>
        <p:blipFill>
          <a:blip r:embed="rId9"/>
          <a:stretch>
            <a:fillRect/>
          </a:stretch>
        </p:blipFill>
        <p:spPr>
          <a:xfrm>
            <a:off x="809244" y="4841748"/>
            <a:ext cx="192024" cy="192024"/>
          </a:xfrm>
          <a:prstGeom prst="rect">
            <a:avLst/>
          </a:prstGeom>
        </p:spPr>
      </p:pic>
      <p:sp>
        <p:nvSpPr>
          <p:cNvPr id="37" name="Text 28"/>
          <p:cNvSpPr txBox="1"/>
          <p:nvPr/>
        </p:nvSpPr>
        <p:spPr>
          <a:xfrm>
            <a:off x="1234440" y="4745736"/>
            <a:ext cx="1639824" cy="384048"/>
          </a:xfrm>
          <a:prstGeom prst="rect">
            <a:avLst/>
          </a:prstGeom>
          <a:noFill/>
          <a:ln/>
        </p:spPr>
        <p:txBody>
          <a:bodyPr wrap="square" lIns="0" tIns="0" rIns="0" bIns="0" rtlCol="0" anchor="ctr"/>
          <a:lstStyle/>
          <a:p>
            <a:pPr indent="0" marL="0">
              <a:buNone/>
            </a:pPr>
            <a:r>
              <a:rPr lang="en-US" sz="1400" b="1" dirty="0">
                <a:solidFill>
                  <a:schemeClr val="tx2"/>
                </a:solidFill>
              </a:rPr>
              <a:t>Conservazione</a:t>
            </a:r>
            <a:endParaRPr lang="en-US" sz="1400" dirty="0"/>
          </a:p>
        </p:txBody>
      </p:sp>
      <p:sp>
        <p:nvSpPr>
          <p:cNvPr id="38" name="Text 29"/>
          <p:cNvSpPr txBox="1"/>
          <p:nvPr/>
        </p:nvSpPr>
        <p:spPr>
          <a:xfrm>
            <a:off x="731520" y="5184648"/>
            <a:ext cx="2133600" cy="841248"/>
          </a:xfrm>
          <a:prstGeom prst="rect">
            <a:avLst/>
          </a:prstGeom>
          <a:noFill/>
          <a:ln/>
        </p:spPr>
        <p:txBody>
          <a:bodyPr wrap="square" lIns="0" tIns="0" rIns="0" bIns="0" rtlCol="0" anchor="t"/>
          <a:lstStyle/>
          <a:p>
            <a:pPr indent="0" marL="0">
              <a:buNone/>
            </a:pPr>
            <a:r>
              <a:rPr lang="en-US" sz="1200" dirty="0">
                <a:solidFill>
                  <a:schemeClr val="tx1"/>
                </a:solidFill>
              </a:rPr>
              <a:t>Nessuna cancellazione; 12 anni dalla chiusura o dal ritiro (Guida 6.2.1)</a:t>
            </a:r>
            <a:endParaRPr lang="en-US" sz="1200" dirty="0"/>
          </a:p>
        </p:txBody>
      </p:sp>
      <p:sp>
        <p:nvSpPr>
          <p:cNvPr id="39" name="Scheda Accesso e utenti"/>
          <p:cNvSpPr/>
          <p:nvPr/>
        </p:nvSpPr>
        <p:spPr>
          <a:xfrm>
            <a:off x="3194304" y="4617720"/>
            <a:ext cx="2481072" cy="1481328"/>
          </a:xfrm>
          <a:prstGeom prst="roundRect">
            <a:avLst>
              <a:gd name="adj" fmla="val 7407"/>
            </a:avLst>
          </a:prstGeom>
          <a:solidFill>
            <a:schemeClr val="bg2"/>
          </a:solidFill>
          <a:ln w="12700">
            <a:solidFill>
              <a:schemeClr val="bg2"/>
            </a:solidFill>
            <a:prstDash val="solid"/>
          </a:ln>
        </p:spPr>
      </p:sp>
      <p:sp>
        <p:nvSpPr>
          <p:cNvPr id="40" name="Accesso e utenti cerchio"/>
          <p:cNvSpPr/>
          <p:nvPr/>
        </p:nvSpPr>
        <p:spPr>
          <a:xfrm>
            <a:off x="3358896" y="4745736"/>
            <a:ext cx="384048" cy="384048"/>
          </a:xfrm>
          <a:prstGeom prst="ellipse">
            <a:avLst/>
          </a:prstGeom>
          <a:solidFill>
            <a:schemeClr val="tx2"/>
          </a:solidFill>
          <a:ln w="12700">
            <a:solidFill>
              <a:schemeClr val="tx2"/>
            </a:solidFill>
            <a:prstDash val="solid"/>
          </a:ln>
        </p:spPr>
      </p:sp>
      <p:pic>
        <p:nvPicPr>
          <p:cNvPr id="41" name="Accesso e utenti icona" descr="preencoded.png">    </p:cNvPr>
          <p:cNvPicPr>
            <a:picLocks noChangeAspect="1"/>
          </p:cNvPicPr>
          <p:nvPr/>
        </p:nvPicPr>
        <p:blipFill>
          <a:blip r:embed="rId10"/>
          <a:stretch>
            <a:fillRect/>
          </a:stretch>
        </p:blipFill>
        <p:spPr>
          <a:xfrm>
            <a:off x="3454908" y="4841748"/>
            <a:ext cx="192024" cy="192024"/>
          </a:xfrm>
          <a:prstGeom prst="rect">
            <a:avLst/>
          </a:prstGeom>
        </p:spPr>
      </p:pic>
      <p:sp>
        <p:nvSpPr>
          <p:cNvPr id="42" name="Text 32"/>
          <p:cNvSpPr txBox="1"/>
          <p:nvPr/>
        </p:nvSpPr>
        <p:spPr>
          <a:xfrm>
            <a:off x="3880104" y="4745736"/>
            <a:ext cx="1639824" cy="384048"/>
          </a:xfrm>
          <a:prstGeom prst="rect">
            <a:avLst/>
          </a:prstGeom>
          <a:noFill/>
          <a:ln/>
        </p:spPr>
        <p:txBody>
          <a:bodyPr wrap="square" lIns="0" tIns="0" rIns="0" bIns="0" rtlCol="0" anchor="ctr"/>
          <a:lstStyle/>
          <a:p>
            <a:pPr indent="0" marL="0">
              <a:buNone/>
            </a:pPr>
            <a:r>
              <a:rPr lang="en-US" sz="1400" b="1" dirty="0">
                <a:solidFill>
                  <a:schemeClr val="tx2"/>
                </a:solidFill>
              </a:rPr>
              <a:t>Accesso e utenti</a:t>
            </a:r>
            <a:endParaRPr lang="en-US" sz="1400" dirty="0"/>
          </a:p>
        </p:txBody>
      </p:sp>
      <p:sp>
        <p:nvSpPr>
          <p:cNvPr id="43" name="Text 33"/>
          <p:cNvSpPr txBox="1"/>
          <p:nvPr/>
        </p:nvSpPr>
        <p:spPr>
          <a:xfrm>
            <a:off x="3377184" y="5184648"/>
            <a:ext cx="2133600" cy="841248"/>
          </a:xfrm>
          <a:prstGeom prst="rect">
            <a:avLst/>
          </a:prstGeom>
          <a:noFill/>
          <a:ln/>
        </p:spPr>
        <p:txBody>
          <a:bodyPr wrap="square" lIns="0" tIns="0" rIns="0" bIns="0" rtlCol="0" anchor="t"/>
          <a:lstStyle/>
          <a:p>
            <a:pPr indent="0" marL="0">
              <a:buNone/>
            </a:pPr>
            <a:r>
              <a:rPr lang="en-US" sz="1200" dirty="0">
                <a:solidFill>
                  <a:schemeClr val="tx1"/>
                </a:solidFill>
              </a:rPr>
              <a:t>Più amministratori, uno principale protetto; credenziali via email; utenti mai attivi eliminabili</a:t>
            </a:r>
            <a:endParaRPr lang="en-US" sz="1200" dirty="0"/>
          </a:p>
        </p:txBody>
      </p:sp>
      <p:sp>
        <p:nvSpPr>
          <p:cNvPr id="44" name="Scheda Documentazione"/>
          <p:cNvSpPr/>
          <p:nvPr/>
        </p:nvSpPr>
        <p:spPr>
          <a:xfrm>
            <a:off x="5839968" y="4617720"/>
            <a:ext cx="2481072" cy="1481328"/>
          </a:xfrm>
          <a:prstGeom prst="roundRect">
            <a:avLst>
              <a:gd name="adj" fmla="val 7407"/>
            </a:avLst>
          </a:prstGeom>
          <a:solidFill>
            <a:schemeClr val="bg2"/>
          </a:solidFill>
          <a:ln w="12700">
            <a:solidFill>
              <a:schemeClr val="bg2"/>
            </a:solidFill>
            <a:prstDash val="solid"/>
          </a:ln>
        </p:spPr>
      </p:sp>
      <p:sp>
        <p:nvSpPr>
          <p:cNvPr id="45" name="Documentazione cerchio"/>
          <p:cNvSpPr/>
          <p:nvPr/>
        </p:nvSpPr>
        <p:spPr>
          <a:xfrm>
            <a:off x="6004560" y="4745736"/>
            <a:ext cx="384048" cy="384048"/>
          </a:xfrm>
          <a:prstGeom prst="ellipse">
            <a:avLst/>
          </a:prstGeom>
          <a:solidFill>
            <a:schemeClr val="tx2"/>
          </a:solidFill>
          <a:ln w="12700">
            <a:solidFill>
              <a:schemeClr val="tx2"/>
            </a:solidFill>
            <a:prstDash val="solid"/>
          </a:ln>
        </p:spPr>
      </p:sp>
      <p:pic>
        <p:nvPicPr>
          <p:cNvPr id="46" name="Documentazione icona" descr="preencoded.png">    </p:cNvPr>
          <p:cNvPicPr>
            <a:picLocks noChangeAspect="1"/>
          </p:cNvPicPr>
          <p:nvPr/>
        </p:nvPicPr>
        <p:blipFill>
          <a:blip r:embed="rId11"/>
          <a:stretch>
            <a:fillRect/>
          </a:stretch>
        </p:blipFill>
        <p:spPr>
          <a:xfrm>
            <a:off x="6100572" y="4841748"/>
            <a:ext cx="192024" cy="192024"/>
          </a:xfrm>
          <a:prstGeom prst="rect">
            <a:avLst/>
          </a:prstGeom>
        </p:spPr>
      </p:pic>
      <p:sp>
        <p:nvSpPr>
          <p:cNvPr id="47" name="Text 36"/>
          <p:cNvSpPr txBox="1"/>
          <p:nvPr/>
        </p:nvSpPr>
        <p:spPr>
          <a:xfrm>
            <a:off x="6525768" y="4745736"/>
            <a:ext cx="1639824" cy="384048"/>
          </a:xfrm>
          <a:prstGeom prst="rect">
            <a:avLst/>
          </a:prstGeom>
          <a:noFill/>
          <a:ln/>
        </p:spPr>
        <p:txBody>
          <a:bodyPr wrap="square" lIns="0" tIns="0" rIns="0" bIns="0" rtlCol="0" anchor="ctr"/>
          <a:lstStyle/>
          <a:p>
            <a:pPr indent="0" marL="0">
              <a:buNone/>
            </a:pPr>
            <a:r>
              <a:rPr lang="en-US" sz="1400" b="1" dirty="0">
                <a:solidFill>
                  <a:schemeClr val="tx2"/>
                </a:solidFill>
              </a:rPr>
              <a:t>Documentazione</a:t>
            </a:r>
            <a:endParaRPr lang="en-US" sz="1400" dirty="0"/>
          </a:p>
        </p:txBody>
      </p:sp>
      <p:sp>
        <p:nvSpPr>
          <p:cNvPr id="48" name="Text 37"/>
          <p:cNvSpPr txBox="1"/>
          <p:nvPr/>
        </p:nvSpPr>
        <p:spPr>
          <a:xfrm>
            <a:off x="6022848" y="5184648"/>
            <a:ext cx="2133600" cy="841248"/>
          </a:xfrm>
          <a:prstGeom prst="rect">
            <a:avLst/>
          </a:prstGeom>
          <a:noFill/>
          <a:ln/>
        </p:spPr>
        <p:txBody>
          <a:bodyPr wrap="square" lIns="0" tIns="0" rIns="0" bIns="0" rtlCol="0" anchor="t"/>
          <a:lstStyle/>
          <a:p>
            <a:pPr indent="0" marL="0">
              <a:buNone/>
            </a:pPr>
            <a:r>
              <a:rPr lang="en-US" sz="1200" dirty="0">
                <a:solidFill>
                  <a:schemeClr val="tx1"/>
                </a:solidFill>
              </a:rPr>
              <a:t>4 manuali, Istruzioni di ripristino e questa presentazione, sempre aggiornati; codice commentato</a:t>
            </a:r>
            <a:endParaRPr lang="en-US" sz="1200" dirty="0"/>
          </a:p>
        </p:txBody>
      </p:sp>
      <p:sp>
        <p:nvSpPr>
          <p:cNvPr id="49" name="Numero script del database"/>
          <p:cNvSpPr/>
          <p:nvPr/>
        </p:nvSpPr>
        <p:spPr>
          <a:xfrm>
            <a:off x="8641080" y="1325880"/>
            <a:ext cx="2971800" cy="1051560"/>
          </a:xfrm>
          <a:prstGeom prst="roundRect">
            <a:avLst>
              <a:gd name="adj" fmla="val 10435"/>
            </a:avLst>
          </a:prstGeom>
          <a:solidFill>
            <a:schemeClr val="tx2"/>
          </a:solidFill>
          <a:ln w="12700">
            <a:solidFill>
              <a:schemeClr val="tx2"/>
            </a:solidFill>
            <a:prstDash val="solid"/>
          </a:ln>
        </p:spPr>
      </p:sp>
      <p:sp>
        <p:nvSpPr>
          <p:cNvPr id="50" name="Text 39"/>
          <p:cNvSpPr txBox="1"/>
          <p:nvPr/>
        </p:nvSpPr>
        <p:spPr>
          <a:xfrm>
            <a:off x="8823960" y="1399032"/>
            <a:ext cx="2606040" cy="548640"/>
          </a:xfrm>
          <a:prstGeom prst="rect">
            <a:avLst/>
          </a:prstGeom>
          <a:noFill/>
          <a:ln/>
        </p:spPr>
        <p:txBody>
          <a:bodyPr wrap="square" lIns="0" tIns="0" rIns="0" bIns="0" rtlCol="0" anchor="ctr"/>
          <a:lstStyle/>
          <a:p>
            <a:pPr indent="0" marL="0">
              <a:buNone/>
            </a:pPr>
            <a:r>
              <a:rPr lang="en-US" sz="3000" b="1" dirty="0">
                <a:solidFill>
                  <a:schemeClr val="bg1"/>
                </a:solidFill>
                <a:latin typeface="Cambria" pitchFamily="34" charset="0"/>
                <a:ea typeface="Cambria" pitchFamily="34" charset="-122"/>
                <a:cs typeface="Cambria" pitchFamily="34" charset="-120"/>
              </a:rPr>
              <a:t>43</a:t>
            </a:r>
            <a:endParaRPr lang="en-US" sz="3000" dirty="0"/>
          </a:p>
        </p:txBody>
      </p:sp>
      <p:sp>
        <p:nvSpPr>
          <p:cNvPr id="51" name="Text 40"/>
          <p:cNvSpPr txBox="1"/>
          <p:nvPr/>
        </p:nvSpPr>
        <p:spPr>
          <a:xfrm>
            <a:off x="8823960" y="1947672"/>
            <a:ext cx="2606040" cy="347472"/>
          </a:xfrm>
          <a:prstGeom prst="rect">
            <a:avLst/>
          </a:prstGeom>
          <a:noFill/>
          <a:ln/>
        </p:spPr>
        <p:txBody>
          <a:bodyPr wrap="square" lIns="0" tIns="0" rIns="0" bIns="0" rtlCol="0" anchor="ctr"/>
          <a:lstStyle/>
          <a:p>
            <a:pPr indent="0" marL="0">
              <a:buNone/>
            </a:pPr>
            <a:r>
              <a:rPr lang="en-US" sz="1300" dirty="0">
                <a:solidFill>
                  <a:schemeClr val="bg1"/>
                </a:solidFill>
              </a:rPr>
              <a:t>script del database</a:t>
            </a:r>
            <a:endParaRPr lang="en-US" sz="1300" dirty="0"/>
          </a:p>
        </p:txBody>
      </p:sp>
      <p:sp>
        <p:nvSpPr>
          <p:cNvPr id="52" name="Numero funzioni sul server"/>
          <p:cNvSpPr/>
          <p:nvPr/>
        </p:nvSpPr>
        <p:spPr>
          <a:xfrm>
            <a:off x="8641080" y="2542032"/>
            <a:ext cx="2971800" cy="1051560"/>
          </a:xfrm>
          <a:prstGeom prst="roundRect">
            <a:avLst>
              <a:gd name="adj" fmla="val 10435"/>
            </a:avLst>
          </a:prstGeom>
          <a:solidFill>
            <a:schemeClr val="accent3"/>
          </a:solidFill>
          <a:ln w="12700">
            <a:solidFill>
              <a:schemeClr val="accent3"/>
            </a:solidFill>
            <a:prstDash val="solid"/>
          </a:ln>
        </p:spPr>
      </p:sp>
      <p:sp>
        <p:nvSpPr>
          <p:cNvPr id="53" name="Text 42"/>
          <p:cNvSpPr txBox="1"/>
          <p:nvPr/>
        </p:nvSpPr>
        <p:spPr>
          <a:xfrm>
            <a:off x="8823960" y="2615184"/>
            <a:ext cx="2606040" cy="5486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7</a:t>
            </a:r>
            <a:endParaRPr lang="en-US" sz="3000" dirty="0"/>
          </a:p>
        </p:txBody>
      </p:sp>
      <p:sp>
        <p:nvSpPr>
          <p:cNvPr id="54" name="Text 43"/>
          <p:cNvSpPr txBox="1"/>
          <p:nvPr/>
        </p:nvSpPr>
        <p:spPr>
          <a:xfrm>
            <a:off x="8823960" y="3163824"/>
            <a:ext cx="2606040" cy="347472"/>
          </a:xfrm>
          <a:prstGeom prst="rect">
            <a:avLst/>
          </a:prstGeom>
          <a:noFill/>
          <a:ln/>
        </p:spPr>
        <p:txBody>
          <a:bodyPr wrap="square" lIns="0" tIns="0" rIns="0" bIns="0" rtlCol="0" anchor="ctr"/>
          <a:lstStyle/>
          <a:p>
            <a:pPr indent="0" marL="0">
              <a:buNone/>
            </a:pPr>
            <a:r>
              <a:rPr lang="en-US" sz="1300" dirty="0">
                <a:solidFill>
                  <a:schemeClr val="tx1"/>
                </a:solidFill>
              </a:rPr>
              <a:t>funzioni sul server</a:t>
            </a:r>
            <a:endParaRPr lang="en-US" sz="1300" dirty="0"/>
          </a:p>
        </p:txBody>
      </p:sp>
      <p:sp>
        <p:nvSpPr>
          <p:cNvPr id="55" name="Numero documenti aggiornati a ogni rilascio"/>
          <p:cNvSpPr/>
          <p:nvPr/>
        </p:nvSpPr>
        <p:spPr>
          <a:xfrm>
            <a:off x="8641080" y="3758184"/>
            <a:ext cx="2971800" cy="1051560"/>
          </a:xfrm>
          <a:prstGeom prst="roundRect">
            <a:avLst>
              <a:gd name="adj" fmla="val 10435"/>
            </a:avLst>
          </a:prstGeom>
          <a:solidFill>
            <a:schemeClr val="accent3"/>
          </a:solidFill>
          <a:ln w="12700">
            <a:solidFill>
              <a:schemeClr val="accent3"/>
            </a:solidFill>
            <a:prstDash val="solid"/>
          </a:ln>
        </p:spPr>
      </p:sp>
      <p:sp>
        <p:nvSpPr>
          <p:cNvPr id="56" name="Text 45"/>
          <p:cNvSpPr txBox="1"/>
          <p:nvPr/>
        </p:nvSpPr>
        <p:spPr>
          <a:xfrm>
            <a:off x="8823960" y="3831336"/>
            <a:ext cx="2606040" cy="5486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6</a:t>
            </a:r>
            <a:endParaRPr lang="en-US" sz="3000" dirty="0"/>
          </a:p>
        </p:txBody>
      </p:sp>
      <p:sp>
        <p:nvSpPr>
          <p:cNvPr id="57" name="Text 46"/>
          <p:cNvSpPr txBox="1"/>
          <p:nvPr/>
        </p:nvSpPr>
        <p:spPr>
          <a:xfrm>
            <a:off x="8823960" y="4379976"/>
            <a:ext cx="2606040" cy="347472"/>
          </a:xfrm>
          <a:prstGeom prst="rect">
            <a:avLst/>
          </a:prstGeom>
          <a:noFill/>
          <a:ln/>
        </p:spPr>
        <p:txBody>
          <a:bodyPr wrap="square" lIns="0" tIns="0" rIns="0" bIns="0" rtlCol="0" anchor="ctr"/>
          <a:lstStyle/>
          <a:p>
            <a:pPr indent="0" marL="0">
              <a:buNone/>
            </a:pPr>
            <a:r>
              <a:rPr lang="en-US" sz="1300" dirty="0">
                <a:solidFill>
                  <a:schemeClr val="tx1"/>
                </a:solidFill>
              </a:rPr>
              <a:t>documenti aggiornati a ogni rilascio</a:t>
            </a:r>
            <a:endParaRPr lang="en-US" sz="1300" dirty="0"/>
          </a:p>
        </p:txBody>
      </p:sp>
      <p:sp>
        <p:nvSpPr>
          <p:cNvPr id="58" name="Numero righe di codice commentate"/>
          <p:cNvSpPr/>
          <p:nvPr/>
        </p:nvSpPr>
        <p:spPr>
          <a:xfrm>
            <a:off x="8641080" y="4974336"/>
            <a:ext cx="2971800" cy="1051560"/>
          </a:xfrm>
          <a:prstGeom prst="roundRect">
            <a:avLst>
              <a:gd name="adj" fmla="val 10435"/>
            </a:avLst>
          </a:prstGeom>
          <a:solidFill>
            <a:schemeClr val="accent3"/>
          </a:solidFill>
          <a:ln w="12700">
            <a:solidFill>
              <a:schemeClr val="accent3"/>
            </a:solidFill>
            <a:prstDash val="solid"/>
          </a:ln>
        </p:spPr>
      </p:sp>
      <p:sp>
        <p:nvSpPr>
          <p:cNvPr id="59" name="Text 48"/>
          <p:cNvSpPr txBox="1"/>
          <p:nvPr/>
        </p:nvSpPr>
        <p:spPr>
          <a:xfrm>
            <a:off x="8823960" y="5047488"/>
            <a:ext cx="2606040" cy="5486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≈40.400</a:t>
            </a:r>
            <a:endParaRPr lang="en-US" sz="3000" dirty="0"/>
          </a:p>
        </p:txBody>
      </p:sp>
      <p:sp>
        <p:nvSpPr>
          <p:cNvPr id="60" name="Text 49"/>
          <p:cNvSpPr txBox="1"/>
          <p:nvPr/>
        </p:nvSpPr>
        <p:spPr>
          <a:xfrm>
            <a:off x="8823960" y="5596128"/>
            <a:ext cx="2606040" cy="347472"/>
          </a:xfrm>
          <a:prstGeom prst="rect">
            <a:avLst/>
          </a:prstGeom>
          <a:noFill/>
          <a:ln/>
        </p:spPr>
        <p:txBody>
          <a:bodyPr wrap="square" lIns="0" tIns="0" rIns="0" bIns="0" rtlCol="0" anchor="ctr"/>
          <a:lstStyle/>
          <a:p>
            <a:pPr indent="0" marL="0">
              <a:buNone/>
            </a:pPr>
            <a:r>
              <a:rPr lang="en-US" sz="1300" dirty="0">
                <a:solidFill>
                  <a:schemeClr val="tx1"/>
                </a:solidFill>
              </a:rPr>
              <a:t>righe di codice commentate</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F5D3A"/>
        </a:solidFill>
      </p:bgPr>
    </p:bg>
    <p:spTree>
      <p:nvGrpSpPr>
        <p:cNvPr id="1" name=""/>
        <p:cNvGrpSpPr/>
        <p:nvPr/>
      </p:nvGrpSpPr>
      <p:grpSpPr>
        <a:xfrm>
          <a:off x="0" y="0"/>
          <a:ext cx="0" cy="0"/>
          <a:chOff x="0" y="0"/>
          <a:chExt cx="0" cy="0"/>
        </a:xfrm>
      </p:grpSpPr>
      <p:sp>
        <p:nvSpPr>
          <p:cNvPr id="2" name="Decoro cerchio grande"/>
          <p:cNvSpPr/>
          <p:nvPr/>
        </p:nvSpPr>
        <p:spPr>
          <a:xfrm>
            <a:off x="8778240" y="-2011680"/>
            <a:ext cx="5120640" cy="5120640"/>
          </a:xfrm>
          <a:prstGeom prst="ellipse">
            <a:avLst/>
          </a:prstGeom>
          <a:solidFill>
            <a:srgbClr val="FFFFFF">
              <a:alpha val="8000"/>
            </a:srgbClr>
          </a:solidFill>
          <a:ln w="12700">
            <a:solidFill>
              <a:srgbClr val="FFFFFF">
                <a:alpha val="0"/>
              </a:srgbClr>
            </a:solidFill>
            <a:prstDash val="solid"/>
          </a:ln>
        </p:spPr>
      </p:sp>
      <p:sp>
        <p:nvSpPr>
          <p:cNvPr id="3" name="Decoro cerchio piccolo"/>
          <p:cNvSpPr/>
          <p:nvPr/>
        </p:nvSpPr>
        <p:spPr>
          <a:xfrm>
            <a:off x="-1554480" y="5577840"/>
            <a:ext cx="2743200" cy="2743200"/>
          </a:xfrm>
          <a:prstGeom prst="ellipse">
            <a:avLst/>
          </a:prstGeom>
          <a:solidFill>
            <a:srgbClr val="B06A2F">
              <a:alpha val="20000"/>
            </a:srgbClr>
          </a:solidFill>
          <a:ln w="12700">
            <a:solidFill>
              <a:srgbClr val="B06A2F">
                <a:alpha val="0"/>
              </a:srgbClr>
            </a:solidFill>
            <a:prstDash val="solid"/>
          </a:ln>
        </p:spPr>
      </p:sp>
      <p:sp>
        <p:nvSpPr>
          <p:cNvPr id="4" name="Text 2"/>
          <p:cNvSpPr txBox="1"/>
          <p:nvPr/>
        </p:nvSpPr>
        <p:spPr>
          <a:xfrm>
            <a:off x="731520" y="777240"/>
            <a:ext cx="7315200" cy="365760"/>
          </a:xfrm>
          <a:prstGeom prst="rect">
            <a:avLst/>
          </a:prstGeom>
          <a:noFill/>
          <a:ln/>
        </p:spPr>
        <p:txBody>
          <a:bodyPr wrap="square" lIns="0" tIns="0" rIns="0" bIns="0" rtlCol="0" anchor="ctr"/>
          <a:lstStyle/>
          <a:p>
            <a:pPr indent="0" marL="0">
              <a:buNone/>
            </a:pPr>
            <a:r>
              <a:rPr lang="en-US" sz="1500" b="1" spc="400" kern="0" dirty="0">
                <a:solidFill>
                  <a:srgbClr val="F6E9DA"/>
                </a:solidFill>
              </a:rPr>
              <a:t>LO SVILUPPO È QUASI CONCLUSO</a:t>
            </a:r>
            <a:endParaRPr lang="en-US" sz="1500" dirty="0"/>
          </a:p>
        </p:txBody>
      </p:sp>
      <p:sp>
        <p:nvSpPr>
          <p:cNvPr id="5" name="Text 3"/>
          <p:cNvSpPr txBox="1"/>
          <p:nvPr/>
        </p:nvSpPr>
        <p:spPr>
          <a:xfrm>
            <a:off x="731520" y="1143000"/>
            <a:ext cx="7680960" cy="2103120"/>
          </a:xfrm>
          <a:prstGeom prst="rect">
            <a:avLst/>
          </a:prstGeom>
          <a:noFill/>
          <a:ln/>
        </p:spPr>
        <p:txBody>
          <a:bodyPr wrap="square" lIns="0" tIns="0" rIns="0" bIns="0" rtlCol="0" anchor="t"/>
          <a:lstStyle/>
          <a:p>
            <a:pPr indent="0" marL="0">
              <a:lnSpc>
                <a:spcPct val="95000"/>
              </a:lnSpc>
              <a:buNone/>
            </a:pPr>
            <a:r>
              <a:rPr lang="en-US" sz="6200" b="1" dirty="0">
                <a:solidFill>
                  <a:srgbClr val="FFFFFF"/>
                </a:solidFill>
                <a:latin typeface="Cambria" pitchFamily="34" charset="0"/>
                <a:ea typeface="Cambria" pitchFamily="34" charset="-122"/>
                <a:cs typeface="Cambria" pitchFamily="34" charset="-120"/>
              </a:rPr>
              <a:t>Tutto questo</a:t>
            </a:r>
            <a:endParaRPr lang="en-US" sz="6200" dirty="0"/>
          </a:p>
          <a:p>
            <a:pPr indent="0" marL="0">
              <a:lnSpc>
                <a:spcPct val="95000"/>
              </a:lnSpc>
              <a:buNone/>
            </a:pPr>
            <a:r>
              <a:rPr lang="en-US" sz="6200" b="1" dirty="0">
                <a:solidFill>
                  <a:srgbClr val="FFFFFF"/>
                </a:solidFill>
                <a:latin typeface="Cambria" pitchFamily="34" charset="0"/>
                <a:ea typeface="Cambria" pitchFamily="34" charset="-122"/>
                <a:cs typeface="Cambria" pitchFamily="34" charset="-120"/>
              </a:rPr>
              <a:t>è già realtà!</a:t>
            </a:r>
            <a:endParaRPr lang="en-US" sz="6200" dirty="0"/>
          </a:p>
        </p:txBody>
      </p:sp>
      <p:sp>
        <p:nvSpPr>
          <p:cNvPr id="6" name="Linea ocra"/>
          <p:cNvSpPr/>
          <p:nvPr/>
        </p:nvSpPr>
        <p:spPr>
          <a:xfrm>
            <a:off x="749808" y="3310128"/>
            <a:ext cx="1463040" cy="82296"/>
          </a:xfrm>
          <a:prstGeom prst="rect">
            <a:avLst/>
          </a:prstGeom>
          <a:solidFill>
            <a:srgbClr val="B06A2F"/>
          </a:solidFill>
          <a:ln w="12700">
            <a:solidFill>
              <a:srgbClr val="B06A2F"/>
            </a:solidFill>
            <a:prstDash val="solid"/>
          </a:ln>
        </p:spPr>
      </p:sp>
      <p:sp>
        <p:nvSpPr>
          <p:cNvPr id="7" name="Text 5"/>
          <p:cNvSpPr txBox="1"/>
          <p:nvPr/>
        </p:nvSpPr>
        <p:spPr>
          <a:xfrm>
            <a:off x="731520" y="3493008"/>
            <a:ext cx="7772400" cy="731520"/>
          </a:xfrm>
          <a:prstGeom prst="rect">
            <a:avLst/>
          </a:prstGeom>
          <a:noFill/>
          <a:ln/>
        </p:spPr>
        <p:txBody>
          <a:bodyPr wrap="square" lIns="0" tIns="0" rIns="0" bIns="0" rtlCol="0" anchor="t"/>
          <a:lstStyle/>
          <a:p>
            <a:pPr indent="0" marL="0">
              <a:buNone/>
            </a:pPr>
            <a:r>
              <a:rPr lang="en-US" sz="1800" dirty="0">
                <a:solidFill>
                  <a:srgbClr val="E4EDE1"/>
                </a:solidFill>
              </a:rPr>
              <a:t>Insieme a Luca Moretti e con l'ausilio di </a:t>
            </a:r>
            <a:pPr indent="0" marL="0">
              <a:buNone/>
            </a:pPr>
            <a:r>
              <a:rPr lang="en-US" sz="1800" b="1" dirty="0">
                <a:solidFill>
                  <a:srgbClr val="FFFFFF"/>
                </a:solidFill>
              </a:rPr>
              <a:t>Claude Code</a:t>
            </a:r>
            <a:pPr indent="0" marL="0">
              <a:buNone/>
            </a:pPr>
            <a:r>
              <a:rPr lang="en-US" sz="1800" dirty="0">
                <a:solidFill>
                  <a:srgbClr val="E4EDE1"/>
                </a:solidFill>
              </a:rPr>
              <a:t> abbiamo implementato e quasi terminato tutto il sistema.</a:t>
            </a:r>
            <a:endParaRPr lang="en-US" sz="1800" dirty="0"/>
          </a:p>
        </p:txBody>
      </p:sp>
      <p:sp>
        <p:nvSpPr>
          <p:cNvPr id="8" name="Text 6"/>
          <p:cNvSpPr txBox="1"/>
          <p:nvPr/>
        </p:nvSpPr>
        <p:spPr>
          <a:xfrm>
            <a:off x="731520" y="4315968"/>
            <a:ext cx="1463040" cy="347472"/>
          </a:xfrm>
          <a:prstGeom prst="rect">
            <a:avLst/>
          </a:prstGeom>
          <a:noFill/>
          <a:ln/>
        </p:spPr>
        <p:txBody>
          <a:bodyPr wrap="square" lIns="0" tIns="0" rIns="0" bIns="0" rtlCol="0" anchor="ctr"/>
          <a:lstStyle/>
          <a:p>
            <a:pPr indent="0" marL="0">
              <a:buNone/>
            </a:pPr>
            <a:r>
              <a:rPr lang="en-US" sz="1100" b="1" spc="200" kern="0" dirty="0">
                <a:solidFill>
                  <a:srgbClr val="F6E9DA"/>
                </a:solidFill>
              </a:rPr>
              <a:t>IN PRODUZIONE</a:t>
            </a:r>
            <a:endParaRPr lang="en-US" sz="1100" dirty="0"/>
          </a:p>
        </p:txBody>
      </p:sp>
      <p:sp>
        <p:nvSpPr>
          <p:cNvPr id="9" name="Servizio GitHub"/>
          <p:cNvSpPr/>
          <p:nvPr/>
        </p:nvSpPr>
        <p:spPr>
          <a:xfrm>
            <a:off x="2194560" y="4315968"/>
            <a:ext cx="1261872" cy="347472"/>
          </a:xfrm>
          <a:prstGeom prst="roundRect">
            <a:avLst>
              <a:gd name="adj" fmla="val 50000"/>
            </a:avLst>
          </a:prstGeom>
          <a:solidFill>
            <a:srgbClr val="FFFFFF">
              <a:alpha val="15000"/>
            </a:srgbClr>
          </a:solidFill>
          <a:ln w="9525">
            <a:solidFill>
              <a:srgbClr val="E4EDE1"/>
            </a:solidFill>
            <a:prstDash val="solid"/>
          </a:ln>
        </p:spPr>
      </p:sp>
      <p:sp>
        <p:nvSpPr>
          <p:cNvPr id="10" name="Text 8"/>
          <p:cNvSpPr txBox="1"/>
          <p:nvPr/>
        </p:nvSpPr>
        <p:spPr>
          <a:xfrm>
            <a:off x="2194560" y="4315968"/>
            <a:ext cx="1261872" cy="347472"/>
          </a:xfrm>
          <a:prstGeom prst="rect">
            <a:avLst/>
          </a:prstGeom>
          <a:noFill/>
          <a:ln/>
        </p:spPr>
        <p:txBody>
          <a:bodyPr wrap="square" lIns="0" tIns="0" rIns="0" bIns="0" rtlCol="0" anchor="ctr"/>
          <a:lstStyle/>
          <a:p>
            <a:pPr algn="ctr" indent="0" marL="0">
              <a:buNone/>
            </a:pPr>
            <a:r>
              <a:rPr lang="en-US" sz="1300" b="1" dirty="0">
                <a:solidFill>
                  <a:srgbClr val="FFFFFF"/>
                </a:solidFill>
              </a:rPr>
              <a:t>GitHub</a:t>
            </a:r>
            <a:endParaRPr lang="en-US" sz="1300" dirty="0"/>
          </a:p>
        </p:txBody>
      </p:sp>
      <p:sp>
        <p:nvSpPr>
          <p:cNvPr id="11" name="Servizio Supabase"/>
          <p:cNvSpPr/>
          <p:nvPr/>
        </p:nvSpPr>
        <p:spPr>
          <a:xfrm>
            <a:off x="3566160" y="4315968"/>
            <a:ext cx="1261872" cy="347472"/>
          </a:xfrm>
          <a:prstGeom prst="roundRect">
            <a:avLst>
              <a:gd name="adj" fmla="val 50000"/>
            </a:avLst>
          </a:prstGeom>
          <a:solidFill>
            <a:srgbClr val="FFFFFF">
              <a:alpha val="15000"/>
            </a:srgbClr>
          </a:solidFill>
          <a:ln w="9525">
            <a:solidFill>
              <a:srgbClr val="E4EDE1"/>
            </a:solidFill>
            <a:prstDash val="solid"/>
          </a:ln>
        </p:spPr>
      </p:sp>
      <p:sp>
        <p:nvSpPr>
          <p:cNvPr id="12" name="Text 10"/>
          <p:cNvSpPr txBox="1"/>
          <p:nvPr/>
        </p:nvSpPr>
        <p:spPr>
          <a:xfrm>
            <a:off x="3566160" y="4315968"/>
            <a:ext cx="1261872" cy="347472"/>
          </a:xfrm>
          <a:prstGeom prst="rect">
            <a:avLst/>
          </a:prstGeom>
          <a:noFill/>
          <a:ln/>
        </p:spPr>
        <p:txBody>
          <a:bodyPr wrap="square" lIns="0" tIns="0" rIns="0" bIns="0" rtlCol="0" anchor="ctr"/>
          <a:lstStyle/>
          <a:p>
            <a:pPr algn="ctr" indent="0" marL="0">
              <a:buNone/>
            </a:pPr>
            <a:r>
              <a:rPr lang="en-US" sz="1300" b="1" dirty="0">
                <a:solidFill>
                  <a:srgbClr val="FFFFFF"/>
                </a:solidFill>
              </a:rPr>
              <a:t>Supabase</a:t>
            </a:r>
            <a:endParaRPr lang="en-US" sz="1300" dirty="0"/>
          </a:p>
        </p:txBody>
      </p:sp>
      <p:sp>
        <p:nvSpPr>
          <p:cNvPr id="13" name="Servizio Vercel"/>
          <p:cNvSpPr/>
          <p:nvPr/>
        </p:nvSpPr>
        <p:spPr>
          <a:xfrm>
            <a:off x="4937760" y="4315968"/>
            <a:ext cx="1261872" cy="347472"/>
          </a:xfrm>
          <a:prstGeom prst="roundRect">
            <a:avLst>
              <a:gd name="adj" fmla="val 50000"/>
            </a:avLst>
          </a:prstGeom>
          <a:solidFill>
            <a:srgbClr val="FFFFFF">
              <a:alpha val="15000"/>
            </a:srgbClr>
          </a:solidFill>
          <a:ln w="9525">
            <a:solidFill>
              <a:srgbClr val="E4EDE1"/>
            </a:solidFill>
            <a:prstDash val="solid"/>
          </a:ln>
        </p:spPr>
      </p:sp>
      <p:sp>
        <p:nvSpPr>
          <p:cNvPr id="14" name="Text 12"/>
          <p:cNvSpPr txBox="1"/>
          <p:nvPr/>
        </p:nvSpPr>
        <p:spPr>
          <a:xfrm>
            <a:off x="4937760" y="4315968"/>
            <a:ext cx="1261872" cy="347472"/>
          </a:xfrm>
          <a:prstGeom prst="rect">
            <a:avLst/>
          </a:prstGeom>
          <a:noFill/>
          <a:ln/>
        </p:spPr>
        <p:txBody>
          <a:bodyPr wrap="square" lIns="0" tIns="0" rIns="0" bIns="0" rtlCol="0" anchor="ctr"/>
          <a:lstStyle/>
          <a:p>
            <a:pPr algn="ctr" indent="0" marL="0">
              <a:buNone/>
            </a:pPr>
            <a:r>
              <a:rPr lang="en-US" sz="1300" b="1" dirty="0">
                <a:solidFill>
                  <a:srgbClr val="FFFFFF"/>
                </a:solidFill>
              </a:rPr>
              <a:t>Vercel</a:t>
            </a:r>
            <a:endParaRPr lang="en-US" sz="1300" dirty="0"/>
          </a:p>
        </p:txBody>
      </p:sp>
      <p:sp>
        <p:nvSpPr>
          <p:cNvPr id="15" name="Servizio Resend"/>
          <p:cNvSpPr/>
          <p:nvPr/>
        </p:nvSpPr>
        <p:spPr>
          <a:xfrm>
            <a:off x="6309360" y="4315968"/>
            <a:ext cx="1261872" cy="347472"/>
          </a:xfrm>
          <a:prstGeom prst="roundRect">
            <a:avLst>
              <a:gd name="adj" fmla="val 50000"/>
            </a:avLst>
          </a:prstGeom>
          <a:solidFill>
            <a:srgbClr val="FFFFFF">
              <a:alpha val="15000"/>
            </a:srgbClr>
          </a:solidFill>
          <a:ln w="9525">
            <a:solidFill>
              <a:srgbClr val="E4EDE1"/>
            </a:solidFill>
            <a:prstDash val="solid"/>
          </a:ln>
        </p:spPr>
      </p:sp>
      <p:sp>
        <p:nvSpPr>
          <p:cNvPr id="16" name="Text 14"/>
          <p:cNvSpPr txBox="1"/>
          <p:nvPr/>
        </p:nvSpPr>
        <p:spPr>
          <a:xfrm>
            <a:off x="6309360" y="4315968"/>
            <a:ext cx="1261872" cy="347472"/>
          </a:xfrm>
          <a:prstGeom prst="rect">
            <a:avLst/>
          </a:prstGeom>
          <a:noFill/>
          <a:ln/>
        </p:spPr>
        <p:txBody>
          <a:bodyPr wrap="square" lIns="0" tIns="0" rIns="0" bIns="0" rtlCol="0" anchor="ctr"/>
          <a:lstStyle/>
          <a:p>
            <a:pPr algn="ctr" indent="0" marL="0">
              <a:buNone/>
            </a:pPr>
            <a:r>
              <a:rPr lang="en-US" sz="1300" b="1" dirty="0">
                <a:solidFill>
                  <a:srgbClr val="FFFFFF"/>
                </a:solidFill>
              </a:rPr>
              <a:t>Resend</a:t>
            </a:r>
            <a:endParaRPr lang="en-US" sz="1300" dirty="0"/>
          </a:p>
        </p:txBody>
      </p:sp>
      <p:sp>
        <p:nvSpPr>
          <p:cNvPr id="17" name="Text 15"/>
          <p:cNvSpPr txBox="1"/>
          <p:nvPr/>
        </p:nvSpPr>
        <p:spPr>
          <a:xfrm>
            <a:off x="731520" y="4773168"/>
            <a:ext cx="7680960" cy="594360"/>
          </a:xfrm>
          <a:prstGeom prst="rect">
            <a:avLst/>
          </a:prstGeom>
          <a:noFill/>
          <a:ln/>
        </p:spPr>
        <p:txBody>
          <a:bodyPr wrap="square" lIns="0" tIns="0" rIns="0" bIns="0" rtlCol="0" anchor="ctr"/>
          <a:lstStyle/>
          <a:p>
            <a:pPr indent="0" marL="0">
              <a:buNone/>
            </a:pPr>
            <a:r>
              <a:rPr lang="en-US" sz="3400" b="1" u="sng" dirty="0">
                <a:solidFill>
                  <a:srgbClr val="F6E9DA"/>
                </a:solidFill>
                <a:latin typeface="Cambria" pitchFamily="34" charset="0"/>
                <a:ea typeface="Cambria" pitchFamily="34" charset="-122"/>
                <a:cs typeface="Cambria" pitchFamily="34" charset="-120"/>
                <a:hlinkClick r:id="rId1" invalidUrl="" action="" tgtFrame="" tooltip="Apri il portale" history="1" highlightClick="0" endSnd="0">
                  <a:extLst>
                    <a:ext uri="{A12FA001-AC4F-418D-AE19-62706E023703}">
                      <ahyp:hlinkClr xmlns:ahyp="http://schemas.microsoft.com/office/drawing/2018/hyperlinkcolor" val="tx"/>
                    </a:ext>
                  </a:extLst>
                </a:hlinkClick>
              </a:rPr>
              <a:t>portale-cwp.vercel.app</a:t>
            </a:r>
            <a:endParaRPr lang="en-US" sz="3400" dirty="0"/>
          </a:p>
        </p:txBody>
      </p:sp>
      <p:sp>
        <p:nvSpPr>
          <p:cNvPr id="18" name="Text 16"/>
          <p:cNvSpPr txBox="1"/>
          <p:nvPr/>
        </p:nvSpPr>
        <p:spPr>
          <a:xfrm>
            <a:off x="731520" y="5358384"/>
            <a:ext cx="7680960" cy="329184"/>
          </a:xfrm>
          <a:prstGeom prst="rect">
            <a:avLst/>
          </a:prstGeom>
          <a:noFill/>
          <a:ln/>
        </p:spPr>
        <p:txBody>
          <a:bodyPr wrap="square" lIns="0" tIns="0" rIns="0" bIns="0" rtlCol="0" anchor="ctr"/>
          <a:lstStyle/>
          <a:p>
            <a:pPr indent="0" marL="0">
              <a:buNone/>
            </a:pPr>
            <a:r>
              <a:rPr lang="en-US" sz="1400" dirty="0">
                <a:solidFill>
                  <a:srgbClr val="E4EDE1"/>
                </a:solidFill>
              </a:rPr>
              <a:t>Pagina pubblica del Programma: </a:t>
            </a:r>
            <a:pPr indent="0" marL="0">
              <a:buNone/>
            </a:pPr>
            <a:r>
              <a:rPr lang="en-US" sz="1400" b="1" u="sng" dirty="0">
                <a:solidFill>
                  <a:srgbClr val="E4EDE1"/>
                </a:solidFill>
                <a:hlinkClick r:id="rId2" invalidUrl="" action="" tgtFrame="" tooltip="Apri la pagina pubblica" history="1" highlightClick="0" endSnd="0">
                  <a:extLst>
                    <a:ext uri="{A12FA001-AC4F-418D-AE19-62706E023703}">
                      <ahyp:hlinkClr xmlns:ahyp="http://schemas.microsoft.com/office/drawing/2018/hyperlinkcolor" val="tx"/>
                    </a:ext>
                  </a:extLst>
                </a:hlinkClick>
              </a:rPr>
              <a:t>portale-cwp.vercel.app/programma</a:t>
            </a:r>
            <a:endParaRPr lang="en-US" sz="1400" dirty="0"/>
          </a:p>
        </p:txBody>
      </p:sp>
      <p:sp>
        <p:nvSpPr>
          <p:cNvPr id="19" name="Text 17"/>
          <p:cNvSpPr txBox="1"/>
          <p:nvPr/>
        </p:nvSpPr>
        <p:spPr>
          <a:xfrm>
            <a:off x="731520" y="5852160"/>
            <a:ext cx="1783080" cy="731520"/>
          </a:xfrm>
          <a:prstGeom prst="rect">
            <a:avLst/>
          </a:prstGeom>
          <a:noFill/>
          <a:ln/>
        </p:spPr>
        <p:txBody>
          <a:bodyPr wrap="square" lIns="0" tIns="0" rIns="0" bIns="0" rtlCol="0" anchor="t"/>
          <a:lstStyle/>
          <a:p>
            <a:pPr indent="0" marL="0">
              <a:buNone/>
            </a:pPr>
            <a:r>
              <a:rPr lang="en-US" sz="2400" b="1" dirty="0">
                <a:solidFill>
                  <a:srgbClr val="FFFFFF"/>
                </a:solidFill>
                <a:latin typeface="Cambria" pitchFamily="34" charset="0"/>
                <a:ea typeface="Cambria" pitchFamily="34" charset="-122"/>
                <a:cs typeface="Cambria" pitchFamily="34" charset="-120"/>
              </a:rPr>
              <a:t>177</a:t>
            </a:r>
            <a:endParaRPr lang="en-US" sz="2400" dirty="0"/>
          </a:p>
          <a:p>
            <a:pPr indent="0" marL="0">
              <a:buNone/>
            </a:pPr>
            <a:r>
              <a:rPr lang="en-US" sz="1150" dirty="0">
                <a:solidFill>
                  <a:srgbClr val="E4EDE1"/>
                </a:solidFill>
              </a:rPr>
              <a:t>versioni pubblicate</a:t>
            </a:r>
            <a:endParaRPr lang="en-US" sz="2400" dirty="0"/>
          </a:p>
        </p:txBody>
      </p:sp>
      <p:sp>
        <p:nvSpPr>
          <p:cNvPr id="20" name="Text 18"/>
          <p:cNvSpPr txBox="1"/>
          <p:nvPr/>
        </p:nvSpPr>
        <p:spPr>
          <a:xfrm>
            <a:off x="2651760" y="5852160"/>
            <a:ext cx="1783080" cy="731520"/>
          </a:xfrm>
          <a:prstGeom prst="rect">
            <a:avLst/>
          </a:prstGeom>
          <a:noFill/>
          <a:ln/>
        </p:spPr>
        <p:txBody>
          <a:bodyPr wrap="square" lIns="0" tIns="0" rIns="0" bIns="0" rtlCol="0" anchor="t"/>
          <a:lstStyle/>
          <a:p>
            <a:pPr indent="0" marL="0">
              <a:buNone/>
            </a:pPr>
            <a:r>
              <a:rPr lang="en-US" sz="2400" b="1" dirty="0">
                <a:solidFill>
                  <a:srgbClr val="FFFFFF"/>
                </a:solidFill>
                <a:latin typeface="Cambria" pitchFamily="34" charset="0"/>
                <a:ea typeface="Cambria" pitchFamily="34" charset="-122"/>
                <a:cs typeface="Cambria" pitchFamily="34" charset="-120"/>
              </a:rPr>
              <a:t>43</a:t>
            </a:r>
            <a:endParaRPr lang="en-US" sz="2400" dirty="0"/>
          </a:p>
          <a:p>
            <a:pPr indent="0" marL="0">
              <a:buNone/>
            </a:pPr>
            <a:r>
              <a:rPr lang="en-US" sz="1150" dirty="0">
                <a:solidFill>
                  <a:srgbClr val="E4EDE1"/>
                </a:solidFill>
              </a:rPr>
              <a:t>script del database</a:t>
            </a:r>
            <a:endParaRPr lang="en-US" sz="2400" dirty="0"/>
          </a:p>
        </p:txBody>
      </p:sp>
      <p:sp>
        <p:nvSpPr>
          <p:cNvPr id="21" name="Text 19"/>
          <p:cNvSpPr txBox="1"/>
          <p:nvPr/>
        </p:nvSpPr>
        <p:spPr>
          <a:xfrm>
            <a:off x="4572000" y="5852160"/>
            <a:ext cx="1783080" cy="731520"/>
          </a:xfrm>
          <a:prstGeom prst="rect">
            <a:avLst/>
          </a:prstGeom>
          <a:noFill/>
          <a:ln/>
        </p:spPr>
        <p:txBody>
          <a:bodyPr wrap="square" lIns="0" tIns="0" rIns="0" bIns="0" rtlCol="0" anchor="t"/>
          <a:lstStyle/>
          <a:p>
            <a:pPr indent="0" marL="0">
              <a:buNone/>
            </a:pPr>
            <a:r>
              <a:rPr lang="en-US" sz="2400" b="1" dirty="0">
                <a:solidFill>
                  <a:srgbClr val="FFFFFF"/>
                </a:solidFill>
                <a:latin typeface="Cambria" pitchFamily="34" charset="0"/>
                <a:ea typeface="Cambria" pitchFamily="34" charset="-122"/>
                <a:cs typeface="Cambria" pitchFamily="34" charset="-120"/>
              </a:rPr>
              <a:t>7</a:t>
            </a:r>
            <a:endParaRPr lang="en-US" sz="2400" dirty="0"/>
          </a:p>
          <a:p>
            <a:pPr indent="0" marL="0">
              <a:buNone/>
            </a:pPr>
            <a:r>
              <a:rPr lang="en-US" sz="1150" dirty="0">
                <a:solidFill>
                  <a:srgbClr val="E4EDE1"/>
                </a:solidFill>
              </a:rPr>
              <a:t>funzioni sul server</a:t>
            </a:r>
            <a:endParaRPr lang="en-US" sz="2400" dirty="0"/>
          </a:p>
        </p:txBody>
      </p:sp>
      <p:sp>
        <p:nvSpPr>
          <p:cNvPr id="22" name="Text 20"/>
          <p:cNvSpPr txBox="1"/>
          <p:nvPr/>
        </p:nvSpPr>
        <p:spPr>
          <a:xfrm>
            <a:off x="6492240" y="5852160"/>
            <a:ext cx="1783080" cy="731520"/>
          </a:xfrm>
          <a:prstGeom prst="rect">
            <a:avLst/>
          </a:prstGeom>
          <a:noFill/>
          <a:ln/>
        </p:spPr>
        <p:txBody>
          <a:bodyPr wrap="square" lIns="0" tIns="0" rIns="0" bIns="0" rtlCol="0" anchor="t"/>
          <a:lstStyle/>
          <a:p>
            <a:pPr indent="0" marL="0">
              <a:buNone/>
            </a:pPr>
            <a:r>
              <a:rPr lang="en-US" sz="2400" b="1" dirty="0">
                <a:solidFill>
                  <a:srgbClr val="FFFFFF"/>
                </a:solidFill>
                <a:latin typeface="Cambria" pitchFamily="34" charset="0"/>
                <a:ea typeface="Cambria" pitchFamily="34" charset="-122"/>
                <a:cs typeface="Cambria" pitchFamily="34" charset="-120"/>
              </a:rPr>
              <a:t>≈40.400</a:t>
            </a:r>
            <a:endParaRPr lang="en-US" sz="2400" dirty="0"/>
          </a:p>
          <a:p>
            <a:pPr indent="0" marL="0">
              <a:buNone/>
            </a:pPr>
            <a:r>
              <a:rPr lang="en-US" sz="1150" dirty="0">
                <a:solidFill>
                  <a:srgbClr val="E4EDE1"/>
                </a:solidFill>
              </a:rPr>
              <a:t>righe di codice</a:t>
            </a:r>
            <a:endParaRPr lang="en-US" sz="2400" dirty="0"/>
          </a:p>
        </p:txBody>
      </p:sp>
      <p:sp>
        <p:nvSpPr>
          <p:cNvPr id="23" name="Riquadro loghi"/>
          <p:cNvSpPr/>
          <p:nvPr/>
        </p:nvSpPr>
        <p:spPr>
          <a:xfrm>
            <a:off x="9692640" y="274320"/>
            <a:ext cx="1965960" cy="658368"/>
          </a:xfrm>
          <a:prstGeom prst="roundRect">
            <a:avLst>
              <a:gd name="adj" fmla="val 16667"/>
            </a:avLst>
          </a:prstGeom>
          <a:solidFill>
            <a:srgbClr val="FFFFFF"/>
          </a:solidFill>
          <a:ln w="12700">
            <a:solidFill>
              <a:srgbClr val="FFFFFF"/>
            </a:solidFill>
            <a:prstDash val="solid"/>
          </a:ln>
        </p:spPr>
      </p:sp>
      <p:pic>
        <p:nvPicPr>
          <p:cNvPr id="24" name="Logo Carbon WastePrint" descr="/home/claude/portale-cwp/public/loghi/carbonwasteprint.png">    </p:cNvPr>
          <p:cNvPicPr>
            <a:picLocks noChangeAspect="1"/>
          </p:cNvPicPr>
          <p:nvPr/>
        </p:nvPicPr>
        <p:blipFill>
          <a:blip r:embed="rId3"/>
          <a:stretch>
            <a:fillRect/>
          </a:stretch>
        </p:blipFill>
        <p:spPr>
          <a:xfrm>
            <a:off x="9802368" y="374904"/>
            <a:ext cx="731520" cy="453542"/>
          </a:xfrm>
          <a:prstGeom prst="rect">
            <a:avLst/>
          </a:prstGeom>
        </p:spPr>
      </p:pic>
      <p:pic>
        <p:nvPicPr>
          <p:cNvPr id="25" name="Logo Fondazione Operate" descr="/home/claude/portale-cwp/public/loghi/fondazione-operate.png">    </p:cNvPr>
          <p:cNvPicPr>
            <a:picLocks noChangeAspect="1"/>
          </p:cNvPicPr>
          <p:nvPr/>
        </p:nvPicPr>
        <p:blipFill>
          <a:blip r:embed="rId4"/>
          <a:stretch>
            <a:fillRect/>
          </a:stretch>
        </p:blipFill>
        <p:spPr>
          <a:xfrm>
            <a:off x="10625328" y="438912"/>
            <a:ext cx="914400" cy="328041"/>
          </a:xfrm>
          <a:prstGeom prst="rect">
            <a:avLst/>
          </a:prstGeom>
        </p:spPr>
      </p:pic>
      <p:sp>
        <p:nvSpPr>
          <p:cNvPr id="26" name="Riquadro QR"/>
          <p:cNvSpPr/>
          <p:nvPr/>
        </p:nvSpPr>
        <p:spPr>
          <a:xfrm>
            <a:off x="8732520" y="1417320"/>
            <a:ext cx="2926080" cy="3794760"/>
          </a:xfrm>
          <a:prstGeom prst="roundRect">
            <a:avLst>
              <a:gd name="adj" fmla="val 3750"/>
            </a:avLst>
          </a:prstGeom>
          <a:solidFill>
            <a:srgbClr val="FFFFFF"/>
          </a:solidFill>
          <a:ln w="12700">
            <a:solidFill>
              <a:srgbClr val="FFFFFF"/>
            </a:solidFill>
            <a:prstDash val="solid"/>
          </a:ln>
        </p:spPr>
      </p:sp>
      <p:pic>
        <p:nvPicPr>
          <p:cNvPr id="27" name="QR portale" descr="Codice QR che apre portale-cwp.vercel.app">
            <a:hlinkClick r:id="rId6" tooltip=""/>
          </p:cNvPr>
          <p:cNvPicPr>
            <a:picLocks noChangeAspect="1"/>
          </p:cNvPicPr>
          <p:nvPr/>
        </p:nvPicPr>
        <p:blipFill>
          <a:blip r:embed="rId5"/>
          <a:stretch>
            <a:fillRect/>
          </a:stretch>
        </p:blipFill>
        <p:spPr>
          <a:xfrm>
            <a:off x="8961120" y="1645920"/>
            <a:ext cx="2468880" cy="2468880"/>
          </a:xfrm>
          <a:prstGeom prst="rect">
            <a:avLst/>
          </a:prstGeom>
        </p:spPr>
      </p:pic>
      <p:sp>
        <p:nvSpPr>
          <p:cNvPr id="28" name="Text 23"/>
          <p:cNvSpPr txBox="1"/>
          <p:nvPr/>
        </p:nvSpPr>
        <p:spPr>
          <a:xfrm>
            <a:off x="8915400" y="4206240"/>
            <a:ext cx="2560320" cy="822960"/>
          </a:xfrm>
          <a:prstGeom prst="rect">
            <a:avLst/>
          </a:prstGeom>
          <a:noFill/>
          <a:ln/>
        </p:spPr>
        <p:txBody>
          <a:bodyPr wrap="square" lIns="0" tIns="0" rIns="0" bIns="0" rtlCol="0" anchor="ctr"/>
          <a:lstStyle/>
          <a:p>
            <a:pPr algn="ctr" indent="0" marL="0">
              <a:buNone/>
            </a:pPr>
            <a:r>
              <a:rPr lang="en-US" sz="1400" b="1" dirty="0">
                <a:solidFill>
                  <a:srgbClr val="2F5D3A"/>
                </a:solidFill>
              </a:rPr>
              <a:t>Inquadrate il codice</a:t>
            </a:r>
            <a:endParaRPr lang="en-US" sz="1400" dirty="0"/>
          </a:p>
          <a:p>
            <a:pPr algn="ctr" indent="0" marL="0">
              <a:buNone/>
            </a:pPr>
            <a:r>
              <a:rPr lang="en-US" sz="1400" b="1" dirty="0">
                <a:solidFill>
                  <a:srgbClr val="2F5D3A"/>
                </a:solidFill>
              </a:rPr>
              <a:t>e provatelo dal telefono</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Architettura e infrastruttura</a:t>
            </a:r>
            <a:endParaRPr lang="en-US" sz="3000" dirty="0"/>
          </a:p>
        </p:txBody>
      </p:sp>
      <p:sp>
        <p:nvSpPr>
          <p:cNvPr id="3" name="Utenti Comuni"/>
          <p:cNvSpPr/>
          <p:nvPr/>
        </p:nvSpPr>
        <p:spPr>
          <a:xfrm>
            <a:off x="548640" y="1280160"/>
            <a:ext cx="2340864" cy="713232"/>
          </a:xfrm>
          <a:prstGeom prst="roundRect">
            <a:avLst>
              <a:gd name="adj" fmla="val 15385"/>
            </a:avLst>
          </a:prstGeom>
          <a:solidFill>
            <a:schemeClr val="accent3"/>
          </a:solidFill>
          <a:ln w="12700">
            <a:solidFill>
              <a:schemeClr val="accent3"/>
            </a:solidFill>
            <a:prstDash val="solid"/>
          </a:ln>
        </p:spPr>
      </p:sp>
      <p:sp>
        <p:nvSpPr>
          <p:cNvPr id="4" name="Text 2"/>
          <p:cNvSpPr txBox="1"/>
          <p:nvPr/>
        </p:nvSpPr>
        <p:spPr>
          <a:xfrm>
            <a:off x="685800" y="1335024"/>
            <a:ext cx="2066544" cy="603504"/>
          </a:xfrm>
          <a:prstGeom prst="rect">
            <a:avLst/>
          </a:prstGeom>
          <a:noFill/>
          <a:ln/>
        </p:spPr>
        <p:txBody>
          <a:bodyPr wrap="square" lIns="0" tIns="0" rIns="0" bIns="0" rtlCol="0" anchor="ctr"/>
          <a:lstStyle/>
          <a:p>
            <a:pPr indent="0" marL="0">
              <a:spcAft>
                <a:spcPts val="200"/>
              </a:spcAft>
              <a:buNone/>
            </a:pPr>
            <a:r>
              <a:rPr lang="en-US" sz="1400" b="1" dirty="0">
                <a:solidFill>
                  <a:schemeClr val="tx2"/>
                </a:solidFill>
              </a:rPr>
              <a:t>Comuni</a:t>
            </a:r>
            <a:endParaRPr lang="en-US" sz="1400" dirty="0"/>
          </a:p>
          <a:p>
            <a:pPr indent="0" marL="0">
              <a:spcAft>
                <a:spcPts val="200"/>
              </a:spcAft>
              <a:buNone/>
            </a:pPr>
            <a:r>
              <a:rPr lang="en-US" sz="1150" dirty="0">
                <a:solidFill>
                  <a:schemeClr val="tx1"/>
                </a:solidFill>
              </a:rPr>
              <a:t>promotori del progetto</a:t>
            </a:r>
            <a:endParaRPr lang="en-US" sz="1400" dirty="0"/>
          </a:p>
        </p:txBody>
      </p:sp>
      <p:sp>
        <p:nvSpPr>
          <p:cNvPr id="5" name="Utenti Fondazione Operate"/>
          <p:cNvSpPr/>
          <p:nvPr/>
        </p:nvSpPr>
        <p:spPr>
          <a:xfrm>
            <a:off x="3035808" y="1280160"/>
            <a:ext cx="2340864" cy="713232"/>
          </a:xfrm>
          <a:prstGeom prst="roundRect">
            <a:avLst>
              <a:gd name="adj" fmla="val 15385"/>
            </a:avLst>
          </a:prstGeom>
          <a:solidFill>
            <a:schemeClr val="accent3"/>
          </a:solidFill>
          <a:ln w="12700">
            <a:solidFill>
              <a:schemeClr val="accent3"/>
            </a:solidFill>
            <a:prstDash val="solid"/>
          </a:ln>
        </p:spPr>
      </p:sp>
      <p:sp>
        <p:nvSpPr>
          <p:cNvPr id="6" name="Text 4"/>
          <p:cNvSpPr txBox="1"/>
          <p:nvPr/>
        </p:nvSpPr>
        <p:spPr>
          <a:xfrm>
            <a:off x="3172968" y="1335024"/>
            <a:ext cx="2066544" cy="603504"/>
          </a:xfrm>
          <a:prstGeom prst="rect">
            <a:avLst/>
          </a:prstGeom>
          <a:noFill/>
          <a:ln/>
        </p:spPr>
        <p:txBody>
          <a:bodyPr wrap="square" lIns="0" tIns="0" rIns="0" bIns="0" rtlCol="0" anchor="ctr"/>
          <a:lstStyle/>
          <a:p>
            <a:pPr indent="0" marL="0">
              <a:spcAft>
                <a:spcPts val="200"/>
              </a:spcAft>
              <a:buNone/>
            </a:pPr>
            <a:r>
              <a:rPr lang="en-US" sz="1400" b="1" dirty="0">
                <a:solidFill>
                  <a:schemeClr val="tx2"/>
                </a:solidFill>
              </a:rPr>
              <a:t>Fondazione Operate</a:t>
            </a:r>
            <a:endParaRPr lang="en-US" sz="1400" dirty="0"/>
          </a:p>
          <a:p>
            <a:pPr indent="0" marL="0">
              <a:spcAft>
                <a:spcPts val="200"/>
              </a:spcAft>
              <a:buNone/>
            </a:pPr>
            <a:r>
              <a:rPr lang="en-US" sz="1150" dirty="0">
                <a:solidFill>
                  <a:schemeClr val="tx1"/>
                </a:solidFill>
              </a:rPr>
              <a:t>operatori e amministratori</a:t>
            </a:r>
            <a:endParaRPr lang="en-US" sz="1400" dirty="0"/>
          </a:p>
        </p:txBody>
      </p:sp>
      <p:sp>
        <p:nvSpPr>
          <p:cNvPr id="7" name="Utenti Pubblico e stakeholders"/>
          <p:cNvSpPr/>
          <p:nvPr/>
        </p:nvSpPr>
        <p:spPr>
          <a:xfrm>
            <a:off x="5522976" y="1280160"/>
            <a:ext cx="2340864" cy="713232"/>
          </a:xfrm>
          <a:prstGeom prst="roundRect">
            <a:avLst>
              <a:gd name="adj" fmla="val 15385"/>
            </a:avLst>
          </a:prstGeom>
          <a:solidFill>
            <a:schemeClr val="accent3"/>
          </a:solidFill>
          <a:ln w="12700">
            <a:solidFill>
              <a:schemeClr val="accent3"/>
            </a:solidFill>
            <a:prstDash val="solid"/>
          </a:ln>
        </p:spPr>
      </p:sp>
      <p:sp>
        <p:nvSpPr>
          <p:cNvPr id="8" name="Text 6"/>
          <p:cNvSpPr txBox="1"/>
          <p:nvPr/>
        </p:nvSpPr>
        <p:spPr>
          <a:xfrm>
            <a:off x="5660136" y="1335024"/>
            <a:ext cx="2066544" cy="603504"/>
          </a:xfrm>
          <a:prstGeom prst="rect">
            <a:avLst/>
          </a:prstGeom>
          <a:noFill/>
          <a:ln/>
        </p:spPr>
        <p:txBody>
          <a:bodyPr wrap="square" lIns="0" tIns="0" rIns="0" bIns="0" rtlCol="0" anchor="ctr"/>
          <a:lstStyle/>
          <a:p>
            <a:pPr indent="0" marL="0">
              <a:spcAft>
                <a:spcPts val="200"/>
              </a:spcAft>
              <a:buNone/>
            </a:pPr>
            <a:r>
              <a:rPr lang="en-US" sz="1400" b="1" dirty="0">
                <a:solidFill>
                  <a:schemeClr val="tx2"/>
                </a:solidFill>
              </a:rPr>
              <a:t>Pubblico e stakeholders</a:t>
            </a:r>
            <a:endParaRPr lang="en-US" sz="1400" dirty="0"/>
          </a:p>
          <a:p>
            <a:pPr indent="0" marL="0">
              <a:spcAft>
                <a:spcPts val="200"/>
              </a:spcAft>
              <a:buNone/>
            </a:pPr>
            <a:r>
              <a:rPr lang="en-US" sz="1150" dirty="0">
                <a:solidFill>
                  <a:schemeClr val="tx1"/>
                </a:solidFill>
              </a:rPr>
              <a:t>pagine pubbliche senza account</a:t>
            </a:r>
            <a:endParaRPr lang="en-US" sz="1400" dirty="0"/>
          </a:p>
        </p:txBody>
      </p:sp>
      <p:sp>
        <p:nvSpPr>
          <p:cNvPr id="9" name="Freccia utenti-portale"/>
          <p:cNvSpPr/>
          <p:nvPr/>
        </p:nvSpPr>
        <p:spPr>
          <a:xfrm>
            <a:off x="3886200" y="2048256"/>
            <a:ext cx="292608" cy="310896"/>
          </a:xfrm>
          <a:prstGeom prst="downArrow">
            <a:avLst/>
          </a:prstGeom>
          <a:solidFill>
            <a:srgbClr val="B06A2F"/>
          </a:solidFill>
          <a:ln w="12700">
            <a:solidFill>
              <a:srgbClr val="B06A2F"/>
            </a:solidFill>
            <a:prstDash val="solid"/>
          </a:ln>
        </p:spPr>
      </p:sp>
      <p:sp>
        <p:nvSpPr>
          <p:cNvPr id="10" name="Vercel"/>
          <p:cNvSpPr/>
          <p:nvPr/>
        </p:nvSpPr>
        <p:spPr>
          <a:xfrm>
            <a:off x="548640" y="2414016"/>
            <a:ext cx="5394960" cy="786384"/>
          </a:xfrm>
          <a:prstGeom prst="roundRect">
            <a:avLst>
              <a:gd name="adj" fmla="val 13953"/>
            </a:avLst>
          </a:prstGeom>
          <a:solidFill>
            <a:schemeClr val="bg2"/>
          </a:solidFill>
          <a:ln w="12700">
            <a:solidFill>
              <a:schemeClr val="bg2"/>
            </a:solidFill>
            <a:prstDash val="solid"/>
          </a:ln>
        </p:spPr>
      </p:sp>
      <p:sp>
        <p:nvSpPr>
          <p:cNvPr id="11" name="Text 9"/>
          <p:cNvSpPr txBox="1"/>
          <p:nvPr/>
        </p:nvSpPr>
        <p:spPr>
          <a:xfrm>
            <a:off x="685800" y="2468880"/>
            <a:ext cx="5120640" cy="676656"/>
          </a:xfrm>
          <a:prstGeom prst="rect">
            <a:avLst/>
          </a:prstGeom>
          <a:noFill/>
          <a:ln/>
        </p:spPr>
        <p:txBody>
          <a:bodyPr wrap="square" lIns="0" tIns="0" rIns="0" bIns="0" rtlCol="0" anchor="ctr"/>
          <a:lstStyle/>
          <a:p>
            <a:pPr indent="0" marL="0">
              <a:spcAft>
                <a:spcPts val="200"/>
              </a:spcAft>
              <a:buNone/>
            </a:pPr>
            <a:r>
              <a:rPr lang="en-US" sz="1400" b="1" dirty="0">
                <a:solidFill>
                  <a:schemeClr val="tx2"/>
                </a:solidFill>
              </a:rPr>
              <a:t>Portale web · Vercel (HTTPS)</a:t>
            </a:r>
            <a:endParaRPr lang="en-US" sz="1400" dirty="0"/>
          </a:p>
          <a:p>
            <a:pPr indent="0" marL="0">
              <a:spcAft>
                <a:spcPts val="200"/>
              </a:spcAft>
              <a:buNone/>
            </a:pPr>
            <a:r>
              <a:rPr lang="en-US" sz="1150" dirty="0">
                <a:solidFill>
                  <a:schemeClr val="tx1"/>
                </a:solidFill>
              </a:rPr>
              <a:t>React: pagine, controlli dei file, lettura del tracciato, calcolo dei crediti e PDF nel browser</a:t>
            </a:r>
            <a:endParaRPr lang="en-US" sz="1400" dirty="0"/>
          </a:p>
        </p:txBody>
      </p:sp>
      <p:sp>
        <p:nvSpPr>
          <p:cNvPr id="12" name="GitHub"/>
          <p:cNvSpPr/>
          <p:nvPr/>
        </p:nvSpPr>
        <p:spPr>
          <a:xfrm>
            <a:off x="6172200" y="2414016"/>
            <a:ext cx="1801368" cy="786384"/>
          </a:xfrm>
          <a:prstGeom prst="roundRect">
            <a:avLst>
              <a:gd name="adj" fmla="val 13953"/>
            </a:avLst>
          </a:prstGeom>
          <a:solidFill>
            <a:schemeClr val="bg2"/>
          </a:solidFill>
          <a:ln w="12700">
            <a:solidFill>
              <a:schemeClr val="bg2"/>
            </a:solidFill>
            <a:prstDash val="solid"/>
          </a:ln>
        </p:spPr>
      </p:sp>
      <p:sp>
        <p:nvSpPr>
          <p:cNvPr id="13" name="Text 11"/>
          <p:cNvSpPr txBox="1"/>
          <p:nvPr/>
        </p:nvSpPr>
        <p:spPr>
          <a:xfrm>
            <a:off x="6309360" y="2468880"/>
            <a:ext cx="1527048" cy="676656"/>
          </a:xfrm>
          <a:prstGeom prst="rect">
            <a:avLst/>
          </a:prstGeom>
          <a:noFill/>
          <a:ln/>
        </p:spPr>
        <p:txBody>
          <a:bodyPr wrap="square" lIns="0" tIns="0" rIns="0" bIns="0" rtlCol="0" anchor="ctr"/>
          <a:lstStyle/>
          <a:p>
            <a:pPr indent="0" marL="0">
              <a:spcAft>
                <a:spcPts val="200"/>
              </a:spcAft>
              <a:buNone/>
            </a:pPr>
            <a:r>
              <a:rPr lang="en-US" sz="1400" b="1" dirty="0">
                <a:solidFill>
                  <a:schemeClr val="tx2"/>
                </a:solidFill>
              </a:rPr>
              <a:t>GitHub</a:t>
            </a:r>
            <a:endParaRPr lang="en-US" sz="1400" dirty="0"/>
          </a:p>
          <a:p>
            <a:pPr indent="0" marL="0">
              <a:spcAft>
                <a:spcPts val="200"/>
              </a:spcAft>
              <a:buNone/>
            </a:pPr>
            <a:r>
              <a:rPr lang="en-US" sz="1150" dirty="0">
                <a:solidFill>
                  <a:schemeClr val="tx1"/>
                </a:solidFill>
              </a:rPr>
              <a:t>codice e storico; pubblicazione automatica</a:t>
            </a:r>
            <a:endParaRPr lang="en-US" sz="1400" dirty="0"/>
          </a:p>
        </p:txBody>
      </p:sp>
      <p:sp>
        <p:nvSpPr>
          <p:cNvPr id="14" name="Freccia GitHub-Vercel"/>
          <p:cNvSpPr/>
          <p:nvPr/>
        </p:nvSpPr>
        <p:spPr>
          <a:xfrm>
            <a:off x="5943600" y="2688336"/>
            <a:ext cx="237744" cy="237744"/>
          </a:xfrm>
          <a:prstGeom prst="leftArrow">
            <a:avLst/>
          </a:prstGeom>
          <a:solidFill>
            <a:srgbClr val="B06A2F"/>
          </a:solidFill>
          <a:ln w="12700">
            <a:solidFill>
              <a:srgbClr val="B06A2F"/>
            </a:solidFill>
            <a:prstDash val="solid"/>
          </a:ln>
        </p:spPr>
      </p:sp>
      <p:sp>
        <p:nvSpPr>
          <p:cNvPr id="15" name="Freccia portale-Supabase"/>
          <p:cNvSpPr/>
          <p:nvPr/>
        </p:nvSpPr>
        <p:spPr>
          <a:xfrm>
            <a:off x="3886200" y="3255264"/>
            <a:ext cx="292608" cy="310896"/>
          </a:xfrm>
          <a:prstGeom prst="downArrow">
            <a:avLst/>
          </a:prstGeom>
          <a:solidFill>
            <a:srgbClr val="B06A2F"/>
          </a:solidFill>
          <a:ln w="12700">
            <a:solidFill>
              <a:srgbClr val="B06A2F"/>
            </a:solidFill>
            <a:prstDash val="solid"/>
          </a:ln>
        </p:spPr>
      </p:sp>
      <p:sp>
        <p:nvSpPr>
          <p:cNvPr id="16" name="Supabase"/>
          <p:cNvSpPr/>
          <p:nvPr/>
        </p:nvSpPr>
        <p:spPr>
          <a:xfrm>
            <a:off x="548640" y="3621024"/>
            <a:ext cx="7424928" cy="1938528"/>
          </a:xfrm>
          <a:prstGeom prst="roundRect">
            <a:avLst>
              <a:gd name="adj" fmla="val 5660"/>
            </a:avLst>
          </a:prstGeom>
          <a:solidFill>
            <a:schemeClr val="tx2"/>
          </a:solidFill>
          <a:ln w="12700">
            <a:solidFill>
              <a:schemeClr val="tx2"/>
            </a:solidFill>
            <a:prstDash val="solid"/>
          </a:ln>
        </p:spPr>
      </p:sp>
      <p:sp>
        <p:nvSpPr>
          <p:cNvPr id="17" name="Text 15"/>
          <p:cNvSpPr txBox="1"/>
          <p:nvPr/>
        </p:nvSpPr>
        <p:spPr>
          <a:xfrm>
            <a:off x="713232" y="3675888"/>
            <a:ext cx="7132320" cy="329184"/>
          </a:xfrm>
          <a:prstGeom prst="rect">
            <a:avLst/>
          </a:prstGeom>
          <a:noFill/>
          <a:ln/>
        </p:spPr>
        <p:txBody>
          <a:bodyPr wrap="square" lIns="0" tIns="0" rIns="0" bIns="0" rtlCol="0" anchor="ctr"/>
          <a:lstStyle/>
          <a:p>
            <a:pPr indent="0" marL="0">
              <a:buNone/>
            </a:pPr>
            <a:r>
              <a:rPr lang="en-US" sz="1400" b="1" dirty="0">
                <a:solidFill>
                  <a:schemeClr val="bg1"/>
                </a:solidFill>
              </a:rPr>
              <a:t>Supabase · dati, regole e documenti</a:t>
            </a:r>
            <a:endParaRPr lang="en-US" sz="1400" dirty="0"/>
          </a:p>
        </p:txBody>
      </p:sp>
      <p:sp>
        <p:nvSpPr>
          <p:cNvPr id="18" name="Supabase Database Postgres"/>
          <p:cNvSpPr/>
          <p:nvPr/>
        </p:nvSpPr>
        <p:spPr>
          <a:xfrm>
            <a:off x="685800" y="4059936"/>
            <a:ext cx="1719072" cy="1371600"/>
          </a:xfrm>
          <a:prstGeom prst="roundRect">
            <a:avLst>
              <a:gd name="adj" fmla="val 8000"/>
            </a:avLst>
          </a:prstGeom>
          <a:solidFill>
            <a:schemeClr val="bg1"/>
          </a:solidFill>
          <a:ln w="12700">
            <a:solidFill>
              <a:schemeClr val="bg1"/>
            </a:solidFill>
            <a:prstDash val="solid"/>
          </a:ln>
        </p:spPr>
      </p:sp>
      <p:sp>
        <p:nvSpPr>
          <p:cNvPr id="19" name="Text 17"/>
          <p:cNvSpPr txBox="1"/>
          <p:nvPr/>
        </p:nvSpPr>
        <p:spPr>
          <a:xfrm>
            <a:off x="822960" y="4114800"/>
            <a:ext cx="1444752" cy="1261872"/>
          </a:xfrm>
          <a:prstGeom prst="rect">
            <a:avLst/>
          </a:prstGeom>
          <a:noFill/>
          <a:ln/>
        </p:spPr>
        <p:txBody>
          <a:bodyPr wrap="square" lIns="0" tIns="0" rIns="0" bIns="0" rtlCol="0" anchor="ctr"/>
          <a:lstStyle/>
          <a:p>
            <a:pPr indent="0" marL="0">
              <a:spcAft>
                <a:spcPts val="200"/>
              </a:spcAft>
              <a:buNone/>
            </a:pPr>
            <a:r>
              <a:rPr lang="en-US" sz="1400" b="1" dirty="0">
                <a:solidFill>
                  <a:schemeClr val="tx2"/>
                </a:solidFill>
              </a:rPr>
              <a:t>Database Postgres</a:t>
            </a:r>
            <a:endParaRPr lang="en-US" sz="1400" dirty="0"/>
          </a:p>
          <a:p>
            <a:pPr indent="0" marL="0">
              <a:spcAft>
                <a:spcPts val="200"/>
              </a:spcAft>
              <a:buNone/>
            </a:pPr>
            <a:r>
              <a:rPr lang="en-US" sz="1150" dirty="0">
                <a:solidFill>
                  <a:schemeClr val="tx1"/>
                </a:solidFill>
              </a:rPr>
              <a:t>oltre 30 tabelle; regole di accesso per ruolo su ogni tabella; azioni sensibili solo con funzioni che chiedono la motivazione</a:t>
            </a:r>
            <a:endParaRPr lang="en-US" sz="1400" dirty="0"/>
          </a:p>
        </p:txBody>
      </p:sp>
      <p:sp>
        <p:nvSpPr>
          <p:cNvPr id="20" name="Supabase Accesso"/>
          <p:cNvSpPr/>
          <p:nvPr/>
        </p:nvSpPr>
        <p:spPr>
          <a:xfrm>
            <a:off x="2496312" y="4059936"/>
            <a:ext cx="1719072" cy="1371600"/>
          </a:xfrm>
          <a:prstGeom prst="roundRect">
            <a:avLst>
              <a:gd name="adj" fmla="val 8000"/>
            </a:avLst>
          </a:prstGeom>
          <a:solidFill>
            <a:schemeClr val="bg1"/>
          </a:solidFill>
          <a:ln w="12700">
            <a:solidFill>
              <a:schemeClr val="bg1"/>
            </a:solidFill>
            <a:prstDash val="solid"/>
          </a:ln>
        </p:spPr>
      </p:sp>
      <p:sp>
        <p:nvSpPr>
          <p:cNvPr id="21" name="Text 19"/>
          <p:cNvSpPr txBox="1"/>
          <p:nvPr/>
        </p:nvSpPr>
        <p:spPr>
          <a:xfrm>
            <a:off x="2633472" y="4114800"/>
            <a:ext cx="1444752" cy="1261872"/>
          </a:xfrm>
          <a:prstGeom prst="rect">
            <a:avLst/>
          </a:prstGeom>
          <a:noFill/>
          <a:ln/>
        </p:spPr>
        <p:txBody>
          <a:bodyPr wrap="square" lIns="0" tIns="0" rIns="0" bIns="0" rtlCol="0" anchor="ctr"/>
          <a:lstStyle/>
          <a:p>
            <a:pPr indent="0" marL="0">
              <a:spcAft>
                <a:spcPts val="200"/>
              </a:spcAft>
              <a:buNone/>
            </a:pPr>
            <a:r>
              <a:rPr lang="en-US" sz="1400" b="1" dirty="0">
                <a:solidFill>
                  <a:schemeClr val="tx2"/>
                </a:solidFill>
              </a:rPr>
              <a:t>Accesso</a:t>
            </a:r>
            <a:endParaRPr lang="en-US" sz="1400" dirty="0"/>
          </a:p>
          <a:p>
            <a:pPr indent="0" marL="0">
              <a:spcAft>
                <a:spcPts val="200"/>
              </a:spcAft>
              <a:buNone/>
            </a:pPr>
            <a:r>
              <a:rPr lang="en-US" sz="1150" dirty="0">
                <a:solidFill>
                  <a:schemeClr val="tx1"/>
                </a:solidFill>
              </a:rPr>
              <a:t>email e password; password temporanea inviata per email; recupero; verifica in due passaggi pronta</a:t>
            </a:r>
            <a:endParaRPr lang="en-US" sz="1400" dirty="0"/>
          </a:p>
        </p:txBody>
      </p:sp>
      <p:sp>
        <p:nvSpPr>
          <p:cNvPr id="22" name="Supabase Archivio documenti"/>
          <p:cNvSpPr/>
          <p:nvPr/>
        </p:nvSpPr>
        <p:spPr>
          <a:xfrm>
            <a:off x="4306824" y="4059936"/>
            <a:ext cx="1719072" cy="1371600"/>
          </a:xfrm>
          <a:prstGeom prst="roundRect">
            <a:avLst>
              <a:gd name="adj" fmla="val 8000"/>
            </a:avLst>
          </a:prstGeom>
          <a:solidFill>
            <a:schemeClr val="bg1"/>
          </a:solidFill>
          <a:ln w="12700">
            <a:solidFill>
              <a:schemeClr val="bg1"/>
            </a:solidFill>
            <a:prstDash val="solid"/>
          </a:ln>
        </p:spPr>
      </p:sp>
      <p:sp>
        <p:nvSpPr>
          <p:cNvPr id="23" name="Text 21"/>
          <p:cNvSpPr txBox="1"/>
          <p:nvPr/>
        </p:nvSpPr>
        <p:spPr>
          <a:xfrm>
            <a:off x="4443984" y="4114800"/>
            <a:ext cx="1444752" cy="1261872"/>
          </a:xfrm>
          <a:prstGeom prst="rect">
            <a:avLst/>
          </a:prstGeom>
          <a:noFill/>
          <a:ln/>
        </p:spPr>
        <p:txBody>
          <a:bodyPr wrap="square" lIns="0" tIns="0" rIns="0" bIns="0" rtlCol="0" anchor="ctr"/>
          <a:lstStyle/>
          <a:p>
            <a:pPr indent="0" marL="0">
              <a:spcAft>
                <a:spcPts val="200"/>
              </a:spcAft>
              <a:buNone/>
            </a:pPr>
            <a:r>
              <a:rPr lang="en-US" sz="1400" b="1" dirty="0">
                <a:solidFill>
                  <a:schemeClr val="tx2"/>
                </a:solidFill>
              </a:rPr>
              <a:t>Archivio documenti</a:t>
            </a:r>
            <a:endParaRPr lang="en-US" sz="1400" dirty="0"/>
          </a:p>
          <a:p>
            <a:pPr indent="0" marL="0">
              <a:spcAft>
                <a:spcPts val="200"/>
              </a:spcAft>
              <a:buNone/>
            </a:pPr>
            <a:r>
              <a:rPr lang="en-US" sz="1150" dirty="0">
                <a:solidFill>
                  <a:schemeClr val="tx1"/>
                </a:solidFill>
              </a:rPr>
              <a:t>privato; versioni mai sovrascritte con impronta SHA-256</a:t>
            </a:r>
            <a:endParaRPr lang="en-US" sz="1400" dirty="0"/>
          </a:p>
        </p:txBody>
      </p:sp>
      <p:sp>
        <p:nvSpPr>
          <p:cNvPr id="24" name="Supabase Funzioni e lavori pianificati"/>
          <p:cNvSpPr/>
          <p:nvPr/>
        </p:nvSpPr>
        <p:spPr>
          <a:xfrm>
            <a:off x="6117336" y="4059936"/>
            <a:ext cx="1719072" cy="1371600"/>
          </a:xfrm>
          <a:prstGeom prst="roundRect">
            <a:avLst>
              <a:gd name="adj" fmla="val 8000"/>
            </a:avLst>
          </a:prstGeom>
          <a:solidFill>
            <a:schemeClr val="bg1"/>
          </a:solidFill>
          <a:ln w="12700">
            <a:solidFill>
              <a:schemeClr val="bg1"/>
            </a:solidFill>
            <a:prstDash val="solid"/>
          </a:ln>
        </p:spPr>
      </p:sp>
      <p:sp>
        <p:nvSpPr>
          <p:cNvPr id="25" name="Text 23"/>
          <p:cNvSpPr txBox="1"/>
          <p:nvPr/>
        </p:nvSpPr>
        <p:spPr>
          <a:xfrm>
            <a:off x="6254496" y="4114800"/>
            <a:ext cx="1444752" cy="1261872"/>
          </a:xfrm>
          <a:prstGeom prst="rect">
            <a:avLst/>
          </a:prstGeom>
          <a:noFill/>
          <a:ln/>
        </p:spPr>
        <p:txBody>
          <a:bodyPr wrap="square" lIns="0" tIns="0" rIns="0" bIns="0" rtlCol="0" anchor="ctr"/>
          <a:lstStyle/>
          <a:p>
            <a:pPr indent="0" marL="0">
              <a:spcAft>
                <a:spcPts val="200"/>
              </a:spcAft>
              <a:buNone/>
            </a:pPr>
            <a:r>
              <a:rPr lang="en-US" sz="1400" b="1" dirty="0">
                <a:solidFill>
                  <a:schemeClr val="tx2"/>
                </a:solidFill>
              </a:rPr>
              <a:t>Funzioni e lavori pianificati</a:t>
            </a:r>
            <a:endParaRPr lang="en-US" sz="1400" dirty="0"/>
          </a:p>
          <a:p>
            <a:pPr indent="0" marL="0">
              <a:spcAft>
                <a:spcPts val="200"/>
              </a:spcAft>
              <a:buNone/>
            </a:pPr>
            <a:r>
              <a:rPr lang="en-US" sz="1150" dirty="0">
                <a:solidFill>
                  <a:schemeClr val="tx1"/>
                </a:solidFill>
              </a:rPr>
              <a:t>utenti, email, pagina pubblica; scadenze e avvisi ogni giorno</a:t>
            </a:r>
            <a:endParaRPr lang="en-US" sz="1400" dirty="0"/>
          </a:p>
        </p:txBody>
      </p:sp>
      <p:sp>
        <p:nvSpPr>
          <p:cNvPr id="26" name="Freccia Supabase-Resend"/>
          <p:cNvSpPr/>
          <p:nvPr/>
        </p:nvSpPr>
        <p:spPr>
          <a:xfrm>
            <a:off x="3886200" y="5596128"/>
            <a:ext cx="292608" cy="237744"/>
          </a:xfrm>
          <a:prstGeom prst="downArrow">
            <a:avLst/>
          </a:prstGeom>
          <a:solidFill>
            <a:srgbClr val="B06A2F"/>
          </a:solidFill>
          <a:ln w="12700">
            <a:solidFill>
              <a:srgbClr val="B06A2F"/>
            </a:solidFill>
            <a:prstDash val="solid"/>
          </a:ln>
        </p:spPr>
      </p:sp>
      <p:sp>
        <p:nvSpPr>
          <p:cNvPr id="27" name="Resend"/>
          <p:cNvSpPr/>
          <p:nvPr/>
        </p:nvSpPr>
        <p:spPr>
          <a:xfrm>
            <a:off x="2743200" y="5852160"/>
            <a:ext cx="3017520" cy="457200"/>
          </a:xfrm>
          <a:prstGeom prst="roundRect">
            <a:avLst>
              <a:gd name="adj" fmla="val 24000"/>
            </a:avLst>
          </a:prstGeom>
          <a:solidFill>
            <a:schemeClr val="bg2"/>
          </a:solidFill>
          <a:ln w="12700">
            <a:solidFill>
              <a:schemeClr val="bg2"/>
            </a:solidFill>
            <a:prstDash val="solid"/>
          </a:ln>
        </p:spPr>
      </p:sp>
      <p:sp>
        <p:nvSpPr>
          <p:cNvPr id="28" name="Text 26"/>
          <p:cNvSpPr txBox="1"/>
          <p:nvPr/>
        </p:nvSpPr>
        <p:spPr>
          <a:xfrm>
            <a:off x="2880360" y="5907024"/>
            <a:ext cx="2743200" cy="347472"/>
          </a:xfrm>
          <a:prstGeom prst="rect">
            <a:avLst/>
          </a:prstGeom>
          <a:noFill/>
          <a:ln/>
        </p:spPr>
        <p:txBody>
          <a:bodyPr wrap="square" lIns="0" tIns="0" rIns="0" bIns="0" rtlCol="0" anchor="ctr"/>
          <a:lstStyle/>
          <a:p>
            <a:pPr indent="0" marL="0">
              <a:spcAft>
                <a:spcPts val="200"/>
              </a:spcAft>
              <a:buNone/>
            </a:pPr>
            <a:r>
              <a:rPr lang="en-US" sz="1400" b="1" dirty="0">
                <a:solidFill>
                  <a:schemeClr val="tx2"/>
                </a:solidFill>
              </a:rPr>
              <a:t>Resend · email di notifica</a:t>
            </a:r>
            <a:endParaRPr lang="en-US" sz="1400" dirty="0"/>
          </a:p>
        </p:txBody>
      </p:sp>
      <p:sp>
        <p:nvSpPr>
          <p:cNvPr id="29" name="Garanzie"/>
          <p:cNvSpPr/>
          <p:nvPr/>
        </p:nvSpPr>
        <p:spPr>
          <a:xfrm>
            <a:off x="8229600" y="1280160"/>
            <a:ext cx="3383280" cy="2788920"/>
          </a:xfrm>
          <a:prstGeom prst="roundRect">
            <a:avLst>
              <a:gd name="adj" fmla="val 3934"/>
            </a:avLst>
          </a:prstGeom>
          <a:solidFill>
            <a:schemeClr val="bg2"/>
          </a:solidFill>
          <a:ln w="12700">
            <a:solidFill>
              <a:schemeClr val="bg2"/>
            </a:solidFill>
            <a:prstDash val="solid"/>
          </a:ln>
        </p:spPr>
      </p:sp>
      <p:sp>
        <p:nvSpPr>
          <p:cNvPr id="30" name="Text 28"/>
          <p:cNvSpPr txBox="1"/>
          <p:nvPr/>
        </p:nvSpPr>
        <p:spPr>
          <a:xfrm>
            <a:off x="8412480" y="1371600"/>
            <a:ext cx="3017520" cy="347472"/>
          </a:xfrm>
          <a:prstGeom prst="rect">
            <a:avLst/>
          </a:prstGeom>
          <a:noFill/>
          <a:ln/>
        </p:spPr>
        <p:txBody>
          <a:bodyPr wrap="square" lIns="0" tIns="0" rIns="0" bIns="0" rtlCol="0" anchor="ctr"/>
          <a:lstStyle/>
          <a:p>
            <a:pPr indent="0" marL="0">
              <a:buNone/>
            </a:pPr>
            <a:r>
              <a:rPr lang="en-US" sz="1500" b="1" dirty="0">
                <a:solidFill>
                  <a:schemeClr val="tx2"/>
                </a:solidFill>
              </a:rPr>
              <a:t>Garanzie</a:t>
            </a:r>
            <a:endParaRPr lang="en-US" sz="1500" dirty="0"/>
          </a:p>
        </p:txBody>
      </p:sp>
      <p:sp>
        <p:nvSpPr>
          <p:cNvPr id="31" name="Text 29"/>
          <p:cNvSpPr txBox="1"/>
          <p:nvPr/>
        </p:nvSpPr>
        <p:spPr>
          <a:xfrm>
            <a:off x="8412480" y="1755648"/>
            <a:ext cx="3063240" cy="22402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rPr>
              <a:t>Chi vede e chi modifica lo decide il database, non lo schermo</a:t>
            </a:r>
            <a:endParaRPr lang="en-US" sz="1200" dirty="0"/>
          </a:p>
          <a:p>
            <a:pPr marL="342900" indent="-342900">
              <a:spcAft>
                <a:spcPts val="400"/>
              </a:spcAft>
              <a:buSzPct val="100000"/>
              <a:buChar char="•"/>
            </a:pPr>
            <a:r>
              <a:rPr lang="en-US" sz="1200" dirty="0">
                <a:solidFill>
                  <a:schemeClr val="tx1"/>
                </a:solidFill>
              </a:rPr>
              <a:t>Audit di ogni operazione, non modificabile</a:t>
            </a:r>
            <a:endParaRPr lang="en-US" sz="1200" dirty="0"/>
          </a:p>
          <a:p>
            <a:pPr marL="342900" indent="-342900">
              <a:spcAft>
                <a:spcPts val="400"/>
              </a:spcAft>
              <a:buSzPct val="100000"/>
              <a:buChar char="•"/>
            </a:pPr>
            <a:r>
              <a:rPr lang="en-US" sz="1200" dirty="0">
                <a:solidFill>
                  <a:schemeClr val="tx1"/>
                </a:solidFill>
              </a:rPr>
              <a:t>Nessuna chiave segreta nel browser</a:t>
            </a:r>
            <a:endParaRPr lang="en-US" sz="1200" dirty="0"/>
          </a:p>
          <a:p>
            <a:pPr marL="342900" indent="-342900">
              <a:spcAft>
                <a:spcPts val="400"/>
              </a:spcAft>
              <a:buSzPct val="100000"/>
              <a:buChar char="•"/>
            </a:pPr>
            <a:r>
              <a:rPr lang="en-US" sz="1200" dirty="0">
                <a:solidFill>
                  <a:schemeClr val="tx1"/>
                </a:solidFill>
              </a:rPr>
              <a:t>Nessuna cancellazione: conservazione 12 anni</a:t>
            </a:r>
            <a:endParaRPr lang="en-US" sz="1200" dirty="0"/>
          </a:p>
          <a:p>
            <a:pPr marL="342900" indent="-342900">
              <a:spcAft>
                <a:spcPts val="400"/>
              </a:spcAft>
              <a:buSzPct val="100000"/>
              <a:buChar char="•"/>
            </a:pPr>
            <a:r>
              <a:rPr lang="en-US" sz="1200" dirty="0">
                <a:solidFill>
                  <a:schemeClr val="tx1"/>
                </a:solidFill>
              </a:rPr>
              <a:t>Banca Dati Utenze: nomi visibili solo allo staff, ogni consultazione nell'audit</a:t>
            </a:r>
            <a:endParaRPr lang="en-US" sz="1200" dirty="0"/>
          </a:p>
          <a:p>
            <a:pPr marL="342900" indent="-342900">
              <a:spcAft>
                <a:spcPts val="400"/>
              </a:spcAft>
              <a:buSzPct val="100000"/>
              <a:buChar char="•"/>
            </a:pPr>
            <a:r>
              <a:rPr lang="en-US" sz="1200" dirty="0">
                <a:solidFill>
                  <a:schemeClr val="tx1"/>
                </a:solidFill>
              </a:rPr>
              <a:t>Backup, istruzioni di ripristino; amministratore principale protetto</a:t>
            </a:r>
            <a:endParaRPr lang="en-US" sz="1200" dirty="0"/>
          </a:p>
        </p:txBody>
      </p:sp>
      <p:sp>
        <p:nvSpPr>
          <p:cNvPr id="32" name="Prossimi passi infrastruttura"/>
          <p:cNvSpPr/>
          <p:nvPr/>
        </p:nvSpPr>
        <p:spPr>
          <a:xfrm>
            <a:off x="8229600" y="4206240"/>
            <a:ext cx="3383280" cy="2103120"/>
          </a:xfrm>
          <a:prstGeom prst="roundRect">
            <a:avLst>
              <a:gd name="adj" fmla="val 5217"/>
            </a:avLst>
          </a:prstGeom>
          <a:solidFill>
            <a:schemeClr val="accent3"/>
          </a:solidFill>
          <a:ln w="12700">
            <a:solidFill>
              <a:schemeClr val="accent3"/>
            </a:solidFill>
            <a:prstDash val="solid"/>
          </a:ln>
        </p:spPr>
      </p:sp>
      <p:sp>
        <p:nvSpPr>
          <p:cNvPr id="33" name="Text 31"/>
          <p:cNvSpPr txBox="1"/>
          <p:nvPr/>
        </p:nvSpPr>
        <p:spPr>
          <a:xfrm>
            <a:off x="8412480" y="4297680"/>
            <a:ext cx="3017520" cy="347472"/>
          </a:xfrm>
          <a:prstGeom prst="rect">
            <a:avLst/>
          </a:prstGeom>
          <a:noFill/>
          <a:ln/>
        </p:spPr>
        <p:txBody>
          <a:bodyPr wrap="square" lIns="0" tIns="0" rIns="0" bIns="0" rtlCol="0" anchor="ctr"/>
          <a:lstStyle/>
          <a:p>
            <a:pPr indent="0" marL="0">
              <a:buNone/>
            </a:pPr>
            <a:r>
              <a:rPr lang="en-US" sz="1500" b="1" dirty="0">
                <a:solidFill>
                  <a:schemeClr val="tx2"/>
                </a:solidFill>
              </a:rPr>
              <a:t>Prossimi passi</a:t>
            </a:r>
            <a:endParaRPr lang="en-US" sz="1500" dirty="0"/>
          </a:p>
        </p:txBody>
      </p:sp>
      <p:sp>
        <p:nvSpPr>
          <p:cNvPr id="34" name="Text 32"/>
          <p:cNvSpPr txBox="1"/>
          <p:nvPr/>
        </p:nvSpPr>
        <p:spPr>
          <a:xfrm>
            <a:off x="8412480" y="4681728"/>
            <a:ext cx="3063240" cy="15544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rPr>
              <a:t>Piani a pagamento Vercel e Supabase, repository privato</a:t>
            </a:r>
            <a:endParaRPr lang="en-US" sz="1200" dirty="0"/>
          </a:p>
          <a:p>
            <a:pPr marL="342900" indent="-342900">
              <a:spcAft>
                <a:spcPts val="400"/>
              </a:spcAft>
              <a:buSzPct val="100000"/>
              <a:buChar char="•"/>
            </a:pPr>
            <a:r>
              <a:rPr lang="en-US" sz="1200" dirty="0">
                <a:solidFill>
                  <a:schemeClr val="tx1"/>
                </a:solidFill>
              </a:rPr>
              <a:t>Copie automatiche di database e file, ambiente di prova</a:t>
            </a:r>
            <a:endParaRPr lang="en-US" sz="1200" dirty="0"/>
          </a:p>
          <a:p>
            <a:pPr marL="342900" indent="-342900">
              <a:spcAft>
                <a:spcPts val="400"/>
              </a:spcAft>
              <a:buSzPct val="100000"/>
              <a:buChar char="•"/>
            </a:pPr>
            <a:r>
              <a:rPr lang="en-US" sz="1200" dirty="0">
                <a:solidFill>
                  <a:schemeClr val="tx1"/>
                </a:solidFill>
              </a:rPr>
              <a:t>Dominio email operate.it</a:t>
            </a:r>
            <a:endParaRPr lang="en-US" sz="1200" dirty="0"/>
          </a:p>
          <a:p>
            <a:pPr marL="342900" indent="-342900">
              <a:spcAft>
                <a:spcPts val="400"/>
              </a:spcAft>
              <a:buSzPct val="100000"/>
              <a:buChar char="•"/>
            </a:pPr>
            <a:r>
              <a:rPr lang="en-US" sz="1200" dirty="0">
                <a:solidFill>
                  <a:schemeClr val="tx1"/>
                </a:solidFill>
              </a:rPr>
              <a:t>Verifica in due passaggi, antivirus</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Chi fa cosa nel portale</a:t>
            </a:r>
            <a:endParaRPr lang="en-US" sz="3000" dirty="0"/>
          </a:p>
        </p:txBody>
      </p:sp>
      <p:sp>
        <p:nvSpPr>
          <p:cNvPr id="3" name="Ruolo Fondazione Operate"/>
          <p:cNvSpPr/>
          <p:nvPr/>
        </p:nvSpPr>
        <p:spPr>
          <a:xfrm>
            <a:off x="548640" y="1280160"/>
            <a:ext cx="2594610" cy="5029200"/>
          </a:xfrm>
          <a:prstGeom prst="roundRect">
            <a:avLst>
              <a:gd name="adj" fmla="val 4229"/>
            </a:avLst>
          </a:prstGeom>
          <a:solidFill>
            <a:schemeClr val="bg2"/>
          </a:solidFill>
          <a:ln w="12700">
            <a:solidFill>
              <a:schemeClr val="bg2"/>
            </a:solidFill>
            <a:prstDash val="solid"/>
          </a:ln>
        </p:spPr>
      </p:sp>
      <p:sp>
        <p:nvSpPr>
          <p:cNvPr id="4" name="Barra Fondazione Operate"/>
          <p:cNvSpPr/>
          <p:nvPr/>
        </p:nvSpPr>
        <p:spPr>
          <a:xfrm>
            <a:off x="548640" y="1280160"/>
            <a:ext cx="2594610" cy="73152"/>
          </a:xfrm>
          <a:prstGeom prst="rect">
            <a:avLst/>
          </a:prstGeom>
          <a:solidFill>
            <a:schemeClr val="tx2"/>
          </a:solidFill>
          <a:ln w="12700">
            <a:solidFill>
              <a:schemeClr val="tx2"/>
            </a:solidFill>
            <a:prstDash val="solid"/>
          </a:ln>
        </p:spPr>
      </p:sp>
      <p:sp>
        <p:nvSpPr>
          <p:cNvPr id="5" name="Text 3"/>
          <p:cNvSpPr txBox="1"/>
          <p:nvPr/>
        </p:nvSpPr>
        <p:spPr>
          <a:xfrm>
            <a:off x="731520" y="1463040"/>
            <a:ext cx="2228850" cy="731520"/>
          </a:xfrm>
          <a:prstGeom prst="rect">
            <a:avLst/>
          </a:prstGeom>
          <a:noFill/>
          <a:ln/>
        </p:spPr>
        <p:txBody>
          <a:bodyPr wrap="square" lIns="0" tIns="0" rIns="0" bIns="0" rtlCol="0" anchor="t"/>
          <a:lstStyle/>
          <a:p>
            <a:pPr indent="0" marL="0">
              <a:buNone/>
            </a:pPr>
            <a:r>
              <a:rPr lang="en-US" sz="1500" b="1" dirty="0">
                <a:solidFill>
                  <a:schemeClr val="tx2"/>
                </a:solidFill>
              </a:rPr>
              <a:t>Fondazione Operate</a:t>
            </a:r>
            <a:endParaRPr lang="en-US" sz="1500" dirty="0"/>
          </a:p>
          <a:p>
            <a:pPr indent="0" marL="0">
              <a:buNone/>
            </a:pPr>
            <a:r>
              <a:rPr lang="en-US" sz="1150" dirty="0">
                <a:solidFill>
                  <a:schemeClr val="accent6"/>
                </a:solidFill>
              </a:rPr>
              <a:t>promotore del programma</a:t>
            </a:r>
            <a:endParaRPr lang="en-US" sz="1500" dirty="0"/>
          </a:p>
        </p:txBody>
      </p:sp>
      <p:sp>
        <p:nvSpPr>
          <p:cNvPr id="6" name="Text 4"/>
          <p:cNvSpPr txBox="1"/>
          <p:nvPr/>
        </p:nvSpPr>
        <p:spPr>
          <a:xfrm>
            <a:off x="731520" y="2240280"/>
            <a:ext cx="2274570" cy="29260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Operatori: cruscotto, pratiche e fasi, verifiche documentali con accuratezza e accertamenti, integrazioni</a:t>
            </a:r>
            <a:endParaRPr lang="en-US" sz="1200" dirty="0"/>
          </a:p>
          <a:p>
            <a:pPr marL="342900" indent="-342900">
              <a:spcAft>
                <a:spcPts val="600"/>
              </a:spcAft>
              <a:buSzPct val="100000"/>
              <a:buChar char="•"/>
            </a:pPr>
            <a:r>
              <a:rPr lang="en-US" sz="1200" dirty="0">
                <a:solidFill>
                  <a:schemeClr val="tx1"/>
                </a:solidFill>
              </a:rPr>
              <a:t>Moderazione del feedback pubblico, pagamenti e tariffe, registro e vendite dei crediti, reclami, anagrafiche</a:t>
            </a:r>
            <a:endParaRPr lang="en-US" sz="1200" dirty="0"/>
          </a:p>
          <a:p>
            <a:pPr marL="342900" indent="-342900">
              <a:spcAft>
                <a:spcPts val="600"/>
              </a:spcAft>
              <a:buSzPct val="100000"/>
              <a:buChar char="•"/>
            </a:pPr>
            <a:r>
              <a:rPr lang="en-US" sz="1200" dirty="0">
                <a:solidFill>
                  <a:schemeClr val="tx1"/>
                </a:solidFill>
              </a:rPr>
              <a:t>Amministratori (anche più di uno; il principale è protetto), in più: utenti, impostazioni, calcolo ed emissione dei crediti, audit</a:t>
            </a:r>
            <a:endParaRPr lang="en-US" sz="1200" dirty="0"/>
          </a:p>
        </p:txBody>
      </p:sp>
      <p:sp>
        <p:nvSpPr>
          <p:cNvPr id="7" name="Prossimo passo Fondazione Operate"/>
          <p:cNvSpPr/>
          <p:nvPr/>
        </p:nvSpPr>
        <p:spPr>
          <a:xfrm>
            <a:off x="685800" y="5303520"/>
            <a:ext cx="2320290" cy="868680"/>
          </a:xfrm>
          <a:prstGeom prst="roundRect">
            <a:avLst>
              <a:gd name="adj" fmla="val 12632"/>
            </a:avLst>
          </a:prstGeom>
          <a:solidFill>
            <a:schemeClr val="bg1"/>
          </a:solidFill>
          <a:ln w="12700">
            <a:solidFill>
              <a:schemeClr val="bg1"/>
            </a:solidFill>
            <a:prstDash val="solid"/>
          </a:ln>
        </p:spPr>
      </p:sp>
      <p:sp>
        <p:nvSpPr>
          <p:cNvPr id="8" name="Text 6"/>
          <p:cNvSpPr txBox="1"/>
          <p:nvPr/>
        </p:nvSpPr>
        <p:spPr>
          <a:xfrm>
            <a:off x="795528" y="5349240"/>
            <a:ext cx="2100834" cy="777240"/>
          </a:xfrm>
          <a:prstGeom prst="rect">
            <a:avLst/>
          </a:prstGeom>
          <a:noFill/>
          <a:ln/>
        </p:spPr>
        <p:txBody>
          <a:bodyPr wrap="square" lIns="0" tIns="0" rIns="0" bIns="0" rtlCol="0" anchor="ctr"/>
          <a:lstStyle/>
          <a:p>
            <a:pPr indent="0" marL="0">
              <a:buNone/>
            </a:pPr>
            <a:r>
              <a:rPr lang="en-US" sz="1050" b="1" dirty="0">
                <a:solidFill>
                  <a:schemeClr val="accent2"/>
                </a:solidFill>
              </a:rPr>
              <a:t>Prossimo passo</a:t>
            </a:r>
            <a:endParaRPr lang="en-US" sz="1050" dirty="0"/>
          </a:p>
          <a:p>
            <a:pPr indent="0" marL="0">
              <a:buNone/>
            </a:pPr>
            <a:r>
              <a:rPr lang="en-US" sz="1100" dirty="0">
                <a:solidFill>
                  <a:schemeClr val="tx1"/>
                </a:solidFill>
              </a:rPr>
              <a:t>Collaudo e messa in esercizio</a:t>
            </a:r>
            <a:endParaRPr lang="en-US" sz="1050" dirty="0"/>
          </a:p>
        </p:txBody>
      </p:sp>
      <p:sp>
        <p:nvSpPr>
          <p:cNvPr id="9" name="Ruolo Comune"/>
          <p:cNvSpPr/>
          <p:nvPr/>
        </p:nvSpPr>
        <p:spPr>
          <a:xfrm>
            <a:off x="3371850" y="1280160"/>
            <a:ext cx="2594610" cy="5029200"/>
          </a:xfrm>
          <a:prstGeom prst="roundRect">
            <a:avLst>
              <a:gd name="adj" fmla="val 4229"/>
            </a:avLst>
          </a:prstGeom>
          <a:solidFill>
            <a:schemeClr val="bg2"/>
          </a:solidFill>
          <a:ln w="12700">
            <a:solidFill>
              <a:schemeClr val="bg2"/>
            </a:solidFill>
            <a:prstDash val="solid"/>
          </a:ln>
        </p:spPr>
      </p:sp>
      <p:sp>
        <p:nvSpPr>
          <p:cNvPr id="10" name="Barra Comune"/>
          <p:cNvSpPr/>
          <p:nvPr/>
        </p:nvSpPr>
        <p:spPr>
          <a:xfrm>
            <a:off x="3371850" y="1280160"/>
            <a:ext cx="2594610" cy="73152"/>
          </a:xfrm>
          <a:prstGeom prst="rect">
            <a:avLst/>
          </a:prstGeom>
          <a:solidFill>
            <a:schemeClr val="tx2"/>
          </a:solidFill>
          <a:ln w="12700">
            <a:solidFill>
              <a:schemeClr val="tx2"/>
            </a:solidFill>
            <a:prstDash val="solid"/>
          </a:ln>
        </p:spPr>
      </p:sp>
      <p:sp>
        <p:nvSpPr>
          <p:cNvPr id="11" name="Text 9"/>
          <p:cNvSpPr txBox="1"/>
          <p:nvPr/>
        </p:nvSpPr>
        <p:spPr>
          <a:xfrm>
            <a:off x="3554730" y="1463040"/>
            <a:ext cx="2228850" cy="731520"/>
          </a:xfrm>
          <a:prstGeom prst="rect">
            <a:avLst/>
          </a:prstGeom>
          <a:noFill/>
          <a:ln/>
        </p:spPr>
        <p:txBody>
          <a:bodyPr wrap="square" lIns="0" tIns="0" rIns="0" bIns="0" rtlCol="0" anchor="t"/>
          <a:lstStyle/>
          <a:p>
            <a:pPr indent="0" marL="0">
              <a:buNone/>
            </a:pPr>
            <a:r>
              <a:rPr lang="en-US" sz="1500" b="1" dirty="0">
                <a:solidFill>
                  <a:schemeClr val="tx2"/>
                </a:solidFill>
              </a:rPr>
              <a:t>Comune</a:t>
            </a:r>
            <a:endParaRPr lang="en-US" sz="1500" dirty="0"/>
          </a:p>
          <a:p>
            <a:pPr indent="0" marL="0">
              <a:buNone/>
            </a:pPr>
            <a:r>
              <a:rPr lang="en-US" sz="1150" dirty="0">
                <a:solidFill>
                  <a:schemeClr val="accent6"/>
                </a:solidFill>
              </a:rPr>
              <a:t>promotore del progetto</a:t>
            </a:r>
            <a:endParaRPr lang="en-US" sz="1500" dirty="0"/>
          </a:p>
        </p:txBody>
      </p:sp>
      <p:sp>
        <p:nvSpPr>
          <p:cNvPr id="12" name="Text 10"/>
          <p:cNvSpPr txBox="1"/>
          <p:nvPr/>
        </p:nvSpPr>
        <p:spPr>
          <a:xfrm>
            <a:off x="3554730" y="2240280"/>
            <a:ext cx="2274570" cy="29260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Un solo account, quello del rappresentante; fino a 2 delegati</a:t>
            </a:r>
            <a:endParaRPr lang="en-US" sz="1200" dirty="0"/>
          </a:p>
          <a:p>
            <a:pPr marL="342900" indent="-342900">
              <a:spcAft>
                <a:spcPts val="600"/>
              </a:spcAft>
              <a:buSzPct val="100000"/>
              <a:buChar char="•"/>
            </a:pPr>
            <a:r>
              <a:rPr lang="en-US" sz="1200" dirty="0">
                <a:solidFill>
                  <a:schemeClr val="tx1"/>
                </a:solidFill>
              </a:rPr>
              <a:t>Carica i documenti nelle fasi aperte, risponde a integrazioni e osservazioni</a:t>
            </a:r>
            <a:endParaRPr lang="en-US" sz="1200" dirty="0"/>
          </a:p>
          <a:p>
            <a:pPr marL="342900" indent="-342900">
              <a:spcAft>
                <a:spcPts val="600"/>
              </a:spcAft>
              <a:buSzPct val="100000"/>
              <a:buChar char="•"/>
            </a:pPr>
            <a:r>
              <a:rPr lang="en-US" sz="1200" dirty="0">
                <a:solidFill>
                  <a:schemeClr val="tx1"/>
                </a:solidFill>
              </a:rPr>
              <a:t>Vede scadenze, stato nel Programma, pagamenti, crediti; scarica il fascicolo; invia reclami</a:t>
            </a:r>
            <a:endParaRPr lang="en-US" sz="1200" dirty="0"/>
          </a:p>
        </p:txBody>
      </p:sp>
      <p:sp>
        <p:nvSpPr>
          <p:cNvPr id="13" name="Prossimo passo Comune"/>
          <p:cNvSpPr/>
          <p:nvPr/>
        </p:nvSpPr>
        <p:spPr>
          <a:xfrm>
            <a:off x="3509010" y="5303520"/>
            <a:ext cx="2320290" cy="868680"/>
          </a:xfrm>
          <a:prstGeom prst="roundRect">
            <a:avLst>
              <a:gd name="adj" fmla="val 12632"/>
            </a:avLst>
          </a:prstGeom>
          <a:solidFill>
            <a:schemeClr val="bg1"/>
          </a:solidFill>
          <a:ln w="12700">
            <a:solidFill>
              <a:schemeClr val="bg1"/>
            </a:solidFill>
            <a:prstDash val="solid"/>
          </a:ln>
        </p:spPr>
      </p:sp>
      <p:sp>
        <p:nvSpPr>
          <p:cNvPr id="14" name="Text 12"/>
          <p:cNvSpPr txBox="1"/>
          <p:nvPr/>
        </p:nvSpPr>
        <p:spPr>
          <a:xfrm>
            <a:off x="3618738" y="5349240"/>
            <a:ext cx="2100834" cy="777240"/>
          </a:xfrm>
          <a:prstGeom prst="rect">
            <a:avLst/>
          </a:prstGeom>
          <a:noFill/>
          <a:ln/>
        </p:spPr>
        <p:txBody>
          <a:bodyPr wrap="square" lIns="0" tIns="0" rIns="0" bIns="0" rtlCol="0" anchor="ctr"/>
          <a:lstStyle/>
          <a:p>
            <a:pPr indent="0" marL="0">
              <a:buNone/>
            </a:pPr>
            <a:r>
              <a:rPr lang="en-US" sz="1050" b="1" dirty="0">
                <a:solidFill>
                  <a:schemeClr val="accent2"/>
                </a:solidFill>
              </a:rPr>
              <a:t>Prossimo passo</a:t>
            </a:r>
            <a:endParaRPr lang="en-US" sz="1050" dirty="0"/>
          </a:p>
          <a:p>
            <a:pPr indent="0" marL="0">
              <a:buNone/>
            </a:pPr>
            <a:r>
              <a:rPr lang="en-US" sz="1100" dirty="0">
                <a:solidFill>
                  <a:schemeClr val="tx1"/>
                </a:solidFill>
              </a:rPr>
              <a:t>Collaudo con i dati reali di un Comune</a:t>
            </a:r>
            <a:endParaRPr lang="en-US" sz="1050" dirty="0"/>
          </a:p>
        </p:txBody>
      </p:sp>
      <p:sp>
        <p:nvSpPr>
          <p:cNvPr id="15" name="Ruolo Ente di validazione e verifica"/>
          <p:cNvSpPr/>
          <p:nvPr/>
        </p:nvSpPr>
        <p:spPr>
          <a:xfrm>
            <a:off x="6195060" y="1280160"/>
            <a:ext cx="2594610" cy="5029200"/>
          </a:xfrm>
          <a:prstGeom prst="roundRect">
            <a:avLst>
              <a:gd name="adj" fmla="val 4229"/>
            </a:avLst>
          </a:prstGeom>
          <a:solidFill>
            <a:schemeClr val="bg2"/>
          </a:solidFill>
          <a:ln w="12700">
            <a:solidFill>
              <a:schemeClr val="bg2"/>
            </a:solidFill>
            <a:prstDash val="solid"/>
          </a:ln>
        </p:spPr>
      </p:sp>
      <p:sp>
        <p:nvSpPr>
          <p:cNvPr id="16" name="Barra Ente di validazione e verifica"/>
          <p:cNvSpPr/>
          <p:nvPr/>
        </p:nvSpPr>
        <p:spPr>
          <a:xfrm>
            <a:off x="6195060" y="1280160"/>
            <a:ext cx="2594610" cy="73152"/>
          </a:xfrm>
          <a:prstGeom prst="rect">
            <a:avLst/>
          </a:prstGeom>
          <a:solidFill>
            <a:schemeClr val="accent2"/>
          </a:solidFill>
          <a:ln w="12700">
            <a:solidFill>
              <a:schemeClr val="accent2"/>
            </a:solidFill>
            <a:prstDash val="solid"/>
          </a:ln>
        </p:spPr>
      </p:sp>
      <p:sp>
        <p:nvSpPr>
          <p:cNvPr id="17" name="Text 15"/>
          <p:cNvSpPr txBox="1"/>
          <p:nvPr/>
        </p:nvSpPr>
        <p:spPr>
          <a:xfrm>
            <a:off x="6377940" y="1463040"/>
            <a:ext cx="2228850" cy="731520"/>
          </a:xfrm>
          <a:prstGeom prst="rect">
            <a:avLst/>
          </a:prstGeom>
          <a:noFill/>
          <a:ln/>
        </p:spPr>
        <p:txBody>
          <a:bodyPr wrap="square" lIns="0" tIns="0" rIns="0" bIns="0" rtlCol="0" anchor="t"/>
          <a:lstStyle/>
          <a:p>
            <a:pPr indent="0" marL="0">
              <a:buNone/>
            </a:pPr>
            <a:r>
              <a:rPr lang="en-US" sz="1500" b="1" dirty="0">
                <a:solidFill>
                  <a:schemeClr val="tx2"/>
                </a:solidFill>
              </a:rPr>
              <a:t>Ente di validazione e verifica</a:t>
            </a:r>
            <a:endParaRPr lang="en-US" sz="1500" dirty="0"/>
          </a:p>
          <a:p>
            <a:pPr indent="0" marL="0">
              <a:buNone/>
            </a:pPr>
            <a:r>
              <a:rPr lang="en-US" sz="1150" dirty="0">
                <a:solidFill>
                  <a:schemeClr val="accent6"/>
                </a:solidFill>
              </a:rPr>
              <a:t>ISO 14065 o 17029</a:t>
            </a:r>
            <a:endParaRPr lang="en-US" sz="1500" dirty="0"/>
          </a:p>
        </p:txBody>
      </p:sp>
      <p:sp>
        <p:nvSpPr>
          <p:cNvPr id="18" name="Text 16"/>
          <p:cNvSpPr txBox="1"/>
          <p:nvPr/>
        </p:nvSpPr>
        <p:spPr>
          <a:xfrm>
            <a:off x="6377940" y="2240280"/>
            <a:ext cx="2274570" cy="29260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Censito in Anagrafiche e assegnato alle pratiche</a:t>
            </a:r>
            <a:endParaRPr lang="en-US" sz="1200" dirty="0"/>
          </a:p>
          <a:p>
            <a:pPr marL="342900" indent="-342900">
              <a:spcAft>
                <a:spcPts val="600"/>
              </a:spcAft>
              <a:buSzPct val="100000"/>
              <a:buChar char="•"/>
            </a:pPr>
            <a:r>
              <a:rPr lang="en-US" sz="1200" dirty="0">
                <a:solidFill>
                  <a:schemeClr val="tx1"/>
                </a:solidFill>
              </a:rPr>
              <a:t>Rapporti di validazione e di verifica e dichiarazioni: li carica la Fondazione e diventano pubblici</a:t>
            </a:r>
            <a:endParaRPr lang="en-US" sz="1200" dirty="0"/>
          </a:p>
          <a:p>
            <a:pPr marL="342900" indent="-342900">
              <a:spcAft>
                <a:spcPts val="600"/>
              </a:spcAft>
              <a:buSzPct val="100000"/>
              <a:buChar char="•"/>
            </a:pPr>
            <a:r>
              <a:rPr lang="en-US" sz="1200" dirty="0">
                <a:solidFill>
                  <a:schemeClr val="tx1"/>
                </a:solidFill>
              </a:rPr>
              <a:t>Tempi della Guida (75 e 60 giorni) seguiti con le scadenze delle fasi</a:t>
            </a:r>
            <a:endParaRPr lang="en-US" sz="1200" dirty="0"/>
          </a:p>
        </p:txBody>
      </p:sp>
      <p:sp>
        <p:nvSpPr>
          <p:cNvPr id="19" name="Prossimo passo Ente di validazione e verifica"/>
          <p:cNvSpPr/>
          <p:nvPr/>
        </p:nvSpPr>
        <p:spPr>
          <a:xfrm>
            <a:off x="6332220" y="5303520"/>
            <a:ext cx="2320290" cy="868680"/>
          </a:xfrm>
          <a:prstGeom prst="roundRect">
            <a:avLst>
              <a:gd name="adj" fmla="val 12632"/>
            </a:avLst>
          </a:prstGeom>
          <a:solidFill>
            <a:schemeClr val="bg1"/>
          </a:solidFill>
          <a:ln w="12700">
            <a:solidFill>
              <a:schemeClr val="bg1"/>
            </a:solidFill>
            <a:prstDash val="solid"/>
          </a:ln>
        </p:spPr>
      </p:sp>
      <p:sp>
        <p:nvSpPr>
          <p:cNvPr id="20" name="Text 18"/>
          <p:cNvSpPr txBox="1"/>
          <p:nvPr/>
        </p:nvSpPr>
        <p:spPr>
          <a:xfrm>
            <a:off x="6441948" y="5349240"/>
            <a:ext cx="2100834" cy="777240"/>
          </a:xfrm>
          <a:prstGeom prst="rect">
            <a:avLst/>
          </a:prstGeom>
          <a:noFill/>
          <a:ln/>
        </p:spPr>
        <p:txBody>
          <a:bodyPr wrap="square" lIns="0" tIns="0" rIns="0" bIns="0" rtlCol="0" anchor="ctr"/>
          <a:lstStyle/>
          <a:p>
            <a:pPr indent="0" marL="0">
              <a:buNone/>
            </a:pPr>
            <a:r>
              <a:rPr lang="en-US" sz="1050" b="1" dirty="0">
                <a:solidFill>
                  <a:schemeClr val="accent2"/>
                </a:solidFill>
              </a:rPr>
              <a:t>Prossimo passo</a:t>
            </a:r>
            <a:endParaRPr lang="en-US" sz="1050" dirty="0"/>
          </a:p>
          <a:p>
            <a:pPr indent="0" marL="0">
              <a:buNone/>
            </a:pPr>
            <a:r>
              <a:rPr lang="en-US" sz="1100" dirty="0">
                <a:solidFill>
                  <a:schemeClr val="tx1"/>
                </a:solidFill>
              </a:rPr>
              <a:t>Sviluppo proposto: accesso dell'ente per caricare direttamente i rapporti firmati</a:t>
            </a:r>
            <a:endParaRPr lang="en-US" sz="1050" dirty="0"/>
          </a:p>
        </p:txBody>
      </p:sp>
      <p:sp>
        <p:nvSpPr>
          <p:cNvPr id="21" name="Ruolo Pubblico e registri"/>
          <p:cNvSpPr/>
          <p:nvPr/>
        </p:nvSpPr>
        <p:spPr>
          <a:xfrm>
            <a:off x="9018270" y="1280160"/>
            <a:ext cx="2594610" cy="5029200"/>
          </a:xfrm>
          <a:prstGeom prst="roundRect">
            <a:avLst>
              <a:gd name="adj" fmla="val 4229"/>
            </a:avLst>
          </a:prstGeom>
          <a:solidFill>
            <a:schemeClr val="bg2"/>
          </a:solidFill>
          <a:ln w="12700">
            <a:solidFill>
              <a:schemeClr val="bg2"/>
            </a:solidFill>
            <a:prstDash val="solid"/>
          </a:ln>
        </p:spPr>
      </p:sp>
      <p:sp>
        <p:nvSpPr>
          <p:cNvPr id="22" name="Barra Pubblico e registri"/>
          <p:cNvSpPr/>
          <p:nvPr/>
        </p:nvSpPr>
        <p:spPr>
          <a:xfrm>
            <a:off x="9018270" y="1280160"/>
            <a:ext cx="2594610" cy="73152"/>
          </a:xfrm>
          <a:prstGeom prst="rect">
            <a:avLst/>
          </a:prstGeom>
          <a:solidFill>
            <a:schemeClr val="accent2"/>
          </a:solidFill>
          <a:ln w="12700">
            <a:solidFill>
              <a:schemeClr val="accent2"/>
            </a:solidFill>
            <a:prstDash val="solid"/>
          </a:ln>
        </p:spPr>
      </p:sp>
      <p:sp>
        <p:nvSpPr>
          <p:cNvPr id="23" name="Text 21"/>
          <p:cNvSpPr txBox="1"/>
          <p:nvPr/>
        </p:nvSpPr>
        <p:spPr>
          <a:xfrm>
            <a:off x="9201150" y="1463040"/>
            <a:ext cx="2228850" cy="731520"/>
          </a:xfrm>
          <a:prstGeom prst="rect">
            <a:avLst/>
          </a:prstGeom>
          <a:noFill/>
          <a:ln/>
        </p:spPr>
        <p:txBody>
          <a:bodyPr wrap="square" lIns="0" tIns="0" rIns="0" bIns="0" rtlCol="0" anchor="t"/>
          <a:lstStyle/>
          <a:p>
            <a:pPr indent="0" marL="0">
              <a:buNone/>
            </a:pPr>
            <a:r>
              <a:rPr lang="en-US" sz="1500" b="1" dirty="0">
                <a:solidFill>
                  <a:schemeClr val="tx2"/>
                </a:solidFill>
              </a:rPr>
              <a:t>Pubblico e registri</a:t>
            </a:r>
            <a:endParaRPr lang="en-US" sz="1500" dirty="0"/>
          </a:p>
          <a:p>
            <a:pPr indent="0" marL="0">
              <a:buNone/>
            </a:pPr>
            <a:r>
              <a:rPr lang="en-US" sz="1150" dirty="0">
                <a:solidFill>
                  <a:schemeClr val="accent6"/>
                </a:solidFill>
              </a:rPr>
              <a:t>stakeholders, piattaforme di scambio</a:t>
            </a:r>
            <a:endParaRPr lang="en-US" sz="1500" dirty="0"/>
          </a:p>
        </p:txBody>
      </p:sp>
      <p:sp>
        <p:nvSpPr>
          <p:cNvPr id="24" name="Text 22"/>
          <p:cNvSpPr txBox="1"/>
          <p:nvPr/>
        </p:nvSpPr>
        <p:spPr>
          <a:xfrm>
            <a:off x="9201150" y="2240280"/>
            <a:ext cx="2274570" cy="29260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Pagina /programma: documenti ufficiali, progetti, crediti emessi</a:t>
            </a:r>
            <a:endParaRPr lang="en-US" sz="1200" dirty="0"/>
          </a:p>
          <a:p>
            <a:pPr marL="342900" indent="-342900">
              <a:spcAft>
                <a:spcPts val="600"/>
              </a:spcAft>
              <a:buSzPct val="100000"/>
              <a:buChar char="•"/>
            </a:pPr>
            <a:r>
              <a:rPr lang="en-US" sz="1200" dirty="0">
                <a:solidFill>
                  <a:schemeClr val="tx1"/>
                </a:solidFill>
              </a:rPr>
              <a:t>Feedback pubblico con email confermata; reclami alla PEC</a:t>
            </a:r>
            <a:endParaRPr lang="en-US" sz="1200" dirty="0"/>
          </a:p>
          <a:p>
            <a:pPr marL="342900" indent="-342900">
              <a:spcAft>
                <a:spcPts val="600"/>
              </a:spcAft>
              <a:buSzPct val="100000"/>
              <a:buChar char="•"/>
            </a:pPr>
            <a:r>
              <a:rPr lang="en-US" sz="1200" dirty="0">
                <a:solidFill>
                  <a:schemeClr val="tx1"/>
                </a:solidFill>
              </a:rPr>
              <a:t>Vendite e cancellazioni del registro registrate dalla Fondazione</a:t>
            </a:r>
            <a:endParaRPr lang="en-US" sz="1200" dirty="0"/>
          </a:p>
        </p:txBody>
      </p:sp>
      <p:sp>
        <p:nvSpPr>
          <p:cNvPr id="25" name="Prossimo passo Pubblico e registri"/>
          <p:cNvSpPr/>
          <p:nvPr/>
        </p:nvSpPr>
        <p:spPr>
          <a:xfrm>
            <a:off x="9155430" y="5303520"/>
            <a:ext cx="2320290" cy="868680"/>
          </a:xfrm>
          <a:prstGeom prst="roundRect">
            <a:avLst>
              <a:gd name="adj" fmla="val 12632"/>
            </a:avLst>
          </a:prstGeom>
          <a:solidFill>
            <a:schemeClr val="bg1"/>
          </a:solidFill>
          <a:ln w="12700">
            <a:solidFill>
              <a:schemeClr val="bg1"/>
            </a:solidFill>
            <a:prstDash val="solid"/>
          </a:ln>
        </p:spPr>
      </p:sp>
      <p:sp>
        <p:nvSpPr>
          <p:cNvPr id="26" name="Text 24"/>
          <p:cNvSpPr txBox="1"/>
          <p:nvPr/>
        </p:nvSpPr>
        <p:spPr>
          <a:xfrm>
            <a:off x="9265158" y="5349240"/>
            <a:ext cx="2100834" cy="777240"/>
          </a:xfrm>
          <a:prstGeom prst="rect">
            <a:avLst/>
          </a:prstGeom>
          <a:noFill/>
          <a:ln/>
        </p:spPr>
        <p:txBody>
          <a:bodyPr wrap="square" lIns="0" tIns="0" rIns="0" bIns="0" rtlCol="0" anchor="ctr"/>
          <a:lstStyle/>
          <a:p>
            <a:pPr indent="0" marL="0">
              <a:buNone/>
            </a:pPr>
            <a:r>
              <a:rPr lang="en-US" sz="1050" b="1" dirty="0">
                <a:solidFill>
                  <a:schemeClr val="accent2"/>
                </a:solidFill>
              </a:rPr>
              <a:t>Prossimo passo</a:t>
            </a:r>
            <a:endParaRPr lang="en-US" sz="1050" dirty="0"/>
          </a:p>
          <a:p>
            <a:pPr indent="0" marL="0">
              <a:buNone/>
            </a:pPr>
            <a:r>
              <a:rPr lang="en-US" sz="1100" dirty="0">
                <a:solidFill>
                  <a:schemeClr val="tx1"/>
                </a:solidFill>
              </a:rPr>
              <a:t>Da fare: SPID, CIE o CNS; collegamento diretto ai registri</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Novità dal 19 al 21 ottobre</a:t>
            </a:r>
            <a:endParaRPr lang="en-US" sz="3000" dirty="0"/>
          </a:p>
        </p:txBody>
      </p:sp>
      <p:pic>
        <p:nvPicPr>
          <p:cNvPr id="3" name="Schermata Dashboard" descr="Dashboard con la barra a LED delle 7 fasi per ogni pratica (dati di prova)">    </p:cNvPr>
          <p:cNvPicPr>
            <a:picLocks noChangeAspect="1"/>
          </p:cNvPicPr>
          <p:nvPr/>
        </p:nvPicPr>
        <p:blipFill>
          <a:blip r:embed="rId1"/>
          <a:stretch>
            <a:fillRect/>
          </a:stretch>
        </p:blipFill>
        <p:spPr>
          <a:xfrm>
            <a:off x="548640" y="1188720"/>
            <a:ext cx="6949440" cy="2895600"/>
          </a:xfrm>
          <a:prstGeom prst="rect">
            <a:avLst/>
          </a:prstGeom>
        </p:spPr>
      </p:pic>
      <p:sp>
        <p:nvSpPr>
          <p:cNvPr id="4" name="Text 1"/>
          <p:cNvSpPr txBox="1"/>
          <p:nvPr/>
        </p:nvSpPr>
        <p:spPr>
          <a:xfrm>
            <a:off x="548640" y="4114800"/>
            <a:ext cx="6949440" cy="228600"/>
          </a:xfrm>
          <a:prstGeom prst="rect">
            <a:avLst/>
          </a:prstGeom>
          <a:noFill/>
          <a:ln/>
        </p:spPr>
        <p:txBody>
          <a:bodyPr wrap="square" lIns="0" tIns="0" rIns="0" bIns="0" rtlCol="0" anchor="ctr"/>
          <a:lstStyle/>
          <a:p>
            <a:pPr indent="0" marL="0">
              <a:buNone/>
            </a:pPr>
            <a:r>
              <a:rPr lang="en-US" sz="1000" i="1" dirty="0">
                <a:solidFill>
                  <a:schemeClr val="accent6"/>
                </a:solidFill>
              </a:rPr>
              <a:t>Dashboard con dati di prova</a:t>
            </a:r>
            <a:endParaRPr lang="en-US" sz="1000" dirty="0"/>
          </a:p>
        </p:txBody>
      </p:sp>
      <p:sp>
        <p:nvSpPr>
          <p:cNvPr id="5" name="Legenda Fasi completate"/>
          <p:cNvSpPr/>
          <p:nvPr/>
        </p:nvSpPr>
        <p:spPr>
          <a:xfrm>
            <a:off x="548640" y="4434840"/>
            <a:ext cx="2194560" cy="777240"/>
          </a:xfrm>
          <a:prstGeom prst="roundRect">
            <a:avLst>
              <a:gd name="adj" fmla="val 14118"/>
            </a:avLst>
          </a:prstGeom>
          <a:solidFill>
            <a:schemeClr val="bg2"/>
          </a:solidFill>
          <a:ln w="12700">
            <a:solidFill>
              <a:schemeClr val="bg2"/>
            </a:solidFill>
            <a:prstDash val="solid"/>
          </a:ln>
        </p:spPr>
      </p:sp>
      <p:sp>
        <p:nvSpPr>
          <p:cNvPr id="6" name="Text 3"/>
          <p:cNvSpPr txBox="1"/>
          <p:nvPr/>
        </p:nvSpPr>
        <p:spPr>
          <a:xfrm>
            <a:off x="685800" y="4434840"/>
            <a:ext cx="1920240" cy="777240"/>
          </a:xfrm>
          <a:prstGeom prst="rect">
            <a:avLst/>
          </a:prstGeom>
          <a:noFill/>
          <a:ln/>
        </p:spPr>
        <p:txBody>
          <a:bodyPr wrap="square" lIns="0" tIns="0" rIns="0" bIns="0" rtlCol="0" anchor="ctr"/>
          <a:lstStyle/>
          <a:p>
            <a:pPr indent="0" marL="0">
              <a:buNone/>
            </a:pPr>
            <a:r>
              <a:rPr lang="en-US" sz="1300" b="1" dirty="0">
                <a:solidFill>
                  <a:schemeClr val="tx2"/>
                </a:solidFill>
              </a:rPr>
              <a:t>Fasi completate</a:t>
            </a:r>
            <a:endParaRPr lang="en-US" sz="1300" dirty="0"/>
          </a:p>
          <a:p>
            <a:pPr indent="0" marL="0">
              <a:buNone/>
            </a:pPr>
            <a:r>
              <a:rPr lang="en-US" sz="1150" dirty="0">
                <a:solidFill>
                  <a:schemeClr val="tx1"/>
                </a:solidFill>
              </a:rPr>
              <a:t>luci accese (ambra)</a:t>
            </a:r>
            <a:endParaRPr lang="en-US" sz="1300" dirty="0"/>
          </a:p>
        </p:txBody>
      </p:sp>
      <p:sp>
        <p:nvSpPr>
          <p:cNvPr id="7" name="Legenda Fase in corso"/>
          <p:cNvSpPr/>
          <p:nvPr/>
        </p:nvSpPr>
        <p:spPr>
          <a:xfrm>
            <a:off x="2926080" y="4434840"/>
            <a:ext cx="2194560" cy="777240"/>
          </a:xfrm>
          <a:prstGeom prst="roundRect">
            <a:avLst>
              <a:gd name="adj" fmla="val 14118"/>
            </a:avLst>
          </a:prstGeom>
          <a:solidFill>
            <a:schemeClr val="bg2"/>
          </a:solidFill>
          <a:ln w="12700">
            <a:solidFill>
              <a:schemeClr val="bg2"/>
            </a:solidFill>
            <a:prstDash val="solid"/>
          </a:ln>
        </p:spPr>
      </p:sp>
      <p:sp>
        <p:nvSpPr>
          <p:cNvPr id="8" name="Text 5"/>
          <p:cNvSpPr txBox="1"/>
          <p:nvPr/>
        </p:nvSpPr>
        <p:spPr>
          <a:xfrm>
            <a:off x="3063240" y="4434840"/>
            <a:ext cx="1920240" cy="777240"/>
          </a:xfrm>
          <a:prstGeom prst="rect">
            <a:avLst/>
          </a:prstGeom>
          <a:noFill/>
          <a:ln/>
        </p:spPr>
        <p:txBody>
          <a:bodyPr wrap="square" lIns="0" tIns="0" rIns="0" bIns="0" rtlCol="0" anchor="ctr"/>
          <a:lstStyle/>
          <a:p>
            <a:pPr indent="0" marL="0">
              <a:buNone/>
            </a:pPr>
            <a:r>
              <a:rPr lang="en-US" sz="1300" b="1" dirty="0">
                <a:solidFill>
                  <a:schemeClr val="tx2"/>
                </a:solidFill>
              </a:rPr>
              <a:t>Fase in corso</a:t>
            </a:r>
            <a:endParaRPr lang="en-US" sz="1300" dirty="0"/>
          </a:p>
          <a:p>
            <a:pPr indent="0" marL="0">
              <a:buNone/>
            </a:pPr>
            <a:r>
              <a:rPr lang="en-US" sz="1150" dirty="0">
                <a:solidFill>
                  <a:schemeClr val="tx1"/>
                </a:solidFill>
              </a:rPr>
              <a:t>spenta, con contorno</a:t>
            </a:r>
            <a:endParaRPr lang="en-US" sz="1300" dirty="0"/>
          </a:p>
        </p:txBody>
      </p:sp>
      <p:sp>
        <p:nvSpPr>
          <p:cNvPr id="9" name="Legenda Chiusura"/>
          <p:cNvSpPr/>
          <p:nvPr/>
        </p:nvSpPr>
        <p:spPr>
          <a:xfrm>
            <a:off x="5303520" y="4434840"/>
            <a:ext cx="2194560" cy="777240"/>
          </a:xfrm>
          <a:prstGeom prst="roundRect">
            <a:avLst>
              <a:gd name="adj" fmla="val 14118"/>
            </a:avLst>
          </a:prstGeom>
          <a:solidFill>
            <a:schemeClr val="accent3"/>
          </a:solidFill>
          <a:ln w="12700">
            <a:solidFill>
              <a:schemeClr val="accent3"/>
            </a:solidFill>
            <a:prstDash val="solid"/>
          </a:ln>
        </p:spPr>
      </p:sp>
      <p:sp>
        <p:nvSpPr>
          <p:cNvPr id="10" name="Text 7"/>
          <p:cNvSpPr txBox="1"/>
          <p:nvPr/>
        </p:nvSpPr>
        <p:spPr>
          <a:xfrm>
            <a:off x="5440680" y="4434840"/>
            <a:ext cx="1920240" cy="777240"/>
          </a:xfrm>
          <a:prstGeom prst="rect">
            <a:avLst/>
          </a:prstGeom>
          <a:noFill/>
          <a:ln/>
        </p:spPr>
        <p:txBody>
          <a:bodyPr wrap="square" lIns="0" tIns="0" rIns="0" bIns="0" rtlCol="0" anchor="ctr"/>
          <a:lstStyle/>
          <a:p>
            <a:pPr indent="0" marL="0">
              <a:buNone/>
            </a:pPr>
            <a:r>
              <a:rPr lang="en-US" sz="1300" b="1" dirty="0">
                <a:solidFill>
                  <a:schemeClr val="tx2"/>
                </a:solidFill>
              </a:rPr>
              <a:t>Chiusura</a:t>
            </a:r>
            <a:endParaRPr lang="en-US" sz="1300" dirty="0"/>
          </a:p>
          <a:p>
            <a:pPr indent="0" marL="0">
              <a:buNone/>
            </a:pPr>
            <a:r>
              <a:rPr lang="en-US" sz="1150" dirty="0">
                <a:solidFill>
                  <a:schemeClr val="tx1"/>
                </a:solidFill>
              </a:rPr>
              <a:t>la settima luce è verde</a:t>
            </a:r>
            <a:endParaRPr lang="en-US" sz="1300" dirty="0"/>
          </a:p>
        </p:txBody>
      </p:sp>
      <p:sp>
        <p:nvSpPr>
          <p:cNvPr id="11" name="Ordinamento"/>
          <p:cNvSpPr/>
          <p:nvPr/>
        </p:nvSpPr>
        <p:spPr>
          <a:xfrm>
            <a:off x="548640" y="5394960"/>
            <a:ext cx="6949440" cy="868680"/>
          </a:xfrm>
          <a:prstGeom prst="roundRect">
            <a:avLst>
              <a:gd name="adj" fmla="val 12632"/>
            </a:avLst>
          </a:prstGeom>
          <a:solidFill>
            <a:schemeClr val="accent4"/>
          </a:solidFill>
          <a:ln w="12700">
            <a:solidFill>
              <a:schemeClr val="accent4"/>
            </a:solidFill>
            <a:prstDash val="solid"/>
          </a:ln>
        </p:spPr>
      </p:sp>
      <p:sp>
        <p:nvSpPr>
          <p:cNvPr id="12" name="Text 9"/>
          <p:cNvSpPr txBox="1"/>
          <p:nvPr/>
        </p:nvSpPr>
        <p:spPr>
          <a:xfrm>
            <a:off x="731520" y="5394960"/>
            <a:ext cx="6583680" cy="868680"/>
          </a:xfrm>
          <a:prstGeom prst="rect">
            <a:avLst/>
          </a:prstGeom>
          <a:noFill/>
          <a:ln/>
        </p:spPr>
        <p:txBody>
          <a:bodyPr wrap="square" lIns="0" tIns="0" rIns="0" bIns="0" rtlCol="0" anchor="ctr"/>
          <a:lstStyle/>
          <a:p>
            <a:pPr indent="0" marL="0">
              <a:buNone/>
            </a:pPr>
            <a:r>
              <a:rPr lang="en-US" sz="1300" b="1" dirty="0">
                <a:solidFill>
                  <a:schemeClr val="tx2"/>
                </a:solidFill>
              </a:rPr>
              <a:t>Tutte le tabelle si ordinano per colonna </a:t>
            </a:r>
            <a:pPr indent="0" marL="0">
              <a:buNone/>
            </a:pPr>
            <a:r>
              <a:rPr lang="en-US" sz="1300" dirty="0">
                <a:solidFill>
                  <a:schemeClr val="tx1"/>
                </a:solidFill>
              </a:rPr>
              <a:t>(clic sull'intestazione: ▲ crescente, ▼ decrescente); negli elenchi a schede c'è «Ordina per».</a:t>
            </a:r>
            <a:endParaRPr lang="en-US" sz="1300" dirty="0"/>
          </a:p>
        </p:txBody>
      </p:sp>
      <p:sp>
        <p:nvSpPr>
          <p:cNvPr id="13" name="Elenco novità"/>
          <p:cNvSpPr/>
          <p:nvPr/>
        </p:nvSpPr>
        <p:spPr>
          <a:xfrm>
            <a:off x="7726680" y="1188720"/>
            <a:ext cx="3886200" cy="5074920"/>
          </a:xfrm>
          <a:prstGeom prst="roundRect">
            <a:avLst>
              <a:gd name="adj" fmla="val 2824"/>
            </a:avLst>
          </a:prstGeom>
          <a:solidFill>
            <a:schemeClr val="bg2"/>
          </a:solidFill>
          <a:ln w="12700">
            <a:solidFill>
              <a:schemeClr val="bg2"/>
            </a:solidFill>
            <a:prstDash val="solid"/>
          </a:ln>
        </p:spPr>
      </p:sp>
      <p:sp>
        <p:nvSpPr>
          <p:cNvPr id="14" name="Text 11"/>
          <p:cNvSpPr txBox="1"/>
          <p:nvPr/>
        </p:nvSpPr>
        <p:spPr>
          <a:xfrm>
            <a:off x="7909560" y="1325880"/>
            <a:ext cx="3566160" cy="4846320"/>
          </a:xfrm>
          <a:prstGeom prst="rect">
            <a:avLst/>
          </a:prstGeom>
          <a:noFill/>
          <a:ln/>
        </p:spPr>
        <p:txBody>
          <a:bodyPr wrap="square" lIns="0" tIns="0" rIns="0" bIns="0" rtlCol="0" anchor="t"/>
          <a:lstStyle/>
          <a:p>
            <a:pPr indent="0" marL="0">
              <a:spcAft>
                <a:spcPts val="500"/>
              </a:spcAft>
              <a:buNone/>
            </a:pPr>
            <a:r>
              <a:rPr lang="en-US" sz="1350" b="1" dirty="0">
                <a:solidFill>
                  <a:schemeClr val="tx2"/>
                </a:solidFill>
              </a:rPr>
              <a:t>Utenti</a:t>
            </a:r>
            <a:endParaRPr lang="en-US" sz="1350" dirty="0"/>
          </a:p>
          <a:p>
            <a:pPr indent="0" marL="0">
              <a:spcAft>
                <a:spcPts val="500"/>
              </a:spcAft>
              <a:buNone/>
            </a:pPr>
            <a:r>
              <a:rPr lang="en-US" sz="1200" dirty="0">
                <a:solidFill>
                  <a:schemeClr val="tx1"/>
                </a:solidFill>
              </a:rPr>
              <a:t>più amministratori; luca.moretti@operate.it è il principale e ha la sezione «Audit User»: chi è online, accessi e operazioni di ogni utente (20/10)</a:t>
            </a:r>
            <a:endParaRPr lang="en-US" sz="1350" dirty="0"/>
          </a:p>
          <a:p>
            <a:pPr indent="0" marL="0">
              <a:spcAft>
                <a:spcPts val="500"/>
              </a:spcAft>
              <a:buNone/>
            </a:pPr>
            <a:r>
              <a:rPr lang="en-US" sz="1350" b="1" dirty="0">
                <a:solidFill>
                  <a:schemeClr val="tx2"/>
                </a:solidFill>
              </a:rPr>
              <a:t>Credenziali per email</a:t>
            </a:r>
            <a:endParaRPr lang="en-US" sz="1350" dirty="0"/>
          </a:p>
          <a:p>
            <a:pPr indent="0" marL="0">
              <a:spcAft>
                <a:spcPts val="500"/>
              </a:spcAft>
              <a:buNone/>
            </a:pPr>
            <a:r>
              <a:rPr lang="en-US" sz="1200" dirty="0">
                <a:solidFill>
                  <a:schemeClr val="tx1"/>
                </a:solidFill>
              </a:rPr>
              <a:t>al nuovo utente arrivano indirizzo, email e password temporanea (a tutti dopo la verifica del dominio)</a:t>
            </a:r>
            <a:endParaRPr lang="en-US" sz="1350" dirty="0"/>
          </a:p>
          <a:p>
            <a:pPr indent="0" marL="0">
              <a:spcAft>
                <a:spcPts val="500"/>
              </a:spcAft>
              <a:buNone/>
            </a:pPr>
            <a:r>
              <a:rPr lang="en-US" sz="1350" b="1" dirty="0">
                <a:solidFill>
                  <a:schemeClr val="tx2"/>
                </a:solidFill>
              </a:rPr>
              <a:t>Assistente virtuale</a:t>
            </a:r>
            <a:endParaRPr lang="en-US" sz="1350" dirty="0"/>
          </a:p>
          <a:p>
            <a:pPr indent="0" marL="0">
              <a:spcAft>
                <a:spcPts val="500"/>
              </a:spcAft>
              <a:buNone/>
            </a:pPr>
            <a:r>
              <a:rPr lang="en-US" sz="1200" dirty="0">
                <a:solidFill>
                  <a:schemeClr val="tx1"/>
                </a:solidFill>
              </a:rPr>
              <a:t>«✦ Assistente» con Claude per enti e Amministratori, dai manuali e dalle tariffe; attivo dal 19/10, errori in italiano dal 20/10</a:t>
            </a:r>
            <a:endParaRPr lang="en-US" sz="1350" dirty="0"/>
          </a:p>
          <a:p>
            <a:pPr indent="0" marL="0">
              <a:spcAft>
                <a:spcPts val="500"/>
              </a:spcAft>
              <a:buNone/>
            </a:pPr>
            <a:r>
              <a:rPr lang="en-US" sz="1350" b="1" dirty="0">
                <a:solidFill>
                  <a:schemeClr val="tx2"/>
                </a:solidFill>
              </a:rPr>
              <a:t>Simulatore</a:t>
            </a:r>
            <a:endParaRPr lang="en-US" sz="1350" dirty="0"/>
          </a:p>
          <a:p>
            <a:pPr indent="0" marL="0">
              <a:spcAft>
                <a:spcPts val="500"/>
              </a:spcAft>
              <a:buNone/>
            </a:pPr>
            <a:r>
              <a:rPr lang="en-US" sz="1200" dirty="0">
                <a:solidFill>
                  <a:schemeClr val="tx1"/>
                </a:solidFill>
              </a:rPr>
              <a:t>metodo «per utenza, solo utenze virtuose» come nell'Allegato A EsaCom; dal 20/10 PDF impaginato ed export Excel; dal 21/10 il PDF riporta tutti i dati inseriti, i costi e quattro grafici</a:t>
            </a:r>
            <a:endParaRPr lang="en-US" sz="1350" dirty="0"/>
          </a:p>
          <a:p>
            <a:pPr indent="0" marL="0">
              <a:spcAft>
                <a:spcPts val="500"/>
              </a:spcAft>
              <a:buNone/>
            </a:pPr>
            <a:r>
              <a:rPr lang="en-US" sz="1350" b="1" dirty="0">
                <a:solidFill>
                  <a:schemeClr val="tx2"/>
                </a:solidFill>
              </a:rPr>
              <a:t>Menu e documenti</a:t>
            </a:r>
            <a:endParaRPr lang="en-US" sz="1350" dirty="0"/>
          </a:p>
          <a:p>
            <a:pPr indent="0" marL="0">
              <a:spcAft>
                <a:spcPts val="500"/>
              </a:spcAft>
              <a:buNone/>
            </a:pPr>
            <a:r>
              <a:rPr lang="en-US" sz="1200" dirty="0">
                <a:solidFill>
                  <a:schemeClr val="tx1"/>
                </a:solidFill>
              </a:rPr>
              <a:t>menu per ruolo; dal 21/10 «Notizie CO2», osservatorio sui crediti volontari aggiornato ogni 2 ore (Admin); «Marketplaces» in arrivo; 8 documenti ufficiali v1.2</a:t>
            </a:r>
            <a:endParaRPr lang="en-US" sz="1350" dirty="0"/>
          </a:p>
          <a:p>
            <a:pPr indent="0" marL="0">
              <a:spcAft>
                <a:spcPts val="500"/>
              </a:spcAft>
              <a:buNone/>
            </a:pPr>
            <a:r>
              <a:rPr lang="en-US" sz="1350" b="1" dirty="0">
                <a:solidFill>
                  <a:schemeClr val="tx2"/>
                </a:solidFill>
              </a:rPr>
              <a:t>Decisione</a:t>
            </a:r>
            <a:endParaRPr lang="en-US" sz="1350" dirty="0"/>
          </a:p>
          <a:p>
            <a:pPr indent="0" marL="0">
              <a:spcAft>
                <a:spcPts val="500"/>
              </a:spcAft>
              <a:buNone/>
            </a:pPr>
            <a:r>
              <a:rPr lang="en-US" sz="1200" dirty="0">
                <a:solidFill>
                  <a:schemeClr val="tx1"/>
                </a:solidFill>
              </a:rPr>
              <a:t>qualificazione ACN non necessaria (parere legale da confermare)</a:t>
            </a:r>
            <a:endParaRPr lang="en-US" sz="13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Novità del 22 e 23 ottobre</a:t>
            </a:r>
            <a:endParaRPr lang="en-US" sz="3000" dirty="0"/>
          </a:p>
        </p:txBody>
      </p:sp>
      <p:pic>
        <p:nvPicPr>
          <p:cNvPr id="3" name="Schermata valore dei crediti" descr="Dashboard: riquadri del valore dei crediti in simulazione e in fase esecutiva (dati di prova)">    </p:cNvPr>
          <p:cNvPicPr>
            <a:picLocks noChangeAspect="1"/>
          </p:cNvPicPr>
          <p:nvPr/>
        </p:nvPicPr>
        <p:blipFill>
          <a:blip r:embed="rId1"/>
          <a:stretch>
            <a:fillRect/>
          </a:stretch>
        </p:blipFill>
        <p:spPr>
          <a:xfrm>
            <a:off x="548640" y="1188720"/>
            <a:ext cx="6949440" cy="1493268"/>
          </a:xfrm>
          <a:prstGeom prst="rect">
            <a:avLst/>
          </a:prstGeom>
        </p:spPr>
      </p:pic>
      <p:sp>
        <p:nvSpPr>
          <p:cNvPr id="4" name="Text 1"/>
          <p:cNvSpPr txBox="1"/>
          <p:nvPr/>
        </p:nvSpPr>
        <p:spPr>
          <a:xfrm>
            <a:off x="548640" y="2727708"/>
            <a:ext cx="6949440" cy="228600"/>
          </a:xfrm>
          <a:prstGeom prst="rect">
            <a:avLst/>
          </a:prstGeom>
          <a:noFill/>
          <a:ln/>
        </p:spPr>
        <p:txBody>
          <a:bodyPr wrap="square" lIns="0" tIns="0" rIns="0" bIns="0" rtlCol="0" anchor="ctr"/>
          <a:lstStyle/>
          <a:p>
            <a:pPr indent="0" marL="0">
              <a:buNone/>
            </a:pPr>
            <a:r>
              <a:rPr lang="en-US" sz="1000" i="1" dirty="0">
                <a:solidFill>
                  <a:schemeClr val="accent6"/>
                </a:solidFill>
              </a:rPr>
              <a:t>Dashboard: valore dei crediti, dati di prova</a:t>
            </a:r>
            <a:endParaRPr lang="en-US" sz="1000" dirty="0"/>
          </a:p>
        </p:txBody>
      </p:sp>
      <p:sp>
        <p:nvSpPr>
          <p:cNvPr id="5" name="Valore crediti In simulazione"/>
          <p:cNvSpPr/>
          <p:nvPr/>
        </p:nvSpPr>
        <p:spPr>
          <a:xfrm>
            <a:off x="548640" y="3063240"/>
            <a:ext cx="2194560" cy="960120"/>
          </a:xfrm>
          <a:prstGeom prst="roundRect">
            <a:avLst>
              <a:gd name="adj" fmla="val 11429"/>
            </a:avLst>
          </a:prstGeom>
          <a:solidFill>
            <a:schemeClr val="accent3"/>
          </a:solidFill>
          <a:ln w="12700">
            <a:solidFill>
              <a:schemeClr val="accent3"/>
            </a:solidFill>
            <a:prstDash val="solid"/>
          </a:ln>
        </p:spPr>
      </p:sp>
      <p:sp>
        <p:nvSpPr>
          <p:cNvPr id="6" name="Text 3"/>
          <p:cNvSpPr txBox="1"/>
          <p:nvPr/>
        </p:nvSpPr>
        <p:spPr>
          <a:xfrm>
            <a:off x="685800" y="3063240"/>
            <a:ext cx="1920240" cy="960120"/>
          </a:xfrm>
          <a:prstGeom prst="rect">
            <a:avLst/>
          </a:prstGeom>
          <a:noFill/>
          <a:ln/>
        </p:spPr>
        <p:txBody>
          <a:bodyPr wrap="square" lIns="0" tIns="0" rIns="0" bIns="0" rtlCol="0" anchor="ctr"/>
          <a:lstStyle/>
          <a:p>
            <a:pPr indent="0" marL="0">
              <a:buNone/>
            </a:pPr>
            <a:r>
              <a:rPr lang="en-US" sz="1300" b="1" dirty="0">
                <a:solidFill>
                  <a:schemeClr val="tx2"/>
                </a:solidFill>
              </a:rPr>
              <a:t>In simulazione</a:t>
            </a:r>
            <a:endParaRPr lang="en-US" sz="1300" dirty="0"/>
          </a:p>
          <a:p>
            <a:pPr indent="0" marL="0">
              <a:buNone/>
            </a:pPr>
            <a:r>
              <a:rPr lang="en-US" sz="1150" dirty="0">
                <a:solidFill>
                  <a:schemeClr val="tx1"/>
                </a:solidFill>
              </a:rPr>
              <a:t>ultimo scenario per Comune, crediti ed euro del periodo</a:t>
            </a:r>
            <a:endParaRPr lang="en-US" sz="1300" dirty="0"/>
          </a:p>
        </p:txBody>
      </p:sp>
      <p:sp>
        <p:nvSpPr>
          <p:cNvPr id="7" name="Valore crediti In fase esecutiva"/>
          <p:cNvSpPr/>
          <p:nvPr/>
        </p:nvSpPr>
        <p:spPr>
          <a:xfrm>
            <a:off x="2926080" y="3063240"/>
            <a:ext cx="2194560" cy="960120"/>
          </a:xfrm>
          <a:prstGeom prst="roundRect">
            <a:avLst>
              <a:gd name="adj" fmla="val 11429"/>
            </a:avLst>
          </a:prstGeom>
          <a:solidFill>
            <a:schemeClr val="bg2"/>
          </a:solidFill>
          <a:ln w="12700">
            <a:solidFill>
              <a:schemeClr val="bg2"/>
            </a:solidFill>
            <a:prstDash val="solid"/>
          </a:ln>
        </p:spPr>
      </p:sp>
      <p:sp>
        <p:nvSpPr>
          <p:cNvPr id="8" name="Text 5"/>
          <p:cNvSpPr txBox="1"/>
          <p:nvPr/>
        </p:nvSpPr>
        <p:spPr>
          <a:xfrm>
            <a:off x="3063240" y="3063240"/>
            <a:ext cx="1920240" cy="960120"/>
          </a:xfrm>
          <a:prstGeom prst="rect">
            <a:avLst/>
          </a:prstGeom>
          <a:noFill/>
          <a:ln/>
        </p:spPr>
        <p:txBody>
          <a:bodyPr wrap="square" lIns="0" tIns="0" rIns="0" bIns="0" rtlCol="0" anchor="ctr"/>
          <a:lstStyle/>
          <a:p>
            <a:pPr indent="0" marL="0">
              <a:buNone/>
            </a:pPr>
            <a:r>
              <a:rPr lang="en-US" sz="1300" b="1" dirty="0">
                <a:solidFill>
                  <a:schemeClr val="tx2"/>
                </a:solidFill>
              </a:rPr>
              <a:t>In fase esecutiva</a:t>
            </a:r>
            <a:endParaRPr lang="en-US" sz="1300" dirty="0"/>
          </a:p>
          <a:p>
            <a:pPr indent="0" marL="0">
              <a:buNone/>
            </a:pPr>
            <a:r>
              <a:rPr lang="en-US" sz="1150" dirty="0">
                <a:solidFill>
                  <a:schemeClr val="tx1"/>
                </a:solidFill>
              </a:rPr>
              <a:t>calcolati, emessi e venduti; prezzo di riferimento 32 €</a:t>
            </a:r>
            <a:endParaRPr lang="en-US" sz="1300" dirty="0"/>
          </a:p>
        </p:txBody>
      </p:sp>
      <p:sp>
        <p:nvSpPr>
          <p:cNvPr id="9" name="Valore crediti Valore progetti"/>
          <p:cNvSpPr/>
          <p:nvPr/>
        </p:nvSpPr>
        <p:spPr>
          <a:xfrm>
            <a:off x="5303520" y="3063240"/>
            <a:ext cx="2194560" cy="960120"/>
          </a:xfrm>
          <a:prstGeom prst="roundRect">
            <a:avLst>
              <a:gd name="adj" fmla="val 11429"/>
            </a:avLst>
          </a:prstGeom>
          <a:solidFill>
            <a:schemeClr val="bg2"/>
          </a:solidFill>
          <a:ln w="12700">
            <a:solidFill>
              <a:schemeClr val="bg2"/>
            </a:solidFill>
            <a:prstDash val="solid"/>
          </a:ln>
        </p:spPr>
      </p:sp>
      <p:sp>
        <p:nvSpPr>
          <p:cNvPr id="10" name="Text 7"/>
          <p:cNvSpPr txBox="1"/>
          <p:nvPr/>
        </p:nvSpPr>
        <p:spPr>
          <a:xfrm>
            <a:off x="5440680" y="3063240"/>
            <a:ext cx="1920240" cy="960120"/>
          </a:xfrm>
          <a:prstGeom prst="rect">
            <a:avLst/>
          </a:prstGeom>
          <a:noFill/>
          <a:ln/>
        </p:spPr>
        <p:txBody>
          <a:bodyPr wrap="square" lIns="0" tIns="0" rIns="0" bIns="0" rtlCol="0" anchor="ctr"/>
          <a:lstStyle/>
          <a:p>
            <a:pPr indent="0" marL="0">
              <a:buNone/>
            </a:pPr>
            <a:r>
              <a:rPr lang="en-US" sz="1300" b="1" dirty="0">
                <a:solidFill>
                  <a:schemeClr val="tx2"/>
                </a:solidFill>
              </a:rPr>
              <a:t>Valore progetti</a:t>
            </a:r>
            <a:endParaRPr lang="en-US" sz="1300" dirty="0"/>
          </a:p>
          <a:p>
            <a:pPr indent="0" marL="0">
              <a:buNone/>
            </a:pPr>
            <a:r>
              <a:rPr lang="en-US" sz="1150" dirty="0">
                <a:solidFill>
                  <a:schemeClr val="tx1"/>
                </a:solidFill>
              </a:rPr>
              <a:t>quanto paga il cliente, listino Caso 1 o Caso 2 scelto sul Progetto</a:t>
            </a:r>
            <a:endParaRPr lang="en-US" sz="1300" dirty="0"/>
          </a:p>
        </p:txBody>
      </p:sp>
      <p:sp>
        <p:nvSpPr>
          <p:cNvPr id="11" name="Banca Dati Utenze per utenza"/>
          <p:cNvSpPr/>
          <p:nvPr/>
        </p:nvSpPr>
        <p:spPr>
          <a:xfrm>
            <a:off x="548640" y="4206240"/>
            <a:ext cx="6949440" cy="2057400"/>
          </a:xfrm>
          <a:prstGeom prst="roundRect">
            <a:avLst>
              <a:gd name="adj" fmla="val 5333"/>
            </a:avLst>
          </a:prstGeom>
          <a:solidFill>
            <a:schemeClr val="accent4"/>
          </a:solidFill>
          <a:ln w="12700">
            <a:solidFill>
              <a:schemeClr val="accent4"/>
            </a:solidFill>
            <a:prstDash val="solid"/>
          </a:ln>
        </p:spPr>
      </p:sp>
      <p:sp>
        <p:nvSpPr>
          <p:cNvPr id="12" name="Text 9"/>
          <p:cNvSpPr txBox="1"/>
          <p:nvPr/>
        </p:nvSpPr>
        <p:spPr>
          <a:xfrm>
            <a:off x="731520" y="4251960"/>
            <a:ext cx="6583680" cy="1965960"/>
          </a:xfrm>
          <a:prstGeom prst="rect">
            <a:avLst/>
          </a:prstGeom>
          <a:noFill/>
          <a:ln/>
        </p:spPr>
        <p:txBody>
          <a:bodyPr wrap="square" lIns="0" tIns="0" rIns="0" bIns="0" rtlCol="0" anchor="ctr"/>
          <a:lstStyle/>
          <a:p>
            <a:pPr indent="0" marL="0">
              <a:buNone/>
            </a:pPr>
            <a:r>
              <a:rPr lang="en-US" sz="1350" b="1" dirty="0">
                <a:solidFill>
                  <a:schemeClr val="tx2"/>
                </a:solidFill>
              </a:rPr>
              <a:t>Banca Dati Utenze per utenza (calcolo dei crediti)</a:t>
            </a:r>
            <a:endParaRPr lang="en-US" sz="1350" dirty="0"/>
          </a:p>
          <a:p>
            <a:pPr indent="0" marL="0">
              <a:buNone/>
            </a:pPr>
            <a:r>
              <a:rPr lang="en-US" sz="1200" dirty="0">
                <a:solidFill>
                  <a:schemeClr val="tx1"/>
                </a:solidFill>
              </a:rPr>
              <a:t>Ogni anno l'elenco completo delle utenze, domestiche e non domestiche, dal modello Excel: kg e svuotamenti per frazione, categoria tariffaria e di simulazione. Passo «5a» con schede, ricerca e un modulo per ogni utenza; «Calcola» usa le utenze (classe = categoria di simulazione, kg misurati). Nomi visibili solo allo staff, ogni consultazione nell'Audit.</a:t>
            </a:r>
            <a:endParaRPr lang="en-US" sz="1350" dirty="0"/>
          </a:p>
        </p:txBody>
      </p:sp>
      <p:sp>
        <p:nvSpPr>
          <p:cNvPr id="13" name="Elenco novità 22-23 ottobre"/>
          <p:cNvSpPr/>
          <p:nvPr/>
        </p:nvSpPr>
        <p:spPr>
          <a:xfrm>
            <a:off x="7726680" y="1188720"/>
            <a:ext cx="3886200" cy="5074920"/>
          </a:xfrm>
          <a:prstGeom prst="roundRect">
            <a:avLst>
              <a:gd name="adj" fmla="val 2824"/>
            </a:avLst>
          </a:prstGeom>
          <a:solidFill>
            <a:schemeClr val="bg2"/>
          </a:solidFill>
          <a:ln w="12700">
            <a:solidFill>
              <a:schemeClr val="bg2"/>
            </a:solidFill>
            <a:prstDash val="solid"/>
          </a:ln>
        </p:spPr>
      </p:sp>
      <p:sp>
        <p:nvSpPr>
          <p:cNvPr id="14" name="Text 11"/>
          <p:cNvSpPr txBox="1"/>
          <p:nvPr/>
        </p:nvSpPr>
        <p:spPr>
          <a:xfrm>
            <a:off x="7909560" y="1325880"/>
            <a:ext cx="3566160" cy="4846320"/>
          </a:xfrm>
          <a:prstGeom prst="rect">
            <a:avLst/>
          </a:prstGeom>
          <a:noFill/>
          <a:ln/>
        </p:spPr>
        <p:txBody>
          <a:bodyPr wrap="square" lIns="0" tIns="0" rIns="0" bIns="0" rtlCol="0" anchor="t"/>
          <a:lstStyle/>
          <a:p>
            <a:pPr indent="0" marL="0">
              <a:spcAft>
                <a:spcPts val="500"/>
              </a:spcAft>
              <a:buNone/>
            </a:pPr>
            <a:r>
              <a:rPr lang="en-US" sz="1350" b="1" dirty="0">
                <a:solidFill>
                  <a:schemeClr val="tx2"/>
                </a:solidFill>
              </a:rPr>
              <a:t>Collaudo</a:t>
            </a:r>
            <a:endParaRPr lang="en-US" sz="1350" dirty="0"/>
          </a:p>
          <a:p>
            <a:pPr indent="0" marL="0">
              <a:spcAft>
                <a:spcPts val="500"/>
              </a:spcAft>
              <a:buNone/>
            </a:pPr>
            <a:r>
              <a:rPr lang="en-US" sz="1200" dirty="0">
                <a:solidFill>
                  <a:schemeClr val="tx1"/>
                </a:solidFill>
              </a:rPr>
              <a:t>rilievi N01-N04 corretti e in produzione (22/10); N05 e N06 in attesa della regola della Fondazione</a:t>
            </a:r>
            <a:endParaRPr lang="en-US" sz="1350" dirty="0"/>
          </a:p>
          <a:p>
            <a:pPr indent="0" marL="0">
              <a:spcAft>
                <a:spcPts val="500"/>
              </a:spcAft>
              <a:buNone/>
            </a:pPr>
            <a:r>
              <a:rPr lang="en-US" sz="1350" b="1" dirty="0">
                <a:solidFill>
                  <a:schemeClr val="tx2"/>
                </a:solidFill>
              </a:rPr>
              <a:t>Smartphone</a:t>
            </a:r>
            <a:endParaRPr lang="en-US" sz="1350" dirty="0"/>
          </a:p>
          <a:p>
            <a:pPr indent="0" marL="0">
              <a:spcAft>
                <a:spcPts val="500"/>
              </a:spcAft>
              <a:buNone/>
            </a:pPr>
            <a:r>
              <a:rPr lang="en-US" sz="1200" dirty="0">
                <a:solidFill>
                  <a:schemeClr val="tx1"/>
                </a:solidFill>
              </a:rPr>
              <a:t>menu a pannello, schede al posto delle tabelle, pratiche una alla volta, assistente a schermo intero (22/10)</a:t>
            </a:r>
            <a:endParaRPr lang="en-US" sz="1350" dirty="0"/>
          </a:p>
          <a:p>
            <a:pPr indent="0" marL="0">
              <a:spcAft>
                <a:spcPts val="500"/>
              </a:spcAft>
              <a:buNone/>
            </a:pPr>
            <a:r>
              <a:rPr lang="en-US" sz="1350" b="1" dirty="0">
                <a:solidFill>
                  <a:schemeClr val="tx2"/>
                </a:solidFill>
              </a:rPr>
              <a:t>Dashboard</a:t>
            </a:r>
            <a:endParaRPr lang="en-US" sz="1350" dirty="0"/>
          </a:p>
          <a:p>
            <a:pPr indent="0" marL="0">
              <a:spcAft>
                <a:spcPts val="500"/>
              </a:spcAft>
              <a:buNone/>
            </a:pPr>
            <a:r>
              <a:rPr lang="en-US" sz="1200" dirty="0">
                <a:solidFill>
                  <a:schemeClr val="tx1"/>
                </a:solidFill>
              </a:rPr>
              <a:t>fasi aperte senza scadenza (22/10); valore dei crediti in simulazione e in fase esecutiva e valore dei progetti per il cliente (Caso 1 / Caso 2), anche per i Comuni (23/10)</a:t>
            </a:r>
            <a:endParaRPr lang="en-US" sz="1350" dirty="0"/>
          </a:p>
          <a:p>
            <a:pPr indent="0" marL="0">
              <a:spcAft>
                <a:spcPts val="500"/>
              </a:spcAft>
              <a:buNone/>
            </a:pPr>
            <a:r>
              <a:rPr lang="en-US" sz="1350" b="1" dirty="0">
                <a:solidFill>
                  <a:schemeClr val="tx2"/>
                </a:solidFill>
              </a:rPr>
              <a:t>Calcolo crediti</a:t>
            </a:r>
            <a:endParaRPr lang="en-US" sz="1350" dirty="0"/>
          </a:p>
          <a:p>
            <a:pPr indent="0" marL="0">
              <a:spcAft>
                <a:spcPts val="500"/>
              </a:spcAft>
              <a:buNone/>
            </a:pPr>
            <a:r>
              <a:rPr lang="en-US" sz="1200" dirty="0">
                <a:solidFill>
                  <a:schemeClr val="tx1"/>
                </a:solidFill>
              </a:rPr>
              <a:t>Banca Dati Utenze per utenza e collegamento al motore; calcolo di prova con 20 + 20 utenze inventate (22-23/10)</a:t>
            </a:r>
            <a:endParaRPr lang="en-US" sz="1350" dirty="0"/>
          </a:p>
          <a:p>
            <a:pPr indent="0" marL="0">
              <a:spcAft>
                <a:spcPts val="500"/>
              </a:spcAft>
              <a:buNone/>
            </a:pPr>
            <a:r>
              <a:rPr lang="en-US" sz="1350" b="1" dirty="0">
                <a:solidFill>
                  <a:schemeClr val="tx2"/>
                </a:solidFill>
              </a:rPr>
              <a:t>Notizie CO2 e backup</a:t>
            </a:r>
            <a:endParaRPr lang="en-US" sz="1350" dirty="0"/>
          </a:p>
          <a:p>
            <a:pPr indent="0" marL="0">
              <a:spcAft>
                <a:spcPts val="500"/>
              </a:spcAft>
              <a:buNone/>
            </a:pPr>
            <a:r>
              <a:rPr lang="en-US" sz="1200" dirty="0">
                <a:solidFill>
                  <a:schemeClr val="tx1"/>
                </a:solidFill>
              </a:rPr>
              <a:t>14 siti verificati; backup giornaliero dal Mac pronto da installare</a:t>
            </a:r>
            <a:endParaRPr lang="en-US" sz="13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Punti aperti: sviluppo e servizi da attivare</a:t>
            </a:r>
            <a:endParaRPr lang="en-US" sz="3000" dirty="0"/>
          </a:p>
        </p:txBody>
      </p:sp>
      <p:sp>
        <p:nvSpPr>
          <p:cNvPr id="3" name="Colonna Sicurezza e infrastruttura"/>
          <p:cNvSpPr/>
          <p:nvPr/>
        </p:nvSpPr>
        <p:spPr>
          <a:xfrm>
            <a:off x="548640" y="1325880"/>
            <a:ext cx="3505200" cy="4846320"/>
          </a:xfrm>
          <a:prstGeom prst="roundRect">
            <a:avLst>
              <a:gd name="adj" fmla="val 3130"/>
            </a:avLst>
          </a:prstGeom>
          <a:solidFill>
            <a:schemeClr val="bg2"/>
          </a:solidFill>
          <a:ln w="12700">
            <a:solidFill>
              <a:schemeClr val="bg2"/>
            </a:solidFill>
            <a:prstDash val="solid"/>
          </a:ln>
        </p:spPr>
      </p:sp>
      <p:sp>
        <p:nvSpPr>
          <p:cNvPr id="4" name="Sicurezza e infrastruttura cerchio"/>
          <p:cNvSpPr/>
          <p:nvPr/>
        </p:nvSpPr>
        <p:spPr>
          <a:xfrm>
            <a:off x="777240" y="1554480"/>
            <a:ext cx="548640" cy="548640"/>
          </a:xfrm>
          <a:prstGeom prst="ellipse">
            <a:avLst/>
          </a:prstGeom>
          <a:solidFill>
            <a:schemeClr val="tx2"/>
          </a:solidFill>
          <a:ln w="12700">
            <a:solidFill>
              <a:schemeClr val="tx2"/>
            </a:solidFill>
            <a:prstDash val="solid"/>
          </a:ln>
        </p:spPr>
      </p:sp>
      <p:pic>
        <p:nvPicPr>
          <p:cNvPr id="5" name="Sicurezza e infrastruttura icona" descr="preencoded.png">    </p:cNvPr>
          <p:cNvPicPr>
            <a:picLocks noChangeAspect="1"/>
          </p:cNvPicPr>
          <p:nvPr/>
        </p:nvPicPr>
        <p:blipFill>
          <a:blip r:embed="rId1"/>
          <a:stretch>
            <a:fillRect/>
          </a:stretch>
        </p:blipFill>
        <p:spPr>
          <a:xfrm>
            <a:off x="914400" y="1691640"/>
            <a:ext cx="274320" cy="274320"/>
          </a:xfrm>
          <a:prstGeom prst="rect">
            <a:avLst/>
          </a:prstGeom>
        </p:spPr>
      </p:pic>
      <p:sp>
        <p:nvSpPr>
          <p:cNvPr id="6" name="Text 3"/>
          <p:cNvSpPr txBox="1"/>
          <p:nvPr/>
        </p:nvSpPr>
        <p:spPr>
          <a:xfrm>
            <a:off x="1463040" y="1508760"/>
            <a:ext cx="2453640" cy="640080"/>
          </a:xfrm>
          <a:prstGeom prst="rect">
            <a:avLst/>
          </a:prstGeom>
          <a:noFill/>
          <a:ln/>
        </p:spPr>
        <p:txBody>
          <a:bodyPr wrap="square" lIns="0" tIns="0" rIns="0" bIns="0" rtlCol="0" anchor="ctr"/>
          <a:lstStyle/>
          <a:p>
            <a:pPr indent="0" marL="0">
              <a:buNone/>
            </a:pPr>
            <a:r>
              <a:rPr lang="en-US" sz="1700" b="1" dirty="0">
                <a:solidFill>
                  <a:schemeClr val="tx2"/>
                </a:solidFill>
              </a:rPr>
              <a:t>Sicurezza e infrastruttura</a:t>
            </a:r>
            <a:endParaRPr lang="en-US" sz="1700" dirty="0"/>
          </a:p>
        </p:txBody>
      </p:sp>
      <p:sp>
        <p:nvSpPr>
          <p:cNvPr id="7" name="Text 4"/>
          <p:cNvSpPr txBox="1"/>
          <p:nvPr/>
        </p:nvSpPr>
        <p:spPr>
          <a:xfrm>
            <a:off x="822960" y="2286000"/>
            <a:ext cx="3048000" cy="3749040"/>
          </a:xfrm>
          <a:prstGeom prst="rect">
            <a:avLst/>
          </a:prstGeom>
          <a:noFill/>
          <a:ln/>
        </p:spPr>
        <p:txBody>
          <a:bodyPr wrap="square" lIns="0" tIns="0" rIns="0" bIns="0" rtlCol="0" anchor="t"/>
          <a:lstStyle/>
          <a:p>
            <a:pPr marL="342900" indent="-342900">
              <a:spcAft>
                <a:spcPts val="700"/>
              </a:spcAft>
              <a:buSzPct val="100000"/>
              <a:buChar char="•"/>
            </a:pPr>
            <a:r>
              <a:rPr lang="en-US" sz="1350" dirty="0">
                <a:solidFill>
                  <a:schemeClr val="tx1"/>
                </a:solidFill>
              </a:rPr>
              <a:t>Fatto il 20/10: registro degli accessi e avvisi di sicurezza, uscita per inattività, intestazioni del sito, librerie aggiornate (0 vulnerabilità)</a:t>
            </a:r>
            <a:endParaRPr lang="en-US" sz="1350" dirty="0"/>
          </a:p>
          <a:p>
            <a:pPr marL="342900" indent="-342900">
              <a:spcAft>
                <a:spcPts val="700"/>
              </a:spcAft>
              <a:buSzPct val="100000"/>
              <a:buChar char="•"/>
            </a:pPr>
            <a:r>
              <a:rPr lang="en-US" sz="1350" dirty="0">
                <a:solidFill>
                  <a:schemeClr val="tx1"/>
                </a:solidFill>
              </a:rPr>
              <a:t>Verifica in due passaggi per lo staff (pronta, spenta); CAPTCHA sulle pagine pubbliche</a:t>
            </a:r>
            <a:endParaRPr lang="en-US" sz="1350" dirty="0"/>
          </a:p>
          <a:p>
            <a:pPr marL="342900" indent="-342900">
              <a:spcAft>
                <a:spcPts val="700"/>
              </a:spcAft>
              <a:buSzPct val="100000"/>
              <a:buChar char="•"/>
            </a:pPr>
            <a:r>
              <a:rPr lang="en-US" sz="1350" dirty="0">
                <a:solidFill>
                  <a:schemeClr val="tx1"/>
                </a:solidFill>
              </a:rPr>
              <a:t>Antivirus sui file; verifica OWASP, test di intrusione a fine sviluppo</a:t>
            </a:r>
            <a:endParaRPr lang="en-US" sz="1350" dirty="0"/>
          </a:p>
          <a:p>
            <a:pPr marL="342900" indent="-342900">
              <a:spcAft>
                <a:spcPts val="700"/>
              </a:spcAft>
              <a:buSzPct val="100000"/>
              <a:buChar char="•"/>
            </a:pPr>
            <a:r>
              <a:rPr lang="en-US" sz="1350" dirty="0">
                <a:solidFill>
                  <a:schemeClr val="tx1"/>
                </a:solidFill>
              </a:rPr>
              <a:t>Backup automatico completo ogni giorno alle 20 dal Mac nella cartella Drive Cwp › backup (pronto, da installare sul Mac) e istruzioni di ripristino provate; da fare ambiente di prova e monitoraggio errori</a:t>
            </a:r>
            <a:endParaRPr lang="en-US" sz="1350" dirty="0"/>
          </a:p>
          <a:p>
            <a:pPr marL="342900" indent="-342900">
              <a:spcAft>
                <a:spcPts val="700"/>
              </a:spcAft>
              <a:buSzPct val="100000"/>
              <a:buChar char="•"/>
            </a:pPr>
            <a:r>
              <a:rPr lang="en-US" sz="1350" dirty="0">
                <a:solidFill>
                  <a:schemeClr val="tx1"/>
                </a:solidFill>
              </a:rPr>
              <a:t>Piani a pagamento e repository privato (slide «Piani a pagamento»); dominio email verificato, che serve anche alle email con le credenziali</a:t>
            </a:r>
            <a:endParaRPr lang="en-US" sz="1350" dirty="0"/>
          </a:p>
        </p:txBody>
      </p:sp>
      <p:sp>
        <p:nvSpPr>
          <p:cNvPr id="8" name="Colonna Avvio della piattaforma pubblica"/>
          <p:cNvSpPr/>
          <p:nvPr/>
        </p:nvSpPr>
        <p:spPr>
          <a:xfrm>
            <a:off x="4328160" y="1325880"/>
            <a:ext cx="3505200" cy="4846320"/>
          </a:xfrm>
          <a:prstGeom prst="roundRect">
            <a:avLst>
              <a:gd name="adj" fmla="val 3130"/>
            </a:avLst>
          </a:prstGeom>
          <a:solidFill>
            <a:schemeClr val="bg2"/>
          </a:solidFill>
          <a:ln w="12700">
            <a:solidFill>
              <a:schemeClr val="bg2"/>
            </a:solidFill>
            <a:prstDash val="solid"/>
          </a:ln>
        </p:spPr>
      </p:sp>
      <p:sp>
        <p:nvSpPr>
          <p:cNvPr id="9" name="Avvio della piattaforma pubblica cerchio"/>
          <p:cNvSpPr/>
          <p:nvPr/>
        </p:nvSpPr>
        <p:spPr>
          <a:xfrm>
            <a:off x="4556760" y="1554480"/>
            <a:ext cx="548640" cy="548640"/>
          </a:xfrm>
          <a:prstGeom prst="ellipse">
            <a:avLst/>
          </a:prstGeom>
          <a:solidFill>
            <a:schemeClr val="accent2"/>
          </a:solidFill>
          <a:ln w="12700">
            <a:solidFill>
              <a:schemeClr val="accent2"/>
            </a:solidFill>
            <a:prstDash val="solid"/>
          </a:ln>
        </p:spPr>
      </p:sp>
      <p:pic>
        <p:nvPicPr>
          <p:cNvPr id="10" name="Avvio della piattaforma pubblica icona" descr="preencoded.png">    </p:cNvPr>
          <p:cNvPicPr>
            <a:picLocks noChangeAspect="1"/>
          </p:cNvPicPr>
          <p:nvPr/>
        </p:nvPicPr>
        <p:blipFill>
          <a:blip r:embed="rId2"/>
          <a:stretch>
            <a:fillRect/>
          </a:stretch>
        </p:blipFill>
        <p:spPr>
          <a:xfrm>
            <a:off x="4693920" y="1691640"/>
            <a:ext cx="274320" cy="274320"/>
          </a:xfrm>
          <a:prstGeom prst="rect">
            <a:avLst/>
          </a:prstGeom>
        </p:spPr>
      </p:pic>
      <p:sp>
        <p:nvSpPr>
          <p:cNvPr id="11" name="Text 7"/>
          <p:cNvSpPr txBox="1"/>
          <p:nvPr/>
        </p:nvSpPr>
        <p:spPr>
          <a:xfrm>
            <a:off x="5242560" y="1508760"/>
            <a:ext cx="2453640" cy="640080"/>
          </a:xfrm>
          <a:prstGeom prst="rect">
            <a:avLst/>
          </a:prstGeom>
          <a:noFill/>
          <a:ln/>
        </p:spPr>
        <p:txBody>
          <a:bodyPr wrap="square" lIns="0" tIns="0" rIns="0" bIns="0" rtlCol="0" anchor="ctr"/>
          <a:lstStyle/>
          <a:p>
            <a:pPr indent="0" marL="0">
              <a:buNone/>
            </a:pPr>
            <a:r>
              <a:rPr lang="en-US" sz="1700" b="1" dirty="0">
                <a:solidFill>
                  <a:schemeClr val="tx2"/>
                </a:solidFill>
              </a:rPr>
              <a:t>Avvio della piattaforma pubblica</a:t>
            </a:r>
            <a:endParaRPr lang="en-US" sz="1700" dirty="0"/>
          </a:p>
        </p:txBody>
      </p:sp>
      <p:sp>
        <p:nvSpPr>
          <p:cNvPr id="12" name="Text 8"/>
          <p:cNvSpPr txBox="1"/>
          <p:nvPr/>
        </p:nvSpPr>
        <p:spPr>
          <a:xfrm>
            <a:off x="4602480" y="2286000"/>
            <a:ext cx="3048000" cy="3749040"/>
          </a:xfrm>
          <a:prstGeom prst="rect">
            <a:avLst/>
          </a:prstGeom>
          <a:noFill/>
          <a:ln/>
        </p:spPr>
        <p:txBody>
          <a:bodyPr wrap="square" lIns="0" tIns="0" rIns="0" bIns="0" rtlCol="0" anchor="t"/>
          <a:lstStyle/>
          <a:p>
            <a:pPr marL="342900" indent="-342900">
              <a:spcAft>
                <a:spcPts val="700"/>
              </a:spcAft>
              <a:buSzPct val="100000"/>
              <a:buChar char="•"/>
            </a:pPr>
            <a:r>
              <a:rPr lang="en-US" sz="1350" dirty="0">
                <a:solidFill>
                  <a:schemeClr val="tx1"/>
                </a:solidFill>
              </a:rPr>
              <a:t>Pagina /programma attiva con gli 8 documenti ufficiali v1.2 e la Metodologia approvata</a:t>
            </a:r>
            <a:endParaRPr lang="en-US" sz="1350" dirty="0"/>
          </a:p>
          <a:p>
            <a:pPr marL="342900" indent="-342900">
              <a:spcAft>
                <a:spcPts val="700"/>
              </a:spcAft>
              <a:buSzPct val="100000"/>
              <a:buChar char="•"/>
            </a:pPr>
            <a:r>
              <a:rPr lang="en-US" sz="1350" dirty="0">
                <a:solidFill>
                  <a:schemeClr val="tx1"/>
                </a:solidFill>
              </a:rPr>
              <a:t>PEC del Programma per i reclami: operate@pec.it</a:t>
            </a:r>
            <a:endParaRPr lang="en-US" sz="1350" dirty="0"/>
          </a:p>
          <a:p>
            <a:pPr marL="342900" indent="-342900">
              <a:spcAft>
                <a:spcPts val="700"/>
              </a:spcAft>
              <a:buSzPct val="100000"/>
              <a:buChar char="•"/>
            </a:pPr>
            <a:r>
              <a:rPr lang="en-US" sz="1350" dirty="0">
                <a:solidFill>
                  <a:schemeClr val="tx1"/>
                </a:solidFill>
              </a:rPr>
              <a:t>Da inserire: enti di validazione e verifica e registri riconosciuti, modulistica</a:t>
            </a:r>
            <a:endParaRPr lang="en-US" sz="1350" dirty="0"/>
          </a:p>
          <a:p>
            <a:pPr marL="342900" indent="-342900">
              <a:spcAft>
                <a:spcPts val="700"/>
              </a:spcAft>
              <a:buSzPct val="100000"/>
              <a:buChar char="•"/>
            </a:pPr>
            <a:r>
              <a:rPr lang="en-US" sz="1350" dirty="0">
                <a:solidFill>
                  <a:schemeClr val="tx1"/>
                </a:solidFill>
              </a:rPr>
              <a:t>Accesso con SPID, CIE o CNS al feedback pubblico (adesione come fornitore di servizi)</a:t>
            </a:r>
            <a:endParaRPr lang="en-US" sz="1350" dirty="0"/>
          </a:p>
          <a:p>
            <a:pPr marL="342900" indent="-342900">
              <a:spcAft>
                <a:spcPts val="700"/>
              </a:spcAft>
              <a:buSzPct val="100000"/>
              <a:buChar char="•"/>
            </a:pPr>
            <a:r>
              <a:rPr lang="en-US" sz="1350" dirty="0">
                <a:solidFill>
                  <a:schemeClr val="tx1"/>
                </a:solidFill>
              </a:rPr>
              <a:t>Collaudo in corso con 5 Amministratori: correzioni dei rapporti V01 e V05 in produzione il 20-21/10; rilievi N01-N06 (22/10) corretti e in produzione; restano le regole metodologiche da confermare</a:t>
            </a:r>
            <a:endParaRPr lang="en-US" sz="1350" dirty="0"/>
          </a:p>
        </p:txBody>
      </p:sp>
      <p:sp>
        <p:nvSpPr>
          <p:cNvPr id="13" name="Colonna Qualità dei dati e completamenti"/>
          <p:cNvSpPr/>
          <p:nvPr/>
        </p:nvSpPr>
        <p:spPr>
          <a:xfrm>
            <a:off x="8107680" y="1325880"/>
            <a:ext cx="3505200" cy="4846320"/>
          </a:xfrm>
          <a:prstGeom prst="roundRect">
            <a:avLst>
              <a:gd name="adj" fmla="val 3130"/>
            </a:avLst>
          </a:prstGeom>
          <a:solidFill>
            <a:schemeClr val="bg2"/>
          </a:solidFill>
          <a:ln w="12700">
            <a:solidFill>
              <a:schemeClr val="bg2"/>
            </a:solidFill>
            <a:prstDash val="solid"/>
          </a:ln>
        </p:spPr>
      </p:sp>
      <p:sp>
        <p:nvSpPr>
          <p:cNvPr id="14" name="Qualità dei dati e completamenti cerchio"/>
          <p:cNvSpPr/>
          <p:nvPr/>
        </p:nvSpPr>
        <p:spPr>
          <a:xfrm>
            <a:off x="8336280" y="1554480"/>
            <a:ext cx="548640" cy="548640"/>
          </a:xfrm>
          <a:prstGeom prst="ellipse">
            <a:avLst/>
          </a:prstGeom>
          <a:solidFill>
            <a:schemeClr val="tx2"/>
          </a:solidFill>
          <a:ln w="12700">
            <a:solidFill>
              <a:schemeClr val="tx2"/>
            </a:solidFill>
            <a:prstDash val="solid"/>
          </a:ln>
        </p:spPr>
      </p:sp>
      <p:pic>
        <p:nvPicPr>
          <p:cNvPr id="15" name="Qualità dei dati e completamenti icona" descr="preencoded.png">    </p:cNvPr>
          <p:cNvPicPr>
            <a:picLocks noChangeAspect="1"/>
          </p:cNvPicPr>
          <p:nvPr/>
        </p:nvPicPr>
        <p:blipFill>
          <a:blip r:embed="rId3"/>
          <a:stretch>
            <a:fillRect/>
          </a:stretch>
        </p:blipFill>
        <p:spPr>
          <a:xfrm>
            <a:off x="8473440" y="1691640"/>
            <a:ext cx="274320" cy="274320"/>
          </a:xfrm>
          <a:prstGeom prst="rect">
            <a:avLst/>
          </a:prstGeom>
        </p:spPr>
      </p:pic>
      <p:sp>
        <p:nvSpPr>
          <p:cNvPr id="16" name="Text 11"/>
          <p:cNvSpPr txBox="1"/>
          <p:nvPr/>
        </p:nvSpPr>
        <p:spPr>
          <a:xfrm>
            <a:off x="9022080" y="1508760"/>
            <a:ext cx="2453640" cy="640080"/>
          </a:xfrm>
          <a:prstGeom prst="rect">
            <a:avLst/>
          </a:prstGeom>
          <a:noFill/>
          <a:ln/>
        </p:spPr>
        <p:txBody>
          <a:bodyPr wrap="square" lIns="0" tIns="0" rIns="0" bIns="0" rtlCol="0" anchor="ctr"/>
          <a:lstStyle/>
          <a:p>
            <a:pPr indent="0" marL="0">
              <a:buNone/>
            </a:pPr>
            <a:r>
              <a:rPr lang="en-US" sz="1700" b="1" dirty="0">
                <a:solidFill>
                  <a:schemeClr val="tx2"/>
                </a:solidFill>
              </a:rPr>
              <a:t>Qualità dei dati e completamenti</a:t>
            </a:r>
            <a:endParaRPr lang="en-US" sz="1700" dirty="0"/>
          </a:p>
        </p:txBody>
      </p:sp>
      <p:sp>
        <p:nvSpPr>
          <p:cNvPr id="17" name="Text 12"/>
          <p:cNvSpPr txBox="1"/>
          <p:nvPr/>
        </p:nvSpPr>
        <p:spPr>
          <a:xfrm>
            <a:off x="8382000" y="2286000"/>
            <a:ext cx="3048000" cy="3749040"/>
          </a:xfrm>
          <a:prstGeom prst="rect">
            <a:avLst/>
          </a:prstGeom>
          <a:noFill/>
          <a:ln/>
        </p:spPr>
        <p:txBody>
          <a:bodyPr wrap="square" lIns="0" tIns="0" rIns="0" bIns="0" rtlCol="0" anchor="t"/>
          <a:lstStyle/>
          <a:p>
            <a:pPr marL="342900" indent="-342900">
              <a:spcAft>
                <a:spcPts val="700"/>
              </a:spcAft>
              <a:buSzPct val="100000"/>
              <a:buChar char="•"/>
            </a:pPr>
            <a:r>
              <a:rPr lang="en-US" sz="1350" dirty="0">
                <a:solidFill>
                  <a:schemeClr val="tx1"/>
                </a:solidFill>
              </a:rPr>
              <a:t>Dati ufficiali per i controlli: popolazione e cluster SOSE di ogni Comune</a:t>
            </a:r>
            <a:endParaRPr lang="en-US" sz="1350" dirty="0"/>
          </a:p>
          <a:p>
            <a:pPr marL="342900" indent="-342900">
              <a:spcAft>
                <a:spcPts val="700"/>
              </a:spcAft>
              <a:buSzPct val="100000"/>
              <a:buChar char="•"/>
            </a:pPr>
            <a:r>
              <a:rPr lang="en-US" sz="1350" dirty="0">
                <a:solidFill>
                  <a:schemeClr val="tx1"/>
                </a:solidFill>
              </a:rPr>
              <a:t>Conferma delle scelte interpretative del calcolo con l'ente</a:t>
            </a:r>
            <a:endParaRPr lang="en-US" sz="1350" dirty="0"/>
          </a:p>
          <a:p>
            <a:pPr marL="342900" indent="-342900">
              <a:spcAft>
                <a:spcPts val="700"/>
              </a:spcAft>
              <a:buSzPct val="100000"/>
              <a:buChar char="•"/>
            </a:pPr>
            <a:r>
              <a:rPr lang="en-US" sz="1350" dirty="0">
                <a:solidFill>
                  <a:schemeClr val="tx1"/>
                </a:solidFill>
              </a:rPr>
              <a:t>Privacy: DPIA, registro dei trattamenti; accessibilità WCAG 2.1 AA</a:t>
            </a:r>
            <a:endParaRPr lang="en-US" sz="1350" dirty="0"/>
          </a:p>
          <a:p>
            <a:pPr marL="342900" indent="-342900">
              <a:spcAft>
                <a:spcPts val="700"/>
              </a:spcAft>
              <a:buSzPct val="100000"/>
              <a:buChar char="•"/>
            </a:pPr>
            <a:r>
              <a:rPr lang="en-US" sz="1350" dirty="0">
                <a:solidFill>
                  <a:schemeClr val="tx1"/>
                </a:solidFill>
              </a:rPr>
              <a:t>Collaudo con i dati reali di un Comune</a:t>
            </a:r>
            <a:endParaRPr lang="en-US" sz="1350" dirty="0"/>
          </a:p>
          <a:p>
            <a:pPr marL="342900" indent="-342900">
              <a:spcAft>
                <a:spcPts val="700"/>
              </a:spcAft>
              <a:buSzPct val="100000"/>
              <a:buChar char="•"/>
            </a:pPr>
            <a:r>
              <a:rPr lang="en-US" sz="1350" dirty="0">
                <a:solidFill>
                  <a:schemeClr val="tx1"/>
                </a:solidFill>
              </a:rPr>
              <a:t>Nuovi moduli: simulatore con PDF ed Excel, assistente virtuale (poi Operatori e aiuto sulla pratica), Audit User e utenti online (fatti il 20/10); navigazione da smartphone (22/10); Banca Dati Utenze per utenza nel calcolo (22-23/10); valore dei crediti in Dashboard (23/10); Marketplaces da definire</a:t>
            </a:r>
            <a:endParaRPr lang="en-US" sz="13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Nuovi moduli: simulatore e assistente virtuale</a:t>
            </a:r>
            <a:endParaRPr lang="en-US" sz="3000" dirty="0"/>
          </a:p>
        </p:txBody>
      </p:sp>
      <p:sp>
        <p:nvSpPr>
          <p:cNvPr id="3" name="Riquadro simulatore"/>
          <p:cNvSpPr/>
          <p:nvPr/>
        </p:nvSpPr>
        <p:spPr>
          <a:xfrm>
            <a:off x="548640" y="1234440"/>
            <a:ext cx="7086600" cy="5029200"/>
          </a:xfrm>
          <a:prstGeom prst="roundRect">
            <a:avLst>
              <a:gd name="adj" fmla="val 2182"/>
            </a:avLst>
          </a:prstGeom>
          <a:solidFill>
            <a:schemeClr val="bg2"/>
          </a:solidFill>
          <a:ln w="12700">
            <a:solidFill>
              <a:schemeClr val="bg2"/>
            </a:solidFill>
            <a:prstDash val="solid"/>
          </a:ln>
        </p:spPr>
      </p:sp>
      <p:sp>
        <p:nvSpPr>
          <p:cNvPr id="4" name="Simulatore cerchio"/>
          <p:cNvSpPr/>
          <p:nvPr/>
        </p:nvSpPr>
        <p:spPr>
          <a:xfrm>
            <a:off x="777240" y="1417320"/>
            <a:ext cx="548640" cy="548640"/>
          </a:xfrm>
          <a:prstGeom prst="ellipse">
            <a:avLst/>
          </a:prstGeom>
          <a:solidFill>
            <a:schemeClr val="accent2"/>
          </a:solidFill>
          <a:ln w="12700">
            <a:solidFill>
              <a:schemeClr val="accent2"/>
            </a:solidFill>
            <a:prstDash val="solid"/>
          </a:ln>
        </p:spPr>
      </p:sp>
      <p:pic>
        <p:nvPicPr>
          <p:cNvPr id="5" name="Simulatore icona" descr="preencoded.png">    </p:cNvPr>
          <p:cNvPicPr>
            <a:picLocks noChangeAspect="1"/>
          </p:cNvPicPr>
          <p:nvPr/>
        </p:nvPicPr>
        <p:blipFill>
          <a:blip r:embed="rId1"/>
          <a:stretch>
            <a:fillRect/>
          </a:stretch>
        </p:blipFill>
        <p:spPr>
          <a:xfrm>
            <a:off x="914400" y="1554480"/>
            <a:ext cx="274320" cy="274320"/>
          </a:xfrm>
          <a:prstGeom prst="rect">
            <a:avLst/>
          </a:prstGeom>
        </p:spPr>
      </p:pic>
      <p:sp>
        <p:nvSpPr>
          <p:cNvPr id="6" name="Text 3"/>
          <p:cNvSpPr txBox="1"/>
          <p:nvPr/>
        </p:nvSpPr>
        <p:spPr>
          <a:xfrm>
            <a:off x="1463040" y="1371600"/>
            <a:ext cx="3840480" cy="365760"/>
          </a:xfrm>
          <a:prstGeom prst="rect">
            <a:avLst/>
          </a:prstGeom>
          <a:noFill/>
          <a:ln/>
        </p:spPr>
        <p:txBody>
          <a:bodyPr wrap="square" lIns="0" tIns="0" rIns="0" bIns="0" rtlCol="0" anchor="ctr"/>
          <a:lstStyle/>
          <a:p>
            <a:pPr indent="0" marL="0">
              <a:buNone/>
            </a:pPr>
            <a:r>
              <a:rPr lang="en-US" sz="1800" b="1" dirty="0">
                <a:solidFill>
                  <a:schemeClr val="tx2"/>
                </a:solidFill>
              </a:rPr>
              <a:t>Simulatore di scenari</a:t>
            </a:r>
            <a:endParaRPr lang="en-US" sz="1800" dirty="0"/>
          </a:p>
        </p:txBody>
      </p:sp>
      <p:sp>
        <p:nvSpPr>
          <p:cNvPr id="7" name="Text 4"/>
          <p:cNvSpPr txBox="1"/>
          <p:nvPr/>
        </p:nvSpPr>
        <p:spPr>
          <a:xfrm>
            <a:off x="1463040" y="1737360"/>
            <a:ext cx="3931920" cy="457200"/>
          </a:xfrm>
          <a:prstGeom prst="rect">
            <a:avLst/>
          </a:prstGeom>
          <a:noFill/>
          <a:ln/>
        </p:spPr>
        <p:txBody>
          <a:bodyPr wrap="square" lIns="0" tIns="0" rIns="0" bIns="0" rtlCol="0" anchor="ctr"/>
          <a:lstStyle/>
          <a:p>
            <a:pPr indent="0" marL="0">
              <a:buNone/>
            </a:pPr>
            <a:r>
              <a:rPr lang="en-US" sz="1200" dirty="0">
                <a:solidFill>
                  <a:schemeClr val="accent6"/>
                </a:solidFill>
              </a:rPr>
              <a:t>Quanti crediti potrebbe generare un Comune? Una stima anno per anno, prima di aderire.</a:t>
            </a:r>
            <a:endParaRPr lang="en-US" sz="1200" dirty="0"/>
          </a:p>
        </p:txBody>
      </p:sp>
      <p:sp>
        <p:nvSpPr>
          <p:cNvPr id="8" name="Badge online"/>
          <p:cNvSpPr/>
          <p:nvPr/>
        </p:nvSpPr>
        <p:spPr>
          <a:xfrm>
            <a:off x="1463040" y="2212848"/>
            <a:ext cx="2148840" cy="274320"/>
          </a:xfrm>
          <a:prstGeom prst="roundRect">
            <a:avLst>
              <a:gd name="adj" fmla="val 50000"/>
            </a:avLst>
          </a:prstGeom>
          <a:solidFill>
            <a:schemeClr val="accent2"/>
          </a:solidFill>
          <a:ln w="12700">
            <a:solidFill>
              <a:schemeClr val="accent2"/>
            </a:solidFill>
            <a:prstDash val="solid"/>
          </a:ln>
        </p:spPr>
      </p:sp>
      <p:sp>
        <p:nvSpPr>
          <p:cNvPr id="9" name="Text 6"/>
          <p:cNvSpPr txBox="1"/>
          <p:nvPr/>
        </p:nvSpPr>
        <p:spPr>
          <a:xfrm>
            <a:off x="1463040" y="2212848"/>
            <a:ext cx="2148840" cy="274320"/>
          </a:xfrm>
          <a:prstGeom prst="rect">
            <a:avLst/>
          </a:prstGeom>
          <a:noFill/>
          <a:ln/>
        </p:spPr>
        <p:txBody>
          <a:bodyPr wrap="square" lIns="0" tIns="0" rIns="0" bIns="0" rtlCol="0" anchor="ctr"/>
          <a:lstStyle/>
          <a:p>
            <a:pPr algn="ctr" indent="0" marL="0">
              <a:buNone/>
            </a:pPr>
            <a:r>
              <a:rPr lang="en-US" sz="1000" b="1" spc="100" kern="0" dirty="0">
                <a:solidFill>
                  <a:schemeClr val="bg1"/>
                </a:solidFill>
              </a:rPr>
              <a:t>PRIMA VERSIONE ONLINE</a:t>
            </a:r>
            <a:endParaRPr lang="en-US" sz="1000" dirty="0"/>
          </a:p>
        </p:txBody>
      </p:sp>
      <p:sp>
        <p:nvSpPr>
          <p:cNvPr id="10" name="Menu durata"/>
          <p:cNvSpPr/>
          <p:nvPr/>
        </p:nvSpPr>
        <p:spPr>
          <a:xfrm>
            <a:off x="5532120" y="1417320"/>
            <a:ext cx="1920240" cy="384048"/>
          </a:xfrm>
          <a:prstGeom prst="roundRect">
            <a:avLst>
              <a:gd name="adj" fmla="val 14286"/>
            </a:avLst>
          </a:prstGeom>
          <a:solidFill>
            <a:schemeClr val="bg1"/>
          </a:solidFill>
          <a:ln w="15875">
            <a:solidFill>
              <a:srgbClr val="2F5D3A"/>
            </a:solidFill>
            <a:prstDash val="solid"/>
          </a:ln>
        </p:spPr>
      </p:sp>
      <p:sp>
        <p:nvSpPr>
          <p:cNvPr id="11" name="Text 8"/>
          <p:cNvSpPr txBox="1"/>
          <p:nvPr/>
        </p:nvSpPr>
        <p:spPr>
          <a:xfrm>
            <a:off x="5623560" y="1417320"/>
            <a:ext cx="1783080" cy="384048"/>
          </a:xfrm>
          <a:prstGeom prst="rect">
            <a:avLst/>
          </a:prstGeom>
          <a:noFill/>
          <a:ln/>
        </p:spPr>
        <p:txBody>
          <a:bodyPr wrap="square" lIns="0" tIns="0" rIns="0" bIns="0" rtlCol="0" anchor="ctr"/>
          <a:lstStyle/>
          <a:p>
            <a:pPr indent="0" marL="0">
              <a:buNone/>
            </a:pPr>
            <a:r>
              <a:rPr lang="en-US" sz="1200" dirty="0">
                <a:solidFill>
                  <a:schemeClr val="accent6"/>
                </a:solidFill>
              </a:rPr>
              <a:t>Durata: </a:t>
            </a:r>
            <a:pPr indent="0" marL="0">
              <a:buNone/>
            </a:pPr>
            <a:r>
              <a:rPr lang="en-US" sz="1200" b="1" dirty="0">
                <a:solidFill>
                  <a:schemeClr val="tx2"/>
                </a:solidFill>
              </a:rPr>
              <a:t>10 anni  ▾</a:t>
            </a:r>
            <a:endParaRPr lang="en-US" sz="1200" dirty="0"/>
          </a:p>
        </p:txBody>
      </p:sp>
      <p:sp>
        <p:nvSpPr>
          <p:cNvPr id="12" name="Opzioni durata"/>
          <p:cNvSpPr/>
          <p:nvPr/>
        </p:nvSpPr>
        <p:spPr>
          <a:xfrm>
            <a:off x="5532120" y="1819656"/>
            <a:ext cx="1920240" cy="603504"/>
          </a:xfrm>
          <a:prstGeom prst="rect">
            <a:avLst/>
          </a:prstGeom>
          <a:solidFill>
            <a:schemeClr val="bg1"/>
          </a:solidFill>
          <a:ln w="9525">
            <a:solidFill>
              <a:srgbClr val="D9D4C5"/>
            </a:solidFill>
            <a:prstDash val="solid"/>
          </a:ln>
        </p:spPr>
      </p:sp>
      <p:sp>
        <p:nvSpPr>
          <p:cNvPr id="13" name="Text 10"/>
          <p:cNvSpPr txBox="1"/>
          <p:nvPr/>
        </p:nvSpPr>
        <p:spPr>
          <a:xfrm>
            <a:off x="5532120" y="1819656"/>
            <a:ext cx="1920240" cy="603504"/>
          </a:xfrm>
          <a:prstGeom prst="rect">
            <a:avLst/>
          </a:prstGeom>
          <a:noFill/>
          <a:ln/>
        </p:spPr>
        <p:txBody>
          <a:bodyPr wrap="square" lIns="0" tIns="0" rIns="0" bIns="0" rtlCol="0" anchor="ctr"/>
          <a:lstStyle/>
          <a:p>
            <a:pPr algn="ctr" indent="0" marL="0">
              <a:buNone/>
            </a:pPr>
            <a:r>
              <a:rPr lang="en-US" sz="1100" dirty="0">
                <a:solidFill>
                  <a:schemeClr val="tx1"/>
                </a:solidFill>
              </a:rPr>
              <a:t>7 anni  ·  10 anni  ·  21 anni</a:t>
            </a:r>
            <a:endParaRPr lang="en-US" sz="1100" dirty="0"/>
          </a:p>
        </p:txBody>
      </p:sp>
      <p:sp>
        <p:nvSpPr>
          <p:cNvPr id="14" name="Passo 1"/>
          <p:cNvSpPr/>
          <p:nvPr/>
        </p:nvSpPr>
        <p:spPr>
          <a:xfrm>
            <a:off x="822960" y="2633472"/>
            <a:ext cx="420624" cy="420624"/>
          </a:xfrm>
          <a:prstGeom prst="ellipse">
            <a:avLst/>
          </a:prstGeom>
          <a:solidFill>
            <a:schemeClr val="tx2"/>
          </a:solidFill>
          <a:ln w="12700">
            <a:solidFill>
              <a:schemeClr val="tx2"/>
            </a:solidFill>
            <a:prstDash val="solid"/>
          </a:ln>
        </p:spPr>
      </p:sp>
      <p:sp>
        <p:nvSpPr>
          <p:cNvPr id="15" name="Text 12"/>
          <p:cNvSpPr txBox="1"/>
          <p:nvPr/>
        </p:nvSpPr>
        <p:spPr>
          <a:xfrm>
            <a:off x="822960" y="2633472"/>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6" name="Text 13"/>
          <p:cNvSpPr txBox="1"/>
          <p:nvPr/>
        </p:nvSpPr>
        <p:spPr>
          <a:xfrm>
            <a:off x="1417320" y="2560320"/>
            <a:ext cx="6035040" cy="603504"/>
          </a:xfrm>
          <a:prstGeom prst="rect">
            <a:avLst/>
          </a:prstGeom>
          <a:noFill/>
          <a:ln/>
        </p:spPr>
        <p:txBody>
          <a:bodyPr wrap="square" lIns="0" tIns="0" rIns="0" bIns="0" rtlCol="0" anchor="ctr"/>
          <a:lstStyle/>
          <a:p>
            <a:pPr indent="0" marL="0">
              <a:buNone/>
            </a:pPr>
            <a:r>
              <a:rPr lang="en-US" sz="1350" b="1" dirty="0">
                <a:solidFill>
                  <a:schemeClr val="tx2"/>
                </a:solidFill>
              </a:rPr>
              <a:t>Scenari per Comune</a:t>
            </a:r>
            <a:endParaRPr lang="en-US" sz="1350" dirty="0"/>
          </a:p>
          <a:p>
            <a:pPr indent="0" marL="0">
              <a:buNone/>
            </a:pPr>
            <a:r>
              <a:rPr lang="en-US" sz="1150" dirty="0">
                <a:solidFill>
                  <a:schemeClr val="tx1"/>
                </a:solidFill>
              </a:rPr>
              <a:t>Più scenari per ogni Comune («prudente», «obiettivo»…), durata 7, 10 o 21 anni</a:t>
            </a:r>
            <a:endParaRPr lang="en-US" sz="1350" dirty="0"/>
          </a:p>
        </p:txBody>
      </p:sp>
      <p:sp>
        <p:nvSpPr>
          <p:cNvPr id="17" name="Passo 2"/>
          <p:cNvSpPr/>
          <p:nvPr/>
        </p:nvSpPr>
        <p:spPr>
          <a:xfrm>
            <a:off x="822960" y="3346704"/>
            <a:ext cx="420624" cy="420624"/>
          </a:xfrm>
          <a:prstGeom prst="ellipse">
            <a:avLst/>
          </a:prstGeom>
          <a:solidFill>
            <a:schemeClr val="tx2"/>
          </a:solidFill>
          <a:ln w="12700">
            <a:solidFill>
              <a:schemeClr val="tx2"/>
            </a:solidFill>
            <a:prstDash val="solid"/>
          </a:ln>
        </p:spPr>
      </p:sp>
      <p:sp>
        <p:nvSpPr>
          <p:cNvPr id="18" name="Text 15"/>
          <p:cNvSpPr txBox="1"/>
          <p:nvPr/>
        </p:nvSpPr>
        <p:spPr>
          <a:xfrm>
            <a:off x="822960" y="3346704"/>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9" name="Text 16"/>
          <p:cNvSpPr txBox="1"/>
          <p:nvPr/>
        </p:nvSpPr>
        <p:spPr>
          <a:xfrm>
            <a:off x="1417320" y="3273552"/>
            <a:ext cx="6035040" cy="603504"/>
          </a:xfrm>
          <a:prstGeom prst="rect">
            <a:avLst/>
          </a:prstGeom>
          <a:noFill/>
          <a:ln/>
        </p:spPr>
        <p:txBody>
          <a:bodyPr wrap="square" lIns="0" tIns="0" rIns="0" bIns="0" rtlCol="0" anchor="ctr"/>
          <a:lstStyle/>
          <a:p>
            <a:pPr indent="0" marL="0">
              <a:buNone/>
            </a:pPr>
            <a:r>
              <a:rPr lang="en-US" sz="1350" b="1" dirty="0">
                <a:solidFill>
                  <a:schemeClr val="tx2"/>
                </a:solidFill>
              </a:rPr>
              <a:t>Scenario di riferimento (Standard 4.8.1)</a:t>
            </a:r>
            <a:endParaRPr lang="en-US" sz="1350" dirty="0"/>
          </a:p>
          <a:p>
            <a:pPr indent="0" marL="0">
              <a:buNone/>
            </a:pPr>
            <a:r>
              <a:rPr lang="en-US" sz="1150" dirty="0">
                <a:solidFill>
                  <a:schemeClr val="tx1"/>
                </a:solidFill>
              </a:rPr>
              <a:t>Anno con il 65% di differenziata o valori medi del cluster SOSE; situazione attuale come partenza</a:t>
            </a:r>
            <a:endParaRPr lang="en-US" sz="1350" dirty="0"/>
          </a:p>
        </p:txBody>
      </p:sp>
      <p:sp>
        <p:nvSpPr>
          <p:cNvPr id="20" name="Passo 3"/>
          <p:cNvSpPr/>
          <p:nvPr/>
        </p:nvSpPr>
        <p:spPr>
          <a:xfrm>
            <a:off x="822960" y="4059936"/>
            <a:ext cx="420624" cy="420624"/>
          </a:xfrm>
          <a:prstGeom prst="ellipse">
            <a:avLst/>
          </a:prstGeom>
          <a:solidFill>
            <a:schemeClr val="tx2"/>
          </a:solidFill>
          <a:ln w="12700">
            <a:solidFill>
              <a:schemeClr val="tx2"/>
            </a:solidFill>
            <a:prstDash val="solid"/>
          </a:ln>
        </p:spPr>
      </p:sp>
      <p:sp>
        <p:nvSpPr>
          <p:cNvPr id="21" name="Text 18"/>
          <p:cNvSpPr txBox="1"/>
          <p:nvPr/>
        </p:nvSpPr>
        <p:spPr>
          <a:xfrm>
            <a:off x="822960" y="4059936"/>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2" name="Text 19"/>
          <p:cNvSpPr txBox="1"/>
          <p:nvPr/>
        </p:nvSpPr>
        <p:spPr>
          <a:xfrm>
            <a:off x="1417320" y="3986784"/>
            <a:ext cx="6035040" cy="603504"/>
          </a:xfrm>
          <a:prstGeom prst="rect">
            <a:avLst/>
          </a:prstGeom>
          <a:noFill/>
          <a:ln/>
        </p:spPr>
        <p:txBody>
          <a:bodyPr wrap="square" lIns="0" tIns="0" rIns="0" bIns="0" rtlCol="0" anchor="ctr"/>
          <a:lstStyle/>
          <a:p>
            <a:pPr indent="0" marL="0">
              <a:buNone/>
            </a:pPr>
            <a:r>
              <a:rPr lang="en-US" sz="1350" b="1" dirty="0">
                <a:solidFill>
                  <a:schemeClr val="tx2"/>
                </a:solidFill>
              </a:rPr>
              <a:t>Obiettivi anno per anno</a:t>
            </a:r>
            <a:endParaRPr lang="en-US" sz="1350" dirty="0"/>
          </a:p>
          <a:p>
            <a:pPr indent="0" marL="0">
              <a:buNone/>
            </a:pPr>
            <a:r>
              <a:rPr lang="en-US" sz="1150" dirty="0">
                <a:solidFill>
                  <a:schemeClr val="tx1"/>
                </a:solidFill>
              </a:rPr>
              <a:t>Produzione totale e pro capite prevista, secco residuo pro capite obiettivo</a:t>
            </a:r>
            <a:endParaRPr lang="en-US" sz="1350" dirty="0"/>
          </a:p>
        </p:txBody>
      </p:sp>
      <p:sp>
        <p:nvSpPr>
          <p:cNvPr id="23" name="Passo 4"/>
          <p:cNvSpPr/>
          <p:nvPr/>
        </p:nvSpPr>
        <p:spPr>
          <a:xfrm>
            <a:off x="822960" y="4773168"/>
            <a:ext cx="420624" cy="420624"/>
          </a:xfrm>
          <a:prstGeom prst="ellipse">
            <a:avLst/>
          </a:prstGeom>
          <a:solidFill>
            <a:schemeClr val="tx2"/>
          </a:solidFill>
          <a:ln w="12700">
            <a:solidFill>
              <a:schemeClr val="tx2"/>
            </a:solidFill>
            <a:prstDash val="solid"/>
          </a:ln>
        </p:spPr>
      </p:sp>
      <p:sp>
        <p:nvSpPr>
          <p:cNvPr id="24" name="Text 21"/>
          <p:cNvSpPr txBox="1"/>
          <p:nvPr/>
        </p:nvSpPr>
        <p:spPr>
          <a:xfrm>
            <a:off x="822960" y="477316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5" name="Text 22"/>
          <p:cNvSpPr txBox="1"/>
          <p:nvPr/>
        </p:nvSpPr>
        <p:spPr>
          <a:xfrm>
            <a:off x="1417320" y="4700016"/>
            <a:ext cx="6035040" cy="603504"/>
          </a:xfrm>
          <a:prstGeom prst="rect">
            <a:avLst/>
          </a:prstGeom>
          <a:noFill/>
          <a:ln/>
        </p:spPr>
        <p:txBody>
          <a:bodyPr wrap="square" lIns="0" tIns="0" rIns="0" bIns="0" rtlCol="0" anchor="ctr"/>
          <a:lstStyle/>
          <a:p>
            <a:pPr indent="0" marL="0">
              <a:buNone/>
            </a:pPr>
            <a:r>
              <a:rPr lang="en-US" sz="1350" b="1" dirty="0">
                <a:solidFill>
                  <a:schemeClr val="tx2"/>
                </a:solidFill>
              </a:rPr>
              <a:t>% di differenziata</a:t>
            </a:r>
            <a:endParaRPr lang="en-US" sz="1350" dirty="0"/>
          </a:p>
          <a:p>
            <a:pPr indent="0" marL="0">
              <a:buNone/>
            </a:pPr>
            <a:r>
              <a:rPr lang="en-US" sz="1150" dirty="0">
                <a:solidFill>
                  <a:schemeClr val="tx1"/>
                </a:solidFill>
              </a:rPr>
              <a:t>Ricalcolata ogni anno: (totale − secco) / totale</a:t>
            </a:r>
            <a:endParaRPr lang="en-US" sz="1350" dirty="0"/>
          </a:p>
        </p:txBody>
      </p:sp>
      <p:sp>
        <p:nvSpPr>
          <p:cNvPr id="26" name="Passo 5"/>
          <p:cNvSpPr/>
          <p:nvPr/>
        </p:nvSpPr>
        <p:spPr>
          <a:xfrm>
            <a:off x="822960" y="5486400"/>
            <a:ext cx="420624" cy="420624"/>
          </a:xfrm>
          <a:prstGeom prst="ellipse">
            <a:avLst/>
          </a:prstGeom>
          <a:solidFill>
            <a:schemeClr val="accent2"/>
          </a:solidFill>
          <a:ln w="12700">
            <a:solidFill>
              <a:schemeClr val="accent2"/>
            </a:solidFill>
            <a:prstDash val="solid"/>
          </a:ln>
        </p:spPr>
      </p:sp>
      <p:sp>
        <p:nvSpPr>
          <p:cNvPr id="27" name="Text 24"/>
          <p:cNvSpPr txBox="1"/>
          <p:nvPr/>
        </p:nvSpPr>
        <p:spPr>
          <a:xfrm>
            <a:off x="822960" y="548640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8" name="Text 25"/>
          <p:cNvSpPr txBox="1"/>
          <p:nvPr/>
        </p:nvSpPr>
        <p:spPr>
          <a:xfrm>
            <a:off x="1417320" y="5413248"/>
            <a:ext cx="6035040" cy="603504"/>
          </a:xfrm>
          <a:prstGeom prst="rect">
            <a:avLst/>
          </a:prstGeom>
          <a:noFill/>
          <a:ln/>
        </p:spPr>
        <p:txBody>
          <a:bodyPr wrap="square" lIns="0" tIns="0" rIns="0" bIns="0" rtlCol="0" anchor="ctr"/>
          <a:lstStyle/>
          <a:p>
            <a:pPr indent="0" marL="0">
              <a:buNone/>
            </a:pPr>
            <a:r>
              <a:rPr lang="en-US" sz="1350" b="1" dirty="0">
                <a:solidFill>
                  <a:schemeClr val="tx2"/>
                </a:solidFill>
              </a:rPr>
              <a:t>Crediti e conti economici</a:t>
            </a:r>
            <a:endParaRPr lang="en-US" sz="1350" dirty="0"/>
          </a:p>
          <a:p>
            <a:pPr indent="0" marL="0">
              <a:buNone/>
            </a:pPr>
            <a:r>
              <a:rPr lang="en-US" sz="1150" dirty="0">
                <a:solidFill>
                  <a:schemeClr val="tx1"/>
                </a:solidFill>
              </a:rPr>
              <a:t>Bilancio del Comune o per utenza (come l'Allegato A EsaCom); ricavi a 32 € anno per anno; costi Caso 1 o 2; margine</a:t>
            </a:r>
            <a:endParaRPr lang="en-US" sz="1350" dirty="0"/>
          </a:p>
        </p:txBody>
      </p:sp>
      <p:sp>
        <p:nvSpPr>
          <p:cNvPr id="29" name="Text 26"/>
          <p:cNvSpPr txBox="1"/>
          <p:nvPr/>
        </p:nvSpPr>
        <p:spPr>
          <a:xfrm>
            <a:off x="822960" y="6035040"/>
            <a:ext cx="6675120" cy="228600"/>
          </a:xfrm>
          <a:prstGeom prst="rect">
            <a:avLst/>
          </a:prstGeom>
          <a:noFill/>
          <a:ln/>
        </p:spPr>
        <p:txBody>
          <a:bodyPr wrap="square" lIns="0" tIns="0" rIns="0" bIns="0" rtlCol="0" anchor="ctr"/>
          <a:lstStyle/>
          <a:p>
            <a:pPr indent="0" marL="0">
              <a:buNone/>
            </a:pPr>
            <a:r>
              <a:rPr lang="en-US" sz="1000" i="1" dirty="0">
                <a:solidFill>
                  <a:schemeClr val="accent6"/>
                </a:solidFill>
              </a:rPr>
              <a:t>Stima ex ante a scopo di pianificazione: i crediti veri si calcolano ex post con la Banca Dati Utenze.</a:t>
            </a:r>
            <a:endParaRPr lang="en-US" sz="1000" dirty="0"/>
          </a:p>
        </p:txBody>
      </p:sp>
      <p:sp>
        <p:nvSpPr>
          <p:cNvPr id="30" name="Riquadro assistente"/>
          <p:cNvSpPr/>
          <p:nvPr/>
        </p:nvSpPr>
        <p:spPr>
          <a:xfrm>
            <a:off x="7863840" y="1234440"/>
            <a:ext cx="3749040" cy="5029200"/>
          </a:xfrm>
          <a:prstGeom prst="roundRect">
            <a:avLst>
              <a:gd name="adj" fmla="val 2927"/>
            </a:avLst>
          </a:prstGeom>
          <a:solidFill>
            <a:schemeClr val="accent3"/>
          </a:solidFill>
          <a:ln w="12700">
            <a:solidFill>
              <a:schemeClr val="accent3"/>
            </a:solidFill>
            <a:prstDash val="solid"/>
          </a:ln>
        </p:spPr>
      </p:sp>
      <p:sp>
        <p:nvSpPr>
          <p:cNvPr id="31" name="Assistente cerchio"/>
          <p:cNvSpPr/>
          <p:nvPr/>
        </p:nvSpPr>
        <p:spPr>
          <a:xfrm>
            <a:off x="8092440" y="1417320"/>
            <a:ext cx="548640" cy="548640"/>
          </a:xfrm>
          <a:prstGeom prst="ellipse">
            <a:avLst/>
          </a:prstGeom>
          <a:solidFill>
            <a:schemeClr val="tx2"/>
          </a:solidFill>
          <a:ln w="12700">
            <a:solidFill>
              <a:schemeClr val="tx2"/>
            </a:solidFill>
            <a:prstDash val="solid"/>
          </a:ln>
        </p:spPr>
      </p:sp>
      <p:pic>
        <p:nvPicPr>
          <p:cNvPr id="32" name="Assistente icona" descr="preencoded.png">    </p:cNvPr>
          <p:cNvPicPr>
            <a:picLocks noChangeAspect="1"/>
          </p:cNvPicPr>
          <p:nvPr/>
        </p:nvPicPr>
        <p:blipFill>
          <a:blip r:embed="rId2"/>
          <a:stretch>
            <a:fillRect/>
          </a:stretch>
        </p:blipFill>
        <p:spPr>
          <a:xfrm>
            <a:off x="8229600" y="1554480"/>
            <a:ext cx="274320" cy="274320"/>
          </a:xfrm>
          <a:prstGeom prst="rect">
            <a:avLst/>
          </a:prstGeom>
        </p:spPr>
      </p:pic>
      <p:sp>
        <p:nvSpPr>
          <p:cNvPr id="33" name="Text 29"/>
          <p:cNvSpPr txBox="1"/>
          <p:nvPr/>
        </p:nvSpPr>
        <p:spPr>
          <a:xfrm>
            <a:off x="8778240" y="1371600"/>
            <a:ext cx="2743200" cy="685800"/>
          </a:xfrm>
          <a:prstGeom prst="rect">
            <a:avLst/>
          </a:prstGeom>
          <a:noFill/>
          <a:ln/>
        </p:spPr>
        <p:txBody>
          <a:bodyPr wrap="square" lIns="0" tIns="0" rIns="0" bIns="0" rtlCol="0" anchor="ctr"/>
          <a:lstStyle/>
          <a:p>
            <a:pPr indent="0" marL="0">
              <a:buNone/>
            </a:pPr>
            <a:r>
              <a:rPr lang="en-US" sz="1800" b="1" dirty="0">
                <a:solidFill>
                  <a:schemeClr val="tx2"/>
                </a:solidFill>
              </a:rPr>
              <a:t>Assistente virtuale Claude</a:t>
            </a:r>
            <a:endParaRPr lang="en-US" sz="1800" dirty="0"/>
          </a:p>
        </p:txBody>
      </p:sp>
      <p:sp>
        <p:nvSpPr>
          <p:cNvPr id="34" name="Badge attivo"/>
          <p:cNvSpPr/>
          <p:nvPr/>
        </p:nvSpPr>
        <p:spPr>
          <a:xfrm>
            <a:off x="8778240" y="2029968"/>
            <a:ext cx="2194560" cy="256032"/>
          </a:xfrm>
          <a:prstGeom prst="roundRect">
            <a:avLst>
              <a:gd name="adj" fmla="val 50000"/>
            </a:avLst>
          </a:prstGeom>
          <a:solidFill>
            <a:schemeClr val="bg1"/>
          </a:solidFill>
          <a:ln w="9525">
            <a:solidFill>
              <a:schemeClr val="tx2"/>
            </a:solidFill>
            <a:prstDash val="solid"/>
          </a:ln>
        </p:spPr>
      </p:sp>
      <p:sp>
        <p:nvSpPr>
          <p:cNvPr id="35" name="Text 31"/>
          <p:cNvSpPr txBox="1"/>
          <p:nvPr/>
        </p:nvSpPr>
        <p:spPr>
          <a:xfrm>
            <a:off x="8778240" y="2029968"/>
            <a:ext cx="2194560" cy="256032"/>
          </a:xfrm>
          <a:prstGeom prst="rect">
            <a:avLst/>
          </a:prstGeom>
          <a:noFill/>
          <a:ln/>
        </p:spPr>
        <p:txBody>
          <a:bodyPr wrap="square" lIns="0" tIns="0" rIns="0" bIns="0" rtlCol="0" anchor="ctr"/>
          <a:lstStyle/>
          <a:p>
            <a:pPr algn="ctr" indent="0" marL="0">
              <a:buNone/>
            </a:pPr>
            <a:r>
              <a:rPr lang="en-US" sz="950" b="1" spc="100" kern="0" dirty="0">
                <a:solidFill>
                  <a:schemeClr val="tx2"/>
                </a:solidFill>
              </a:rPr>
              <a:t>ATTIVO DAL 19/10</a:t>
            </a:r>
            <a:endParaRPr lang="en-US" sz="950" dirty="0"/>
          </a:p>
        </p:txBody>
      </p:sp>
      <p:sp>
        <p:nvSpPr>
          <p:cNvPr id="36" name="Text 32"/>
          <p:cNvSpPr txBox="1"/>
          <p:nvPr/>
        </p:nvSpPr>
        <p:spPr>
          <a:xfrm>
            <a:off x="8092440" y="2423160"/>
            <a:ext cx="3337560" cy="3703320"/>
          </a:xfrm>
          <a:prstGeom prst="rect">
            <a:avLst/>
          </a:prstGeom>
          <a:noFill/>
          <a:ln/>
        </p:spPr>
        <p:txBody>
          <a:bodyPr wrap="square" lIns="0" tIns="0" rIns="0" bIns="0" rtlCol="0" anchor="t"/>
          <a:lstStyle/>
          <a:p>
            <a:pPr indent="0" marL="0">
              <a:spcAft>
                <a:spcPts val="600"/>
              </a:spcAft>
              <a:buNone/>
            </a:pPr>
            <a:r>
              <a:rPr lang="en-US" sz="1250" b="1" dirty="0">
                <a:solidFill>
                  <a:schemeClr val="tx2"/>
                </a:solidFill>
              </a:rPr>
              <a:t>Per enti e Amministratori</a:t>
            </a:r>
            <a:endParaRPr lang="en-US" sz="1250" dirty="0"/>
          </a:p>
          <a:p>
            <a:pPr indent="0" marL="0">
              <a:spcAft>
                <a:spcPts val="600"/>
              </a:spcAft>
              <a:buNone/>
            </a:pPr>
            <a:r>
              <a:rPr lang="en-US" sz="1250" dirty="0">
                <a:solidFill>
                  <a:schemeClr val="tx1"/>
                </a:solidFill>
              </a:rPr>
              <a:t>pulsante «✦ Assistente»: come si fa un'operazione, fasi, costi; risponde dai manuali e dalle tariffe</a:t>
            </a:r>
            <a:endParaRPr lang="en-US" sz="1250" dirty="0"/>
          </a:p>
          <a:p>
            <a:pPr indent="0" marL="0">
              <a:spcAft>
                <a:spcPts val="600"/>
              </a:spcAft>
              <a:buNone/>
            </a:pPr>
            <a:r>
              <a:rPr lang="en-US" sz="1250" b="1" dirty="0">
                <a:solidFill>
                  <a:schemeClr val="tx2"/>
                </a:solidFill>
              </a:rPr>
              <a:t>Garanzie</a:t>
            </a:r>
            <a:endParaRPr lang="en-US" sz="1250" dirty="0"/>
          </a:p>
          <a:p>
            <a:pPr indent="0" marL="0">
              <a:spcAft>
                <a:spcPts val="600"/>
              </a:spcAft>
              <a:buNone/>
            </a:pPr>
            <a:r>
              <a:rPr lang="en-US" sz="1250" dirty="0">
                <a:solidFill>
                  <a:schemeClr val="tx1"/>
                </a:solidFill>
              </a:rPr>
              <a:t>non vede le pratiche e non decide; nessun testo salvato; limite di domande al giorno</a:t>
            </a:r>
            <a:endParaRPr lang="en-US" sz="1250" dirty="0"/>
          </a:p>
          <a:p>
            <a:pPr indent="0" marL="0">
              <a:spcAft>
                <a:spcPts val="600"/>
              </a:spcAft>
              <a:buNone/>
            </a:pPr>
            <a:r>
              <a:rPr lang="en-US" sz="1250" b="1" dirty="0">
                <a:solidFill>
                  <a:schemeClr val="tx2"/>
                </a:solidFill>
              </a:rPr>
              <a:t>Come funziona</a:t>
            </a:r>
            <a:endParaRPr lang="en-US" sz="1250" dirty="0"/>
          </a:p>
          <a:p>
            <a:pPr indent="0" marL="0">
              <a:spcAft>
                <a:spcPts val="600"/>
              </a:spcAft>
              <a:buNone/>
            </a:pPr>
            <a:r>
              <a:rPr lang="en-US" sz="1250" dirty="0">
                <a:solidFill>
                  <a:schemeClr val="tx1"/>
                </a:solidFill>
              </a:rPr>
              <a:t>Claude Haiku 5.5 tramite una funzione sul server; la chiave resta in Supabase; meno di un centesimo a domanda</a:t>
            </a:r>
            <a:endParaRPr lang="en-US" sz="1250" dirty="0"/>
          </a:p>
          <a:p>
            <a:pPr indent="0" marL="0">
              <a:spcAft>
                <a:spcPts val="600"/>
              </a:spcAft>
              <a:buNone/>
            </a:pPr>
            <a:r>
              <a:rPr lang="en-US" sz="1250" b="1" dirty="0">
                <a:solidFill>
                  <a:schemeClr val="tx2"/>
                </a:solidFill>
              </a:rPr>
              <a:t>Prossimi passi</a:t>
            </a:r>
            <a:endParaRPr lang="en-US" sz="1250" dirty="0"/>
          </a:p>
          <a:p>
            <a:pPr indent="0" marL="0">
              <a:spcAft>
                <a:spcPts val="600"/>
              </a:spcAft>
              <a:buNone/>
            </a:pPr>
            <a:r>
              <a:rPr lang="en-US" sz="1250" dirty="0">
                <a:solidFill>
                  <a:schemeClr val="tx1"/>
                </a:solidFill>
              </a:rPr>
              <a:t>estensione agli Operatori e aiuto sulla singola pratica, con regole sulla privacy</a:t>
            </a:r>
            <a:endParaRPr lang="en-US" sz="12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Il simulatore in pratica</a:t>
            </a:r>
            <a:endParaRPr lang="en-US" sz="3000" dirty="0"/>
          </a:p>
        </p:txBody>
      </p:sp>
      <p:sp>
        <p:nvSpPr>
          <p:cNvPr id="3" name="Text 1"/>
          <p:cNvSpPr txBox="1"/>
          <p:nvPr/>
        </p:nvSpPr>
        <p:spPr>
          <a:xfrm>
            <a:off x="548640" y="1097280"/>
            <a:ext cx="11064240" cy="365760"/>
          </a:xfrm>
          <a:prstGeom prst="rect">
            <a:avLst/>
          </a:prstGeom>
          <a:noFill/>
          <a:ln/>
        </p:spPr>
        <p:txBody>
          <a:bodyPr wrap="square" lIns="0" tIns="0" rIns="0" bIns="0" rtlCol="0" anchor="ctr"/>
          <a:lstStyle/>
          <a:p>
            <a:pPr indent="0" marL="0">
              <a:buNone/>
            </a:pPr>
            <a:r>
              <a:rPr lang="en-US" sz="1300" b="1" dirty="0">
                <a:solidFill>
                  <a:schemeClr val="tx2"/>
                </a:solidFill>
              </a:rPr>
              <a:t>Portale → menu Simulatore. </a:t>
            </a:r>
            <a:pPr indent="0" marL="0">
              <a:buNone/>
            </a:pPr>
            <a:r>
              <a:rPr lang="en-US" sz="1300" dirty="0">
                <a:solidFill>
                  <a:schemeClr val="accent6"/>
                </a:solidFill>
              </a:rPr>
              <a:t>Esempio con dati di prova: Comune di 12.500 abitanti (cluster 4), oggi 430 kg/ab e 90 kg/ab di secco, obiettivo 2036: 380 e 50 kg/ab.</a:t>
            </a:r>
            <a:endParaRPr lang="en-US" sz="1300" dirty="0"/>
          </a:p>
        </p:txBody>
      </p:sp>
      <p:pic>
        <p:nvPicPr>
          <p:cNvPr id="4" name="Schermata simulatore" descr="Risultati del simulatore: crediti netti per anno e raccolta differenziata">    </p:cNvPr>
          <p:cNvPicPr>
            <a:picLocks noChangeAspect="1"/>
          </p:cNvPicPr>
          <p:nvPr/>
        </p:nvPicPr>
        <p:blipFill>
          <a:blip r:embed="rId1"/>
          <a:stretch>
            <a:fillRect/>
          </a:stretch>
        </p:blipFill>
        <p:spPr>
          <a:xfrm>
            <a:off x="548640" y="1572768"/>
            <a:ext cx="11064240" cy="3955466"/>
          </a:xfrm>
          <a:prstGeom prst="rect">
            <a:avLst/>
          </a:prstGeom>
        </p:spPr>
      </p:pic>
      <p:sp>
        <p:nvSpPr>
          <p:cNvPr id="5" name="Passo simulatore 1"/>
          <p:cNvSpPr/>
          <p:nvPr/>
        </p:nvSpPr>
        <p:spPr>
          <a:xfrm>
            <a:off x="548640" y="5669280"/>
            <a:ext cx="2103120" cy="566928"/>
          </a:xfrm>
          <a:prstGeom prst="roundRect">
            <a:avLst>
              <a:gd name="adj" fmla="val 19355"/>
            </a:avLst>
          </a:prstGeom>
          <a:solidFill>
            <a:schemeClr val="accent3"/>
          </a:solidFill>
          <a:ln w="12700">
            <a:solidFill>
              <a:schemeClr val="accent3"/>
            </a:solidFill>
            <a:prstDash val="solid"/>
          </a:ln>
        </p:spPr>
      </p:sp>
      <p:sp>
        <p:nvSpPr>
          <p:cNvPr id="6" name="Text 3"/>
          <p:cNvSpPr txBox="1"/>
          <p:nvPr/>
        </p:nvSpPr>
        <p:spPr>
          <a:xfrm>
            <a:off x="640080" y="5669280"/>
            <a:ext cx="1920240" cy="566928"/>
          </a:xfrm>
          <a:prstGeom prst="rect">
            <a:avLst/>
          </a:prstGeom>
          <a:noFill/>
          <a:ln/>
        </p:spPr>
        <p:txBody>
          <a:bodyPr wrap="square" lIns="0" tIns="0" rIns="0" bIns="0" rtlCol="0" anchor="ctr"/>
          <a:lstStyle/>
          <a:p>
            <a:pPr algn="ctr" indent="0" marL="0">
              <a:buNone/>
            </a:pPr>
            <a:r>
              <a:rPr lang="en-US" sz="1150" b="1" dirty="0">
                <a:solidFill>
                  <a:schemeClr val="tx2"/>
                </a:solidFill>
              </a:rPr>
              <a:t>Durata 7 · 10 · 21 anni</a:t>
            </a:r>
            <a:endParaRPr lang="en-US" sz="1150" dirty="0"/>
          </a:p>
        </p:txBody>
      </p:sp>
      <p:sp>
        <p:nvSpPr>
          <p:cNvPr id="7" name="Passo simulatore 2"/>
          <p:cNvSpPr/>
          <p:nvPr/>
        </p:nvSpPr>
        <p:spPr>
          <a:xfrm>
            <a:off x="2798064" y="5669280"/>
            <a:ext cx="2103120" cy="566928"/>
          </a:xfrm>
          <a:prstGeom prst="roundRect">
            <a:avLst>
              <a:gd name="adj" fmla="val 19355"/>
            </a:avLst>
          </a:prstGeom>
          <a:solidFill>
            <a:schemeClr val="accent3"/>
          </a:solidFill>
          <a:ln w="12700">
            <a:solidFill>
              <a:schemeClr val="accent3"/>
            </a:solidFill>
            <a:prstDash val="solid"/>
          </a:ln>
        </p:spPr>
      </p:sp>
      <p:sp>
        <p:nvSpPr>
          <p:cNvPr id="8" name="Text 5"/>
          <p:cNvSpPr txBox="1"/>
          <p:nvPr/>
        </p:nvSpPr>
        <p:spPr>
          <a:xfrm>
            <a:off x="2889504" y="5669280"/>
            <a:ext cx="1920240" cy="566928"/>
          </a:xfrm>
          <a:prstGeom prst="rect">
            <a:avLst/>
          </a:prstGeom>
          <a:noFill/>
          <a:ln/>
        </p:spPr>
        <p:txBody>
          <a:bodyPr wrap="square" lIns="0" tIns="0" rIns="0" bIns="0" rtlCol="0" anchor="ctr"/>
          <a:lstStyle/>
          <a:p>
            <a:pPr algn="ctr" indent="0" marL="0">
              <a:buNone/>
            </a:pPr>
            <a:r>
              <a:rPr lang="en-US" sz="1150" b="1" dirty="0">
                <a:solidFill>
                  <a:schemeClr val="tx2"/>
                </a:solidFill>
              </a:rPr>
              <a:t>Riferimento Standard 4.8.1: anno al 65% o cluster</a:t>
            </a:r>
            <a:endParaRPr lang="en-US" sz="1150" dirty="0"/>
          </a:p>
        </p:txBody>
      </p:sp>
      <p:sp>
        <p:nvSpPr>
          <p:cNvPr id="9" name="Passo simulatore 3"/>
          <p:cNvSpPr/>
          <p:nvPr/>
        </p:nvSpPr>
        <p:spPr>
          <a:xfrm>
            <a:off x="5047488" y="5669280"/>
            <a:ext cx="2103120" cy="566928"/>
          </a:xfrm>
          <a:prstGeom prst="roundRect">
            <a:avLst>
              <a:gd name="adj" fmla="val 19355"/>
            </a:avLst>
          </a:prstGeom>
          <a:solidFill>
            <a:schemeClr val="accent3"/>
          </a:solidFill>
          <a:ln w="12700">
            <a:solidFill>
              <a:schemeClr val="accent3"/>
            </a:solidFill>
            <a:prstDash val="solid"/>
          </a:ln>
        </p:spPr>
      </p:sp>
      <p:sp>
        <p:nvSpPr>
          <p:cNvPr id="10" name="Text 7"/>
          <p:cNvSpPr txBox="1"/>
          <p:nvPr/>
        </p:nvSpPr>
        <p:spPr>
          <a:xfrm>
            <a:off x="5138928" y="5669280"/>
            <a:ext cx="1920240" cy="566928"/>
          </a:xfrm>
          <a:prstGeom prst="rect">
            <a:avLst/>
          </a:prstGeom>
          <a:noFill/>
          <a:ln/>
        </p:spPr>
        <p:txBody>
          <a:bodyPr wrap="square" lIns="0" tIns="0" rIns="0" bIns="0" rtlCol="0" anchor="ctr"/>
          <a:lstStyle/>
          <a:p>
            <a:pPr algn="ctr" indent="0" marL="0">
              <a:buNone/>
            </a:pPr>
            <a:r>
              <a:rPr lang="en-US" sz="1150" b="1" dirty="0">
                <a:solidFill>
                  <a:schemeClr val="tx2"/>
                </a:solidFill>
              </a:rPr>
              <a:t>Obiettivi annui e traiettoria automatica</a:t>
            </a:r>
            <a:endParaRPr lang="en-US" sz="1150" dirty="0"/>
          </a:p>
        </p:txBody>
      </p:sp>
      <p:sp>
        <p:nvSpPr>
          <p:cNvPr id="11" name="Passo simulatore 4"/>
          <p:cNvSpPr/>
          <p:nvPr/>
        </p:nvSpPr>
        <p:spPr>
          <a:xfrm>
            <a:off x="7296912" y="5669280"/>
            <a:ext cx="2103120" cy="566928"/>
          </a:xfrm>
          <a:prstGeom prst="roundRect">
            <a:avLst>
              <a:gd name="adj" fmla="val 19355"/>
            </a:avLst>
          </a:prstGeom>
          <a:solidFill>
            <a:schemeClr val="accent3"/>
          </a:solidFill>
          <a:ln w="12700">
            <a:solidFill>
              <a:schemeClr val="accent3"/>
            </a:solidFill>
            <a:prstDash val="solid"/>
          </a:ln>
        </p:spPr>
      </p:sp>
      <p:sp>
        <p:nvSpPr>
          <p:cNvPr id="12" name="Text 9"/>
          <p:cNvSpPr txBox="1"/>
          <p:nvPr/>
        </p:nvSpPr>
        <p:spPr>
          <a:xfrm>
            <a:off x="7388352" y="5669280"/>
            <a:ext cx="1920240" cy="566928"/>
          </a:xfrm>
          <a:prstGeom prst="rect">
            <a:avLst/>
          </a:prstGeom>
          <a:noFill/>
          <a:ln/>
        </p:spPr>
        <p:txBody>
          <a:bodyPr wrap="square" lIns="0" tIns="0" rIns="0" bIns="0" rtlCol="0" anchor="ctr"/>
          <a:lstStyle/>
          <a:p>
            <a:pPr algn="ctr" indent="0" marL="0">
              <a:buNone/>
            </a:pPr>
            <a:r>
              <a:rPr lang="en-US" sz="1150" b="1" dirty="0">
                <a:solidFill>
                  <a:schemeClr val="tx2"/>
                </a:solidFill>
              </a:rPr>
              <a:t>% differenziata ricalcolata</a:t>
            </a:r>
            <a:endParaRPr lang="en-US" sz="1150" dirty="0"/>
          </a:p>
        </p:txBody>
      </p:sp>
      <p:sp>
        <p:nvSpPr>
          <p:cNvPr id="13" name="Passo simulatore 5"/>
          <p:cNvSpPr/>
          <p:nvPr/>
        </p:nvSpPr>
        <p:spPr>
          <a:xfrm>
            <a:off x="9546336" y="5669280"/>
            <a:ext cx="2103120" cy="566928"/>
          </a:xfrm>
          <a:prstGeom prst="roundRect">
            <a:avLst>
              <a:gd name="adj" fmla="val 19355"/>
            </a:avLst>
          </a:prstGeom>
          <a:solidFill>
            <a:schemeClr val="accent4"/>
          </a:solidFill>
          <a:ln w="12700">
            <a:solidFill>
              <a:schemeClr val="accent4"/>
            </a:solidFill>
            <a:prstDash val="solid"/>
          </a:ln>
        </p:spPr>
      </p:sp>
      <p:sp>
        <p:nvSpPr>
          <p:cNvPr id="14" name="Text 11"/>
          <p:cNvSpPr txBox="1"/>
          <p:nvPr/>
        </p:nvSpPr>
        <p:spPr>
          <a:xfrm>
            <a:off x="9637776" y="5669280"/>
            <a:ext cx="1920240" cy="566928"/>
          </a:xfrm>
          <a:prstGeom prst="rect">
            <a:avLst/>
          </a:prstGeom>
          <a:noFill/>
          <a:ln/>
        </p:spPr>
        <p:txBody>
          <a:bodyPr wrap="square" lIns="0" tIns="0" rIns="0" bIns="0" rtlCol="0" anchor="ctr"/>
          <a:lstStyle/>
          <a:p>
            <a:pPr algn="ctr" indent="0" marL="0">
              <a:buNone/>
            </a:pPr>
            <a:r>
              <a:rPr lang="en-US" sz="1150" b="1" dirty="0">
                <a:solidFill>
                  <a:schemeClr val="tx2"/>
                </a:solidFill>
              </a:rPr>
              <a:t>Crediti per anno, confronto, CSV e stampa</a:t>
            </a:r>
            <a:endParaRPr lang="en-US" sz="11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Simulazione economica: ricavi e costi per il Comune</a:t>
            </a:r>
            <a:endParaRPr lang="en-US" sz="3000" dirty="0"/>
          </a:p>
        </p:txBody>
      </p:sp>
      <p:pic>
        <p:nvPicPr>
          <p:cNvPr id="3" name="Schermata costi" descr="Simulatore, metodo per utenza: costi Caso 1 per 16.735 abitanti, ricavi, margine e margine netto per anno">    </p:cNvPr>
          <p:cNvPicPr>
            <a:picLocks noChangeAspect="1"/>
          </p:cNvPicPr>
          <p:nvPr/>
        </p:nvPicPr>
        <p:blipFill>
          <a:blip r:embed="rId1"/>
          <a:stretch>
            <a:fillRect/>
          </a:stretch>
        </p:blipFill>
        <p:spPr>
          <a:xfrm>
            <a:off x="548640" y="1188720"/>
            <a:ext cx="6242333" cy="5029200"/>
          </a:xfrm>
          <a:prstGeom prst="rect">
            <a:avLst/>
          </a:prstGeom>
        </p:spPr>
      </p:pic>
      <p:sp>
        <p:nvSpPr>
          <p:cNvPr id="4" name="Riquadro economia"/>
          <p:cNvSpPr/>
          <p:nvPr/>
        </p:nvSpPr>
        <p:spPr>
          <a:xfrm>
            <a:off x="7452360" y="1188720"/>
            <a:ext cx="4160520" cy="5001768"/>
          </a:xfrm>
          <a:prstGeom prst="roundRect">
            <a:avLst>
              <a:gd name="adj" fmla="val 2637"/>
            </a:avLst>
          </a:prstGeom>
          <a:solidFill>
            <a:schemeClr val="bg2"/>
          </a:solidFill>
          <a:ln w="12700">
            <a:solidFill>
              <a:schemeClr val="bg2"/>
            </a:solidFill>
            <a:prstDash val="solid"/>
          </a:ln>
        </p:spPr>
      </p:sp>
      <p:sp>
        <p:nvSpPr>
          <p:cNvPr id="5" name="Text 2"/>
          <p:cNvSpPr txBox="1"/>
          <p:nvPr/>
        </p:nvSpPr>
        <p:spPr>
          <a:xfrm>
            <a:off x="7635240" y="1298448"/>
            <a:ext cx="3794760" cy="4800600"/>
          </a:xfrm>
          <a:prstGeom prst="rect">
            <a:avLst/>
          </a:prstGeom>
          <a:noFill/>
          <a:ln/>
        </p:spPr>
        <p:txBody>
          <a:bodyPr wrap="square" lIns="0" tIns="0" rIns="0" bIns="0" rtlCol="0" anchor="t"/>
          <a:lstStyle/>
          <a:p>
            <a:pPr indent="0" marL="0">
              <a:spcAft>
                <a:spcPts val="300"/>
              </a:spcAft>
              <a:buNone/>
            </a:pPr>
            <a:r>
              <a:rPr lang="en-US" sz="1400" b="1" dirty="0">
                <a:solidFill>
                  <a:schemeClr val="tx2"/>
                </a:solidFill>
              </a:rPr>
              <a:t>Ricavi</a:t>
            </a:r>
            <a:endParaRPr lang="en-US" sz="1200" dirty="0"/>
          </a:p>
          <a:p>
            <a:pPr indent="0" marL="0">
              <a:spcAft>
                <a:spcPts val="300"/>
              </a:spcAft>
              <a:buNone/>
            </a:pPr>
            <a:r>
              <a:rPr lang="en-US" sz="1200" dirty="0">
                <a:solidFill>
                  <a:schemeClr val="tx1"/>
                </a:solidFill>
              </a:rPr>
              <a:t>Valore del credito digitato anno per anno (proposto 32 €).</a:t>
            </a:r>
            <a:endParaRPr lang="en-US" sz="1200" dirty="0"/>
          </a:p>
          <a:p>
            <a:pPr indent="0" marL="0">
              <a:spcAft>
                <a:spcPts val="300"/>
              </a:spcAft>
              <a:buNone/>
            </a:pPr>
            <a:r>
              <a:rPr lang="en-US" sz="600" dirty="0">
                <a:solidFill>
                  <a:schemeClr val="tx1"/>
                </a:solidFill>
              </a:rPr>
              <a:t> </a:t>
            </a:r>
            <a:endParaRPr lang="en-US" sz="1200" dirty="0"/>
          </a:p>
          <a:p>
            <a:pPr indent="0" marL="0">
              <a:spcAft>
                <a:spcPts val="300"/>
              </a:spcAft>
              <a:buNone/>
            </a:pPr>
            <a:r>
              <a:rPr lang="en-US" sz="1400" b="1" dirty="0">
                <a:solidFill>
                  <a:schemeClr val="tx2"/>
                </a:solidFill>
              </a:rPr>
              <a:t>Costi per il Comune: Caso 1 o Caso 2?</a:t>
            </a:r>
            <a:endParaRPr lang="en-US" sz="1200" dirty="0"/>
          </a:p>
          <a:p>
            <a:pPr indent="0" marL="0">
              <a:spcAft>
                <a:spcPts val="300"/>
              </a:spcAft>
              <a:buNone/>
            </a:pPr>
            <a:r>
              <a:rPr lang="en-US" sz="1200" dirty="0">
                <a:solidFill>
                  <a:schemeClr val="tx1"/>
                </a:solidFill>
              </a:rPr>
              <a:t>Caso 1 progetto volontario, Caso 2 progetto obbligatorio da bando di gara. Sei voci (Progetto, Rapporto, registrazioni) in € per abitante interpolati per popolazione, con minimo e massimo annuo (tabelle del 28/07/2026).</a:t>
            </a:r>
            <a:endParaRPr lang="en-US" sz="1200" dirty="0"/>
          </a:p>
          <a:p>
            <a:pPr indent="0" marL="0">
              <a:spcAft>
                <a:spcPts val="300"/>
              </a:spcAft>
              <a:buNone/>
            </a:pPr>
            <a:r>
              <a:rPr lang="en-US" sz="600" dirty="0">
                <a:solidFill>
                  <a:schemeClr val="tx1"/>
                </a:solidFill>
              </a:rPr>
              <a:t> </a:t>
            </a:r>
            <a:endParaRPr lang="en-US" sz="1200" dirty="0"/>
          </a:p>
          <a:p>
            <a:pPr indent="0" marL="0">
              <a:spcAft>
                <a:spcPts val="300"/>
              </a:spcAft>
              <a:buNone/>
            </a:pPr>
            <a:r>
              <a:rPr lang="en-US" sz="1400" b="1" dirty="0">
                <a:solidFill>
                  <a:schemeClr val="tx2"/>
                </a:solidFill>
              </a:rPr>
              <a:t>Bovisio-Masciago, 10 anni, 32 €/credito</a:t>
            </a:r>
            <a:endParaRPr lang="en-US" sz="1200" dirty="0"/>
          </a:p>
          <a:p>
            <a:pPr indent="0" marL="0">
              <a:spcAft>
                <a:spcPts val="300"/>
              </a:spcAft>
              <a:buNone/>
            </a:pPr>
            <a:r>
              <a:rPr lang="en-US" sz="1200" b="1" dirty="0">
                <a:solidFill>
                  <a:schemeClr val="tx1"/>
                </a:solidFill>
              </a:rPr>
              <a:t>Per utenza (come Allegato A): </a:t>
            </a:r>
            <a:pPr indent="0" marL="0">
              <a:spcAft>
                <a:spcPts val="300"/>
              </a:spcAft>
              <a:buNone/>
            </a:pPr>
            <a:r>
              <a:rPr lang="en-US" sz="1200" dirty="0">
                <a:solidFill>
                  <a:schemeClr val="tx1"/>
                </a:solidFill>
              </a:rPr>
              <a:t>34.188 crediti, ricavi € 1.093.792</a:t>
            </a:r>
            <a:endParaRPr lang="en-US" sz="1200" dirty="0"/>
          </a:p>
          <a:p>
            <a:pPr indent="0" marL="0">
              <a:spcAft>
                <a:spcPts val="300"/>
              </a:spcAft>
              <a:buNone/>
            </a:pPr>
            <a:r>
              <a:rPr lang="en-US" sz="1200" dirty="0">
                <a:solidFill>
                  <a:schemeClr val="tx1"/>
                </a:solidFill>
              </a:rPr>
              <a:t>Caso 1 costi € 162.330 → </a:t>
            </a:r>
            <a:pPr indent="0" marL="0">
              <a:spcAft>
                <a:spcPts val="300"/>
              </a:spcAft>
              <a:buNone/>
            </a:pPr>
            <a:r>
              <a:rPr lang="en-US" sz="1200" b="1" dirty="0">
                <a:solidFill>
                  <a:schemeClr val="tx2"/>
                </a:solidFill>
              </a:rPr>
              <a:t>+€ 931.463</a:t>
            </a:r>
            <a:endParaRPr lang="en-US" sz="1200" dirty="0"/>
          </a:p>
          <a:p>
            <a:pPr indent="0" marL="0">
              <a:spcAft>
                <a:spcPts val="300"/>
              </a:spcAft>
              <a:buNone/>
            </a:pPr>
            <a:r>
              <a:rPr lang="en-US" sz="1200" dirty="0">
                <a:solidFill>
                  <a:schemeClr val="tx1"/>
                </a:solidFill>
              </a:rPr>
              <a:t>Caso 2 costi € 242.658 → </a:t>
            </a:r>
            <a:pPr indent="0" marL="0">
              <a:spcAft>
                <a:spcPts val="300"/>
              </a:spcAft>
              <a:buNone/>
            </a:pPr>
            <a:r>
              <a:rPr lang="en-US" sz="1200" b="1" dirty="0">
                <a:solidFill>
                  <a:schemeClr val="tx2"/>
                </a:solidFill>
              </a:rPr>
              <a:t>+€ 851.135</a:t>
            </a:r>
            <a:endParaRPr lang="en-US" sz="1200" dirty="0"/>
          </a:p>
          <a:p>
            <a:pPr indent="0" marL="0">
              <a:spcAft>
                <a:spcPts val="300"/>
              </a:spcAft>
              <a:buNone/>
            </a:pPr>
            <a:r>
              <a:rPr lang="en-US" sz="1200" b="1" dirty="0">
                <a:solidFill>
                  <a:schemeClr val="tx1"/>
                </a:solidFill>
              </a:rPr>
              <a:t>Bilancio del Comune: </a:t>
            </a:r>
            <a:pPr indent="0" marL="0">
              <a:spcAft>
                <a:spcPts val="300"/>
              </a:spcAft>
              <a:buNone/>
            </a:pPr>
            <a:r>
              <a:rPr lang="en-US" sz="1200" dirty="0">
                <a:solidFill>
                  <a:schemeClr val="tx1"/>
                </a:solidFill>
              </a:rPr>
              <a:t>6.707 crediti, € 214.464; Caso 1 +€ 52.134, Caso 2 −€ 28.193</a:t>
            </a:r>
            <a:endParaRPr lang="en-US" sz="1200" dirty="0"/>
          </a:p>
          <a:p>
            <a:pPr indent="0" marL="0">
              <a:spcAft>
                <a:spcPts val="300"/>
              </a:spcAft>
              <a:buNone/>
            </a:pPr>
            <a:r>
              <a:rPr lang="en-US" sz="600" dirty="0">
                <a:solidFill>
                  <a:schemeClr val="tx1"/>
                </a:solidFill>
              </a:rPr>
              <a:t> </a:t>
            </a:r>
            <a:endParaRPr lang="en-US" sz="1200" dirty="0"/>
          </a:p>
          <a:p>
            <a:pPr indent="0" marL="0">
              <a:spcAft>
                <a:spcPts val="300"/>
              </a:spcAft>
              <a:buNone/>
            </a:pPr>
            <a:r>
              <a:rPr lang="en-US" sz="1200" i="1" dirty="0">
                <a:solidFill>
                  <a:schemeClr val="accent6"/>
                </a:solidFill>
              </a:rPr>
              <a:t>Il Caso 1 riproduce i costi dei contratti EsaCom, il metodo per utenza le loro stime (0,19-0,23 crediti per abitante all'anno).</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Piani a pagamento: sicurezza e stabilità</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914400"/>
        </p:xfrm>
        <a:graphic>
          <a:graphicData uri="http://schemas.openxmlformats.org/drawingml/2006/table">
            <a:tbl>
              <a:tblPr/>
              <a:tblGrid>
                <a:gridCol w="1874520"/>
                <a:gridCol w="2240280"/>
                <a:gridCol w="5257800"/>
                <a:gridCol w="1691640"/>
              </a:tblGrid>
              <a:tr h="347472">
                <a:tc>
                  <a:txBody>
                    <a:bodyPr/>
                    <a:lstStyle/>
                    <a:p>
                      <a:pPr indent="0" marL="0">
                        <a:buNone/>
                      </a:pPr>
                      <a:r>
                        <a:rPr lang="en-US" sz="1150" b="1" dirty="0">
                          <a:solidFill>
                            <a:schemeClr val="bg1"/>
                          </a:solidFill>
                        </a:rPr>
                        <a:t>Servizio</a:t>
                      </a:r>
                      <a:endParaRPr lang="en-US" sz="1150" dirty="0"/>
                    </a:p>
                  </a:txBody>
                  <a:tcPr marL="91440" marR="91440" marT="36576" marB="36576" anchor="ctr">
                    <a:lnL w="6350" cap="flat" cmpd="sng" algn="ctr">
                      <a:solidFill>
                        <a:srgbClr val="D9D4C5"/>
                      </a:solidFill>
                      <a:prstDash val="solid"/>
                      <a:round/>
                      <a:headEnd type="none" w="med" len="med"/>
                      <a:tailEnd type="none" w="med" len="med"/>
                    </a:lnL>
                    <a:lnR w="6350" cap="flat" cmpd="sng" algn="ctr">
                      <a:solidFill>
                        <a:srgbClr val="D9D4C5"/>
                      </a:solidFill>
                      <a:prstDash val="solid"/>
                      <a:round/>
                      <a:headEnd type="none" w="med" len="med"/>
                      <a:tailEnd type="none" w="med" len="med"/>
                    </a:lnR>
                    <a:lnT w="6350" cap="flat" cmpd="sng" algn="ctr">
                      <a:solidFill>
                        <a:srgbClr val="D9D4C5"/>
                      </a:solidFill>
                      <a:prstDash val="solid"/>
                      <a:round/>
                      <a:headEnd type="none" w="med" len="med"/>
                      <a:tailEnd type="none" w="med" len="med"/>
                    </a:lnT>
                    <a:lnB w="6350" cap="flat" cmpd="sng" algn="ctr">
                      <a:solidFill>
                        <a:srgbClr val="D9D4C5"/>
                      </a:solidFill>
                      <a:prstDash val="solid"/>
                      <a:round/>
                      <a:headEnd type="none" w="med" len="med"/>
                      <a:tailEnd type="none" w="med" len="med"/>
                    </a:lnB>
                    <a:solidFill>
                      <a:schemeClr val="tx2"/>
                    </a:solidFill>
                  </a:tcPr>
                </a:tc>
                <a:tc>
                  <a:txBody>
                    <a:bodyPr/>
                    <a:lstStyle/>
                    <a:p>
                      <a:pPr indent="0" marL="0">
                        <a:buNone/>
                      </a:pPr>
                      <a:r>
                        <a:rPr lang="en-US" sz="1150" b="1" dirty="0">
                          <a:solidFill>
                            <a:schemeClr val="bg1"/>
                          </a:solidFill>
                        </a:rPr>
                        <a:t>Piano</a:t>
                      </a:r>
                      <a:endParaRPr lang="en-US" sz="1150" dirty="0"/>
                    </a:p>
                  </a:txBody>
                  <a:tcPr marL="91440" marR="91440" marT="36576" marB="36576" anchor="ctr">
                    <a:lnL w="6350" cap="flat" cmpd="sng" algn="ctr">
                      <a:solidFill>
                        <a:srgbClr val="D9D4C5"/>
                      </a:solidFill>
                      <a:prstDash val="solid"/>
                      <a:round/>
                      <a:headEnd type="none" w="med" len="med"/>
                      <a:tailEnd type="none" w="med" len="med"/>
                    </a:lnL>
                    <a:lnR w="6350" cap="flat" cmpd="sng" algn="ctr">
                      <a:solidFill>
                        <a:srgbClr val="D9D4C5"/>
                      </a:solidFill>
                      <a:prstDash val="solid"/>
                      <a:round/>
                      <a:headEnd type="none" w="med" len="med"/>
                      <a:tailEnd type="none" w="med" len="med"/>
                    </a:lnR>
                    <a:lnT w="6350" cap="flat" cmpd="sng" algn="ctr">
                      <a:solidFill>
                        <a:srgbClr val="D9D4C5"/>
                      </a:solidFill>
                      <a:prstDash val="solid"/>
                      <a:round/>
                      <a:headEnd type="none" w="med" len="med"/>
                      <a:tailEnd type="none" w="med" len="med"/>
                    </a:lnT>
                    <a:lnB w="6350" cap="flat" cmpd="sng" algn="ctr">
                      <a:solidFill>
                        <a:srgbClr val="D9D4C5"/>
                      </a:solidFill>
                      <a:prstDash val="solid"/>
                      <a:round/>
                      <a:headEnd type="none" w="med" len="med"/>
                      <a:tailEnd type="none" w="med" len="med"/>
                    </a:lnB>
                    <a:solidFill>
                      <a:schemeClr val="tx2"/>
                    </a:solidFill>
                  </a:tcPr>
                </a:tc>
                <a:tc>
                  <a:txBody>
                    <a:bodyPr/>
                    <a:lstStyle/>
                    <a:p>
                      <a:pPr indent="0" marL="0">
                        <a:buNone/>
                      </a:pPr>
                      <a:r>
                        <a:rPr lang="en-US" sz="1150" b="1" dirty="0">
                          <a:solidFill>
                            <a:schemeClr val="bg1"/>
                          </a:solidFill>
                        </a:rPr>
                        <a:t>Cosa porta: sicurezza e prestazioni</a:t>
                      </a:r>
                      <a:endParaRPr lang="en-US" sz="1150" dirty="0"/>
                    </a:p>
                  </a:txBody>
                  <a:tcPr marL="91440" marR="91440" marT="36576" marB="36576" anchor="ctr">
                    <a:lnL w="6350" cap="flat" cmpd="sng" algn="ctr">
                      <a:solidFill>
                        <a:srgbClr val="D9D4C5"/>
                      </a:solidFill>
                      <a:prstDash val="solid"/>
                      <a:round/>
                      <a:headEnd type="none" w="med" len="med"/>
                      <a:tailEnd type="none" w="med" len="med"/>
                    </a:lnL>
                    <a:lnR w="6350" cap="flat" cmpd="sng" algn="ctr">
                      <a:solidFill>
                        <a:srgbClr val="D9D4C5"/>
                      </a:solidFill>
                      <a:prstDash val="solid"/>
                      <a:round/>
                      <a:headEnd type="none" w="med" len="med"/>
                      <a:tailEnd type="none" w="med" len="med"/>
                    </a:lnR>
                    <a:lnT w="6350" cap="flat" cmpd="sng" algn="ctr">
                      <a:solidFill>
                        <a:srgbClr val="D9D4C5"/>
                      </a:solidFill>
                      <a:prstDash val="solid"/>
                      <a:round/>
                      <a:headEnd type="none" w="med" len="med"/>
                      <a:tailEnd type="none" w="med" len="med"/>
                    </a:lnT>
                    <a:lnB w="6350" cap="flat" cmpd="sng" algn="ctr">
                      <a:solidFill>
                        <a:srgbClr val="D9D4C5"/>
                      </a:solidFill>
                      <a:prstDash val="solid"/>
                      <a:round/>
                      <a:headEnd type="none" w="med" len="med"/>
                      <a:tailEnd type="none" w="med" len="med"/>
                    </a:lnB>
                    <a:solidFill>
                      <a:schemeClr val="tx2"/>
                    </a:solidFill>
                  </a:tcPr>
                </a:tc>
                <a:tc>
                  <a:txBody>
                    <a:bodyPr/>
                    <a:lstStyle/>
                    <a:p>
                      <a:pPr indent="0" marL="0">
                        <a:buNone/>
                      </a:pPr>
                      <a:r>
                        <a:rPr lang="en-US" sz="1150" b="1" dirty="0">
                          <a:solidFill>
                            <a:schemeClr val="bg1"/>
                          </a:solidFill>
                        </a:rPr>
                        <a:t>Costo al mese</a:t>
                      </a:r>
                      <a:endParaRPr lang="en-US" sz="1150" dirty="0"/>
                    </a:p>
                  </a:txBody>
                  <a:tcPr marL="91440" marR="91440" marT="36576" marB="36576" anchor="ctr">
                    <a:lnL w="6350" cap="flat" cmpd="sng" algn="ctr">
                      <a:solidFill>
                        <a:srgbClr val="D9D4C5"/>
                      </a:solidFill>
                      <a:prstDash val="solid"/>
                      <a:round/>
                      <a:headEnd type="none" w="med" len="med"/>
                      <a:tailEnd type="none" w="med" len="med"/>
                    </a:lnL>
                    <a:lnR w="6350" cap="flat" cmpd="sng" algn="ctr">
                      <a:solidFill>
                        <a:srgbClr val="D9D4C5"/>
                      </a:solidFill>
                      <a:prstDash val="solid"/>
                      <a:round/>
                      <a:headEnd type="none" w="med" len="med"/>
                      <a:tailEnd type="none" w="med" len="med"/>
                    </a:lnR>
                    <a:lnT w="6350" cap="flat" cmpd="sng" algn="ctr">
                      <a:solidFill>
                        <a:srgbClr val="D9D4C5"/>
                      </a:solidFill>
                      <a:prstDash val="solid"/>
                      <a:round/>
                      <a:headEnd type="none" w="med" len="med"/>
                      <a:tailEnd type="none" w="med" len="med"/>
                    </a:lnT>
                    <a:lnB w="6350" cap="flat" cmpd="sng" algn="ctr">
                      <a:solidFill>
                        <a:srgbClr val="D9D4C5"/>
                      </a:solidFill>
                      <a:prstDash val="solid"/>
                      <a:round/>
                      <a:headEnd type="none" w="med" len="med"/>
                      <a:tailEnd type="none" w="med" len="med"/>
                    </a:lnB>
                    <a:solidFill>
                      <a:schemeClr val="tx2"/>
                    </a:solidFill>
                  </a:tcPr>
                </a:tc>
              </a:tr>
              <a:tr h="658368">
                <a:tc>
                  <a:txBody>
                    <a:bodyPr/>
                    <a:lstStyle/>
                    <a:p>
                      <a:pPr indent="0" marL="0">
                        <a:buNone/>
                      </a:pPr>
                      <a:r>
                        <a:rPr lang="en-US" sz="1150" b="1" dirty="0">
                          <a:solidFill>
                            <a:schemeClr val="tx1"/>
                          </a:solidFill>
                        </a:rPr>
                        <a:t>GitHub</a:t>
                      </a:r>
                      <a:endParaRPr lang="en-US" sz="1150" dirty="0"/>
                    </a:p>
                    <a:p>
                      <a:pPr indent="0" marL="0">
                        <a:buNone/>
                      </a:pPr>
                      <a:r>
                        <a:rPr lang="en-US" sz="1150" b="1" dirty="0">
                          <a:solidFill>
                            <a:schemeClr val="tx1"/>
                          </a:solidFill>
                        </a:rPr>
                        <a:t>codice sorgente</a:t>
                      </a:r>
                      <a:endParaRPr lang="en-US" sz="1150" dirty="0"/>
                    </a:p>
                  </a:txBody>
                  <a:tcPr marL="91440" marR="91440" marT="36576" marB="36576" anchor="ctr">
                    <a:lnL w="6350" cap="flat" cmpd="sng" algn="ctr">
                      <a:solidFill>
                        <a:srgbClr val="D9D4C5"/>
                      </a:solidFill>
                      <a:prstDash val="solid"/>
                      <a:round/>
                      <a:headEnd type="none" w="med" len="med"/>
                      <a:tailEnd type="none" w="med" len="med"/>
                    </a:lnL>
                    <a:lnR w="6350" cap="flat" cmpd="sng" algn="ctr">
                      <a:solidFill>
                        <a:srgbClr val="D9D4C5"/>
                      </a:solidFill>
                      <a:prstDash val="solid"/>
                      <a:round/>
                      <a:headEnd type="none" w="med" len="med"/>
                      <a:tailEnd type="none" w="med" len="med"/>
                    </a:lnR>
                    <a:lnT w="6350" cap="flat" cmpd="sng" algn="ctr">
                      <a:solidFill>
                        <a:srgbClr val="D9D4C5"/>
                      </a:solidFill>
                      <a:prstDash val="solid"/>
                      <a:round/>
                      <a:headEnd type="none" w="med" len="med"/>
                      <a:tailEnd type="none" w="med" len="med"/>
                    </a:lnT>
                    <a:lnB w="6350" cap="flat" cmpd="sng" algn="ctr">
                      <a:solidFill>
                        <a:srgbClr val="D9D4C5"/>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Organizzazione «Fondazione Operate», piano Team, repository privato</a:t>
                      </a:r>
                      <a:endParaRPr lang="en-US" sz="1150" dirty="0"/>
                    </a:p>
                  </a:txBody>
                  <a:tcPr marL="91440" marR="91440" marT="36576" marB="36576" anchor="ctr">
                    <a:lnL w="6350" cap="flat" cmpd="sng" algn="ctr">
                      <a:solidFill>
                        <a:srgbClr val="D9D4C5"/>
                      </a:solidFill>
                      <a:prstDash val="solid"/>
                      <a:round/>
                      <a:headEnd type="none" w="med" len="med"/>
                      <a:tailEnd type="none" w="med" len="med"/>
                    </a:lnL>
                    <a:lnR w="6350" cap="flat" cmpd="sng" algn="ctr">
                      <a:solidFill>
                        <a:srgbClr val="D9D4C5"/>
                      </a:solidFill>
                      <a:prstDash val="solid"/>
                      <a:round/>
                      <a:headEnd type="none" w="med" len="med"/>
                      <a:tailEnd type="none" w="med" len="med"/>
                    </a:lnR>
                    <a:lnT w="6350" cap="flat" cmpd="sng" algn="ctr">
                      <a:solidFill>
                        <a:srgbClr val="D9D4C5"/>
                      </a:solidFill>
                      <a:prstDash val="solid"/>
                      <a:round/>
                      <a:headEnd type="none" w="med" len="med"/>
                      <a:tailEnd type="none" w="med" len="med"/>
                    </a:lnT>
                    <a:lnB w="6350" cap="flat" cmpd="sng" algn="ctr">
                      <a:solidFill>
                        <a:srgbClr val="D9D4C5"/>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Il codice diventa privato e di proprietà della Fondazione; modifiche a main solo con revisione e regole sul ramo; avvisi sulle librerie vulnerabili. Opzione: blocco delle chiavi caricate per errore (Secret Protection)</a:t>
                      </a:r>
                      <a:endParaRPr lang="en-US" sz="1150" dirty="0"/>
                    </a:p>
                  </a:txBody>
                  <a:tcPr marL="91440" marR="91440" marT="36576" marB="36576" anchor="ctr">
                    <a:lnL w="6350" cap="flat" cmpd="sng" algn="ctr">
                      <a:solidFill>
                        <a:srgbClr val="D9D4C5"/>
                      </a:solidFill>
                      <a:prstDash val="solid"/>
                      <a:round/>
                      <a:headEnd type="none" w="med" len="med"/>
                      <a:tailEnd type="none" w="med" len="med"/>
                    </a:lnL>
                    <a:lnR w="6350" cap="flat" cmpd="sng" algn="ctr">
                      <a:solidFill>
                        <a:srgbClr val="D9D4C5"/>
                      </a:solidFill>
                      <a:prstDash val="solid"/>
                      <a:round/>
                      <a:headEnd type="none" w="med" len="med"/>
                      <a:tailEnd type="none" w="med" len="med"/>
                    </a:lnR>
                    <a:lnT w="6350" cap="flat" cmpd="sng" algn="ctr">
                      <a:solidFill>
                        <a:srgbClr val="D9D4C5"/>
                      </a:solidFill>
                      <a:prstDash val="solid"/>
                      <a:round/>
                      <a:headEnd type="none" w="med" len="med"/>
                      <a:tailEnd type="none" w="med" len="med"/>
                    </a:lnT>
                    <a:lnB w="6350" cap="flat" cmpd="sng" algn="ctr">
                      <a:solidFill>
                        <a:srgbClr val="D9D4C5"/>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2"/>
                          </a:solidFill>
                        </a:rPr>
                        <a:t>4 $ per utente</a:t>
                      </a:r>
                      <a:endParaRPr lang="en-US" sz="1150" dirty="0"/>
                    </a:p>
                    <a:p>
                      <a:pPr indent="0" marL="0">
                        <a:buNone/>
                      </a:pPr>
                      <a:r>
                        <a:rPr lang="en-US" sz="1150" dirty="0">
                          <a:solidFill>
                            <a:schemeClr val="accent2"/>
                          </a:solidFill>
                        </a:rPr>
                        <a:t>(+19 $ opzione)</a:t>
                      </a:r>
                      <a:endParaRPr lang="en-US" sz="1150" dirty="0"/>
                    </a:p>
                  </a:txBody>
                  <a:tcPr marL="91440" marR="91440" marT="36576" marB="36576" anchor="ctr">
                    <a:lnL w="6350" cap="flat" cmpd="sng" algn="ctr">
                      <a:solidFill>
                        <a:srgbClr val="D9D4C5"/>
                      </a:solidFill>
                      <a:prstDash val="solid"/>
                      <a:round/>
                      <a:headEnd type="none" w="med" len="med"/>
                      <a:tailEnd type="none" w="med" len="med"/>
                    </a:lnL>
                    <a:lnR w="6350" cap="flat" cmpd="sng" algn="ctr">
                      <a:solidFill>
                        <a:srgbClr val="D9D4C5"/>
                      </a:solidFill>
                      <a:prstDash val="solid"/>
                      <a:round/>
                      <a:headEnd type="none" w="med" len="med"/>
                      <a:tailEnd type="none" w="med" len="med"/>
                    </a:lnR>
                    <a:lnT w="6350" cap="flat" cmpd="sng" algn="ctr">
                      <a:solidFill>
                        <a:srgbClr val="D9D4C5"/>
                      </a:solidFill>
                      <a:prstDash val="solid"/>
                      <a:round/>
                      <a:headEnd type="none" w="med" len="med"/>
                      <a:tailEnd type="none" w="med" len="med"/>
                    </a:lnT>
                    <a:lnB w="6350" cap="flat" cmpd="sng" algn="ctr">
                      <a:solidFill>
                        <a:srgbClr val="D9D4C5"/>
                      </a:solidFill>
                      <a:prstDash val="solid"/>
                      <a:round/>
                      <a:headEnd type="none" w="med" len="med"/>
                      <a:tailEnd type="none" w="med" len="med"/>
                    </a:lnB>
                    <a:solidFill>
                      <a:schemeClr val="bg2"/>
                    </a:solidFill>
                  </a:tcPr>
                </a:tc>
              </a:tr>
              <a:tr h="566928">
                <a:tc>
                  <a:txBody>
                    <a:bodyPr/>
                    <a:lstStyle/>
                    <a:p>
                      <a:pPr indent="0" marL="0">
                        <a:buNone/>
                      </a:pPr>
                      <a:r>
                        <a:rPr lang="en-US" sz="1150" b="1" dirty="0">
                          <a:solidFill>
                            <a:schemeClr val="tx1"/>
                          </a:solidFill>
                        </a:rPr>
                        <a:t>Vercel</a:t>
                      </a:r>
                      <a:endParaRPr lang="en-US" sz="1150" dirty="0"/>
                    </a:p>
                    <a:p>
                      <a:pPr indent="0" marL="0">
                        <a:buNone/>
                      </a:pPr>
                      <a:r>
                        <a:rPr lang="en-US" sz="1150" b="1" dirty="0">
                          <a:solidFill>
                            <a:schemeClr val="tx1"/>
                          </a:solidFill>
                        </a:rPr>
                        <a:t>pagine del portale</a:t>
                      </a:r>
                      <a:endParaRPr lang="en-US" sz="1150" dirty="0"/>
                    </a:p>
                  </a:txBody>
                  <a:tcPr marL="91440" marR="91440" marT="36576" marB="36576" anchor="ctr">
                    <a:lnL w="6350" cap="flat" cmpd="sng" algn="ctr">
                      <a:solidFill>
                        <a:srgbClr val="D9D4C5"/>
                      </a:solidFill>
                      <a:prstDash val="solid"/>
                      <a:round/>
                      <a:headEnd type="none" w="med" len="med"/>
                      <a:tailEnd type="none" w="med" len="med"/>
                    </a:lnL>
                    <a:lnR w="6350" cap="flat" cmpd="sng" algn="ctr">
                      <a:solidFill>
                        <a:srgbClr val="D9D4C5"/>
                      </a:solidFill>
                      <a:prstDash val="solid"/>
                      <a:round/>
                      <a:headEnd type="none" w="med" len="med"/>
                      <a:tailEnd type="none" w="med" len="med"/>
                    </a:lnR>
                    <a:lnT w="6350" cap="flat" cmpd="sng" algn="ctr">
                      <a:solidFill>
                        <a:srgbClr val="D9D4C5"/>
                      </a:solidFill>
                      <a:prstDash val="solid"/>
                      <a:round/>
                      <a:headEnd type="none" w="med" len="med"/>
                      <a:tailEnd type="none" w="med" len="med"/>
                    </a:lnT>
                    <a:lnB w="6350" cap="flat" cmpd="sng" algn="ctr">
                      <a:solidFill>
                        <a:srgbClr val="D9D4C5"/>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Pro</a:t>
                      </a:r>
                      <a:endParaRPr lang="en-US" sz="1150" dirty="0"/>
                    </a:p>
                  </a:txBody>
                  <a:tcPr marL="91440" marR="91440" marT="36576" marB="36576" anchor="ctr">
                    <a:lnL w="6350" cap="flat" cmpd="sng" algn="ctr">
                      <a:solidFill>
                        <a:srgbClr val="D9D4C5"/>
                      </a:solidFill>
                      <a:prstDash val="solid"/>
                      <a:round/>
                      <a:headEnd type="none" w="med" len="med"/>
                      <a:tailEnd type="none" w="med" len="med"/>
                    </a:lnL>
                    <a:lnR w="6350" cap="flat" cmpd="sng" algn="ctr">
                      <a:solidFill>
                        <a:srgbClr val="D9D4C5"/>
                      </a:solidFill>
                      <a:prstDash val="solid"/>
                      <a:round/>
                      <a:headEnd type="none" w="med" len="med"/>
                      <a:tailEnd type="none" w="med" len="med"/>
                    </a:lnR>
                    <a:lnT w="6350" cap="flat" cmpd="sng" algn="ctr">
                      <a:solidFill>
                        <a:srgbClr val="D9D4C5"/>
                      </a:solidFill>
                      <a:prstDash val="solid"/>
                      <a:round/>
                      <a:headEnd type="none" w="med" len="med"/>
                      <a:tailEnd type="none" w="med" len="med"/>
                    </a:lnT>
                    <a:lnB w="6350" cap="flat" cmpd="sng" algn="ctr">
                      <a:solidFill>
                        <a:srgbClr val="D9D4C5"/>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Il piano gratuito è solo per uso non commerciale; banda 1 TB, build più veloci, controllo della spesa; indirizzo portale.operate.it</a:t>
                      </a:r>
                      <a:endParaRPr lang="en-US" sz="1150" dirty="0"/>
                    </a:p>
                  </a:txBody>
                  <a:tcPr marL="91440" marR="91440" marT="36576" marB="36576" anchor="ctr">
                    <a:lnL w="6350" cap="flat" cmpd="sng" algn="ctr">
                      <a:solidFill>
                        <a:srgbClr val="D9D4C5"/>
                      </a:solidFill>
                      <a:prstDash val="solid"/>
                      <a:round/>
                      <a:headEnd type="none" w="med" len="med"/>
                      <a:tailEnd type="none" w="med" len="med"/>
                    </a:lnL>
                    <a:lnR w="6350" cap="flat" cmpd="sng" algn="ctr">
                      <a:solidFill>
                        <a:srgbClr val="D9D4C5"/>
                      </a:solidFill>
                      <a:prstDash val="solid"/>
                      <a:round/>
                      <a:headEnd type="none" w="med" len="med"/>
                      <a:tailEnd type="none" w="med" len="med"/>
                    </a:lnR>
                    <a:lnT w="6350" cap="flat" cmpd="sng" algn="ctr">
                      <a:solidFill>
                        <a:srgbClr val="D9D4C5"/>
                      </a:solidFill>
                      <a:prstDash val="solid"/>
                      <a:round/>
                      <a:headEnd type="none" w="med" len="med"/>
                      <a:tailEnd type="none" w="med" len="med"/>
                    </a:lnT>
                    <a:lnB w="6350" cap="flat" cmpd="sng" algn="ctr">
                      <a:solidFill>
                        <a:srgbClr val="D9D4C5"/>
                      </a:solidFill>
                      <a:prstDash val="solid"/>
                      <a:round/>
                      <a:headEnd type="none" w="med" len="med"/>
                      <a:tailEnd type="none" w="med" len="med"/>
                    </a:lnB>
                    <a:solidFill>
                      <a:schemeClr val="bg1"/>
                    </a:solidFill>
                  </a:tcPr>
                </a:tc>
                <a:tc>
                  <a:txBody>
                    <a:bodyPr/>
                    <a:lstStyle/>
                    <a:p>
                      <a:pPr indent="0" marL="0">
                        <a:buNone/>
                      </a:pPr>
                      <a:r>
                        <a:rPr lang="en-US" sz="1150" dirty="0">
                          <a:solidFill>
                            <a:schemeClr val="accent2"/>
                          </a:solidFill>
                        </a:rPr>
                        <a:t>20 $ per utente</a:t>
                      </a:r>
                      <a:endParaRPr lang="en-US" sz="1150" dirty="0"/>
                    </a:p>
                  </a:txBody>
                  <a:tcPr marL="91440" marR="91440" marT="36576" marB="36576" anchor="ctr">
                    <a:lnL w="6350" cap="flat" cmpd="sng" algn="ctr">
                      <a:solidFill>
                        <a:srgbClr val="D9D4C5"/>
                      </a:solidFill>
                      <a:prstDash val="solid"/>
                      <a:round/>
                      <a:headEnd type="none" w="med" len="med"/>
                      <a:tailEnd type="none" w="med" len="med"/>
                    </a:lnL>
                    <a:lnR w="6350" cap="flat" cmpd="sng" algn="ctr">
                      <a:solidFill>
                        <a:srgbClr val="D9D4C5"/>
                      </a:solidFill>
                      <a:prstDash val="solid"/>
                      <a:round/>
                      <a:headEnd type="none" w="med" len="med"/>
                      <a:tailEnd type="none" w="med" len="med"/>
                    </a:lnR>
                    <a:lnT w="6350" cap="flat" cmpd="sng" algn="ctr">
                      <a:solidFill>
                        <a:srgbClr val="D9D4C5"/>
                      </a:solidFill>
                      <a:prstDash val="solid"/>
                      <a:round/>
                      <a:headEnd type="none" w="med" len="med"/>
                      <a:tailEnd type="none" w="med" len="med"/>
                    </a:lnT>
                    <a:lnB w="6350" cap="flat" cmpd="sng" algn="ctr">
                      <a:solidFill>
                        <a:srgbClr val="D9D4C5"/>
                      </a:solidFill>
                      <a:prstDash val="solid"/>
                      <a:round/>
                      <a:headEnd type="none" w="med" len="med"/>
                      <a:tailEnd type="none" w="med" len="med"/>
                    </a:lnB>
                    <a:solidFill>
                      <a:schemeClr val="bg1"/>
                    </a:solidFill>
                  </a:tcPr>
                </a:tc>
              </a:tr>
              <a:tr h="658368">
                <a:tc>
                  <a:txBody>
                    <a:bodyPr/>
                    <a:lstStyle/>
                    <a:p>
                      <a:pPr indent="0" marL="0">
                        <a:buNone/>
                      </a:pPr>
                      <a:r>
                        <a:rPr lang="en-US" sz="1150" b="1" dirty="0">
                          <a:solidFill>
                            <a:schemeClr val="tx1"/>
                          </a:solidFill>
                        </a:rPr>
                        <a:t>Supabase</a:t>
                      </a:r>
                      <a:endParaRPr lang="en-US" sz="1150" dirty="0"/>
                    </a:p>
                    <a:p>
                      <a:pPr indent="0" marL="0">
                        <a:buNone/>
                      </a:pPr>
                      <a:r>
                        <a:rPr lang="en-US" sz="1150" b="1" dirty="0">
                          <a:solidFill>
                            <a:schemeClr val="tx1"/>
                          </a:solidFill>
                        </a:rPr>
                        <a:t>dati, utenti, documenti</a:t>
                      </a:r>
                      <a:endParaRPr lang="en-US" sz="1150" dirty="0"/>
                    </a:p>
                  </a:txBody>
                  <a:tcPr marL="91440" marR="91440" marT="36576" marB="36576" anchor="ctr">
                    <a:lnL w="6350" cap="flat" cmpd="sng" algn="ctr">
                      <a:solidFill>
                        <a:srgbClr val="D9D4C5"/>
                      </a:solidFill>
                      <a:prstDash val="solid"/>
                      <a:round/>
                      <a:headEnd type="none" w="med" len="med"/>
                      <a:tailEnd type="none" w="med" len="med"/>
                    </a:lnL>
                    <a:lnR w="6350" cap="flat" cmpd="sng" algn="ctr">
                      <a:solidFill>
                        <a:srgbClr val="D9D4C5"/>
                      </a:solidFill>
                      <a:prstDash val="solid"/>
                      <a:round/>
                      <a:headEnd type="none" w="med" len="med"/>
                      <a:tailEnd type="none" w="med" len="med"/>
                    </a:lnR>
                    <a:lnT w="6350" cap="flat" cmpd="sng" algn="ctr">
                      <a:solidFill>
                        <a:srgbClr val="D9D4C5"/>
                      </a:solidFill>
                      <a:prstDash val="solid"/>
                      <a:round/>
                      <a:headEnd type="none" w="med" len="med"/>
                      <a:tailEnd type="none" w="med" len="med"/>
                    </a:lnT>
                    <a:lnB w="6350" cap="flat" cmpd="sng" algn="ctr">
                      <a:solidFill>
                        <a:srgbClr val="D9D4C5"/>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Pro + calcolo Small</a:t>
                      </a:r>
                      <a:endParaRPr lang="en-US" sz="1150" dirty="0"/>
                    </a:p>
                  </a:txBody>
                  <a:tcPr marL="91440" marR="91440" marT="36576" marB="36576" anchor="ctr">
                    <a:lnL w="6350" cap="flat" cmpd="sng" algn="ctr">
                      <a:solidFill>
                        <a:srgbClr val="D9D4C5"/>
                      </a:solidFill>
                      <a:prstDash val="solid"/>
                      <a:round/>
                      <a:headEnd type="none" w="med" len="med"/>
                      <a:tailEnd type="none" w="med" len="med"/>
                    </a:lnL>
                    <a:lnR w="6350" cap="flat" cmpd="sng" algn="ctr">
                      <a:solidFill>
                        <a:srgbClr val="D9D4C5"/>
                      </a:solidFill>
                      <a:prstDash val="solid"/>
                      <a:round/>
                      <a:headEnd type="none" w="med" len="med"/>
                      <a:tailEnd type="none" w="med" len="med"/>
                    </a:lnR>
                    <a:lnT w="6350" cap="flat" cmpd="sng" algn="ctr">
                      <a:solidFill>
                        <a:srgbClr val="D9D4C5"/>
                      </a:solidFill>
                      <a:prstDash val="solid"/>
                      <a:round/>
                      <a:headEnd type="none" w="med" len="med"/>
                      <a:tailEnd type="none" w="med" len="med"/>
                    </a:lnT>
                    <a:lnB w="6350" cap="flat" cmpd="sng" algn="ctr">
                      <a:solidFill>
                        <a:srgbClr val="D9D4C5"/>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Backup giornalieri (7 giorni) e progetto mai sospeso; 8 GB di database, 100 GB di documenti; più memoria (2 GB) per tempi di risposta stabili; supporto via email</a:t>
                      </a:r>
                      <a:endParaRPr lang="en-US" sz="1150" dirty="0"/>
                    </a:p>
                  </a:txBody>
                  <a:tcPr marL="91440" marR="91440" marT="36576" marB="36576" anchor="ctr">
                    <a:lnL w="6350" cap="flat" cmpd="sng" algn="ctr">
                      <a:solidFill>
                        <a:srgbClr val="D9D4C5"/>
                      </a:solidFill>
                      <a:prstDash val="solid"/>
                      <a:round/>
                      <a:headEnd type="none" w="med" len="med"/>
                      <a:tailEnd type="none" w="med" len="med"/>
                    </a:lnL>
                    <a:lnR w="6350" cap="flat" cmpd="sng" algn="ctr">
                      <a:solidFill>
                        <a:srgbClr val="D9D4C5"/>
                      </a:solidFill>
                      <a:prstDash val="solid"/>
                      <a:round/>
                      <a:headEnd type="none" w="med" len="med"/>
                      <a:tailEnd type="none" w="med" len="med"/>
                    </a:lnR>
                    <a:lnT w="6350" cap="flat" cmpd="sng" algn="ctr">
                      <a:solidFill>
                        <a:srgbClr val="D9D4C5"/>
                      </a:solidFill>
                      <a:prstDash val="solid"/>
                      <a:round/>
                      <a:headEnd type="none" w="med" len="med"/>
                      <a:tailEnd type="none" w="med" len="med"/>
                    </a:lnT>
                    <a:lnB w="6350" cap="flat" cmpd="sng" algn="ctr">
                      <a:solidFill>
                        <a:srgbClr val="D9D4C5"/>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2"/>
                          </a:solidFill>
                        </a:rPr>
                        <a:t>25 $ + 5 $</a:t>
                      </a:r>
                      <a:endParaRPr lang="en-US" sz="1150" dirty="0"/>
                    </a:p>
                  </a:txBody>
                  <a:tcPr marL="91440" marR="91440" marT="36576" marB="36576" anchor="ctr">
                    <a:lnL w="6350" cap="flat" cmpd="sng" algn="ctr">
                      <a:solidFill>
                        <a:srgbClr val="D9D4C5"/>
                      </a:solidFill>
                      <a:prstDash val="solid"/>
                      <a:round/>
                      <a:headEnd type="none" w="med" len="med"/>
                      <a:tailEnd type="none" w="med" len="med"/>
                    </a:lnL>
                    <a:lnR w="6350" cap="flat" cmpd="sng" algn="ctr">
                      <a:solidFill>
                        <a:srgbClr val="D9D4C5"/>
                      </a:solidFill>
                      <a:prstDash val="solid"/>
                      <a:round/>
                      <a:headEnd type="none" w="med" len="med"/>
                      <a:tailEnd type="none" w="med" len="med"/>
                    </a:lnR>
                    <a:lnT w="6350" cap="flat" cmpd="sng" algn="ctr">
                      <a:solidFill>
                        <a:srgbClr val="D9D4C5"/>
                      </a:solidFill>
                      <a:prstDash val="solid"/>
                      <a:round/>
                      <a:headEnd type="none" w="med" len="med"/>
                      <a:tailEnd type="none" w="med" len="med"/>
                    </a:lnT>
                    <a:lnB w="6350" cap="flat" cmpd="sng" algn="ctr">
                      <a:solidFill>
                        <a:srgbClr val="D9D4C5"/>
                      </a:solidFill>
                      <a:prstDash val="solid"/>
                      <a:round/>
                      <a:headEnd type="none" w="med" len="med"/>
                      <a:tailEnd type="none" w="med" len="med"/>
                    </a:lnB>
                    <a:solidFill>
                      <a:schemeClr val="bg2"/>
                    </a:solidFill>
                  </a:tcPr>
                </a:tc>
              </a:tr>
              <a:tr h="566928">
                <a:tc>
                  <a:txBody>
                    <a:bodyPr/>
                    <a:lstStyle/>
                    <a:p>
                      <a:pPr indent="0" marL="0">
                        <a:buNone/>
                      </a:pPr>
                      <a:r>
                        <a:rPr lang="en-US" sz="1150" b="1" dirty="0">
                          <a:solidFill>
                            <a:schemeClr val="tx1"/>
                          </a:solidFill>
                        </a:rPr>
                        <a:t>Supabase</a:t>
                      </a:r>
                      <a:endParaRPr lang="en-US" sz="1150" dirty="0"/>
                    </a:p>
                    <a:p>
                      <a:pPr indent="0" marL="0">
                        <a:buNone/>
                      </a:pPr>
                      <a:r>
                        <a:rPr lang="en-US" sz="1150" b="1" dirty="0">
                          <a:solidFill>
                            <a:schemeClr val="tx1"/>
                          </a:solidFill>
                        </a:rPr>
                        <a:t>opzioni consigliate</a:t>
                      </a:r>
                      <a:endParaRPr lang="en-US" sz="1150" dirty="0"/>
                    </a:p>
                  </a:txBody>
                  <a:tcPr marL="91440" marR="91440" marT="36576" marB="36576" anchor="ctr">
                    <a:lnL w="6350" cap="flat" cmpd="sng" algn="ctr">
                      <a:solidFill>
                        <a:srgbClr val="D9D4C5"/>
                      </a:solidFill>
                      <a:prstDash val="solid"/>
                      <a:round/>
                      <a:headEnd type="none" w="med" len="med"/>
                      <a:tailEnd type="none" w="med" len="med"/>
                    </a:lnL>
                    <a:lnR w="6350" cap="flat" cmpd="sng" algn="ctr">
                      <a:solidFill>
                        <a:srgbClr val="D9D4C5"/>
                      </a:solidFill>
                      <a:prstDash val="solid"/>
                      <a:round/>
                      <a:headEnd type="none" w="med" len="med"/>
                      <a:tailEnd type="none" w="med" len="med"/>
                    </a:lnR>
                    <a:lnT w="6350" cap="flat" cmpd="sng" algn="ctr">
                      <a:solidFill>
                        <a:srgbClr val="D9D4C5"/>
                      </a:solidFill>
                      <a:prstDash val="solid"/>
                      <a:round/>
                      <a:headEnd type="none" w="med" len="med"/>
                      <a:tailEnd type="none" w="med" len="med"/>
                    </a:lnT>
                    <a:lnB w="6350" cap="flat" cmpd="sng" algn="ctr">
                      <a:solidFill>
                        <a:srgbClr val="D9D4C5"/>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Ripristino a un minuto preciso (PITR), ambiente di prova</a:t>
                      </a:r>
                      <a:endParaRPr lang="en-US" sz="1150" dirty="0"/>
                    </a:p>
                  </a:txBody>
                  <a:tcPr marL="91440" marR="91440" marT="36576" marB="36576" anchor="ctr">
                    <a:lnL w="6350" cap="flat" cmpd="sng" algn="ctr">
                      <a:solidFill>
                        <a:srgbClr val="D9D4C5"/>
                      </a:solidFill>
                      <a:prstDash val="solid"/>
                      <a:round/>
                      <a:headEnd type="none" w="med" len="med"/>
                      <a:tailEnd type="none" w="med" len="med"/>
                    </a:lnL>
                    <a:lnR w="6350" cap="flat" cmpd="sng" algn="ctr">
                      <a:solidFill>
                        <a:srgbClr val="D9D4C5"/>
                      </a:solidFill>
                      <a:prstDash val="solid"/>
                      <a:round/>
                      <a:headEnd type="none" w="med" len="med"/>
                      <a:tailEnd type="none" w="med" len="med"/>
                    </a:lnR>
                    <a:lnT w="6350" cap="flat" cmpd="sng" algn="ctr">
                      <a:solidFill>
                        <a:srgbClr val="D9D4C5"/>
                      </a:solidFill>
                      <a:prstDash val="solid"/>
                      <a:round/>
                      <a:headEnd type="none" w="med" len="med"/>
                      <a:tailEnd type="none" w="med" len="med"/>
                    </a:lnT>
                    <a:lnB w="6350" cap="flat" cmpd="sng" algn="ctr">
                      <a:solidFill>
                        <a:srgbClr val="D9D4C5"/>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Recupero dei dati a qualsiasi momento degli ultimi 7 giorni; le modifiche al database si provano prima su una copia</a:t>
                      </a:r>
                      <a:endParaRPr lang="en-US" sz="1150" dirty="0"/>
                    </a:p>
                  </a:txBody>
                  <a:tcPr marL="91440" marR="91440" marT="36576" marB="36576" anchor="ctr">
                    <a:lnL w="6350" cap="flat" cmpd="sng" algn="ctr">
                      <a:solidFill>
                        <a:srgbClr val="D9D4C5"/>
                      </a:solidFill>
                      <a:prstDash val="solid"/>
                      <a:round/>
                      <a:headEnd type="none" w="med" len="med"/>
                      <a:tailEnd type="none" w="med" len="med"/>
                    </a:lnL>
                    <a:lnR w="6350" cap="flat" cmpd="sng" algn="ctr">
                      <a:solidFill>
                        <a:srgbClr val="D9D4C5"/>
                      </a:solidFill>
                      <a:prstDash val="solid"/>
                      <a:round/>
                      <a:headEnd type="none" w="med" len="med"/>
                      <a:tailEnd type="none" w="med" len="med"/>
                    </a:lnR>
                    <a:lnT w="6350" cap="flat" cmpd="sng" algn="ctr">
                      <a:solidFill>
                        <a:srgbClr val="D9D4C5"/>
                      </a:solidFill>
                      <a:prstDash val="solid"/>
                      <a:round/>
                      <a:headEnd type="none" w="med" len="med"/>
                      <a:tailEnd type="none" w="med" len="med"/>
                    </a:lnT>
                    <a:lnB w="6350" cap="flat" cmpd="sng" algn="ctr">
                      <a:solidFill>
                        <a:srgbClr val="D9D4C5"/>
                      </a:solidFill>
                      <a:prstDash val="solid"/>
                      <a:round/>
                      <a:headEnd type="none" w="med" len="med"/>
                      <a:tailEnd type="none" w="med" len="med"/>
                    </a:lnB>
                    <a:solidFill>
                      <a:schemeClr val="bg1"/>
                    </a:solidFill>
                  </a:tcPr>
                </a:tc>
                <a:tc>
                  <a:txBody>
                    <a:bodyPr/>
                    <a:lstStyle/>
                    <a:p>
                      <a:pPr indent="0" marL="0">
                        <a:buNone/>
                      </a:pPr>
                      <a:r>
                        <a:rPr lang="en-US" sz="1150" dirty="0">
                          <a:solidFill>
                            <a:schemeClr val="accent2"/>
                          </a:solidFill>
                        </a:rPr>
                        <a:t>100 $ + ≈10 $</a:t>
                      </a:r>
                      <a:endParaRPr lang="en-US" sz="1150" dirty="0"/>
                    </a:p>
                  </a:txBody>
                  <a:tcPr marL="91440" marR="91440" marT="36576" marB="36576" anchor="ctr">
                    <a:lnL w="6350" cap="flat" cmpd="sng" algn="ctr">
                      <a:solidFill>
                        <a:srgbClr val="D9D4C5"/>
                      </a:solidFill>
                      <a:prstDash val="solid"/>
                      <a:round/>
                      <a:headEnd type="none" w="med" len="med"/>
                      <a:tailEnd type="none" w="med" len="med"/>
                    </a:lnL>
                    <a:lnR w="6350" cap="flat" cmpd="sng" algn="ctr">
                      <a:solidFill>
                        <a:srgbClr val="D9D4C5"/>
                      </a:solidFill>
                      <a:prstDash val="solid"/>
                      <a:round/>
                      <a:headEnd type="none" w="med" len="med"/>
                      <a:tailEnd type="none" w="med" len="med"/>
                    </a:lnR>
                    <a:lnT w="6350" cap="flat" cmpd="sng" algn="ctr">
                      <a:solidFill>
                        <a:srgbClr val="D9D4C5"/>
                      </a:solidFill>
                      <a:prstDash val="solid"/>
                      <a:round/>
                      <a:headEnd type="none" w="med" len="med"/>
                      <a:tailEnd type="none" w="med" len="med"/>
                    </a:lnT>
                    <a:lnB w="6350" cap="flat" cmpd="sng" algn="ctr">
                      <a:solidFill>
                        <a:srgbClr val="D9D4C5"/>
                      </a:solidFill>
                      <a:prstDash val="solid"/>
                      <a:round/>
                      <a:headEnd type="none" w="med" len="med"/>
                      <a:tailEnd type="none" w="med" len="med"/>
                    </a:lnB>
                    <a:solidFill>
                      <a:schemeClr val="bg1"/>
                    </a:solidFill>
                  </a:tcPr>
                </a:tc>
              </a:tr>
              <a:tr h="566928">
                <a:tc>
                  <a:txBody>
                    <a:bodyPr/>
                    <a:lstStyle/>
                    <a:p>
                      <a:pPr indent="0" marL="0">
                        <a:buNone/>
                      </a:pPr>
                      <a:r>
                        <a:rPr lang="en-US" sz="1150" b="1" dirty="0">
                          <a:solidFill>
                            <a:schemeClr val="tx1"/>
                          </a:solidFill>
                        </a:rPr>
                        <a:t>Resend</a:t>
                      </a:r>
                      <a:endParaRPr lang="en-US" sz="1150" dirty="0"/>
                    </a:p>
                    <a:p>
                      <a:pPr indent="0" marL="0">
                        <a:buNone/>
                      </a:pPr>
                      <a:r>
                        <a:rPr lang="en-US" sz="1150" b="1" dirty="0">
                          <a:solidFill>
                            <a:schemeClr val="tx1"/>
                          </a:solidFill>
                        </a:rPr>
                        <a:t>email</a:t>
                      </a:r>
                      <a:endParaRPr lang="en-US" sz="1150" dirty="0"/>
                    </a:p>
                  </a:txBody>
                  <a:tcPr marL="91440" marR="91440" marT="36576" marB="36576" anchor="ctr">
                    <a:lnL w="6350" cap="flat" cmpd="sng" algn="ctr">
                      <a:solidFill>
                        <a:srgbClr val="D9D4C5"/>
                      </a:solidFill>
                      <a:prstDash val="solid"/>
                      <a:round/>
                      <a:headEnd type="none" w="med" len="med"/>
                      <a:tailEnd type="none" w="med" len="med"/>
                    </a:lnL>
                    <a:lnR w="6350" cap="flat" cmpd="sng" algn="ctr">
                      <a:solidFill>
                        <a:srgbClr val="D9D4C5"/>
                      </a:solidFill>
                      <a:prstDash val="solid"/>
                      <a:round/>
                      <a:headEnd type="none" w="med" len="med"/>
                      <a:tailEnd type="none" w="med" len="med"/>
                    </a:lnR>
                    <a:lnT w="6350" cap="flat" cmpd="sng" algn="ctr">
                      <a:solidFill>
                        <a:srgbClr val="D9D4C5"/>
                      </a:solidFill>
                      <a:prstDash val="solid"/>
                      <a:round/>
                      <a:headEnd type="none" w="med" len="med"/>
                      <a:tailEnd type="none" w="med" len="med"/>
                    </a:lnT>
                    <a:lnB w="6350" cap="flat" cmpd="sng" algn="ctr">
                      <a:solidFill>
                        <a:srgbClr val="D9D4C5"/>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Pro, dominio operate.it verificato</a:t>
                      </a:r>
                      <a:endParaRPr lang="en-US" sz="1150" dirty="0"/>
                    </a:p>
                  </a:txBody>
                  <a:tcPr marL="91440" marR="91440" marT="36576" marB="36576" anchor="ctr">
                    <a:lnL w="6350" cap="flat" cmpd="sng" algn="ctr">
                      <a:solidFill>
                        <a:srgbClr val="D9D4C5"/>
                      </a:solidFill>
                      <a:prstDash val="solid"/>
                      <a:round/>
                      <a:headEnd type="none" w="med" len="med"/>
                      <a:tailEnd type="none" w="med" len="med"/>
                    </a:lnL>
                    <a:lnR w="6350" cap="flat" cmpd="sng" algn="ctr">
                      <a:solidFill>
                        <a:srgbClr val="D9D4C5"/>
                      </a:solidFill>
                      <a:prstDash val="solid"/>
                      <a:round/>
                      <a:headEnd type="none" w="med" len="med"/>
                      <a:tailEnd type="none" w="med" len="med"/>
                    </a:lnR>
                    <a:lnT w="6350" cap="flat" cmpd="sng" algn="ctr">
                      <a:solidFill>
                        <a:srgbClr val="D9D4C5"/>
                      </a:solidFill>
                      <a:prstDash val="solid"/>
                      <a:round/>
                      <a:headEnd type="none" w="med" len="med"/>
                      <a:tailEnd type="none" w="med" len="med"/>
                    </a:lnT>
                    <a:lnB w="6350" cap="flat" cmpd="sng" algn="ctr">
                      <a:solidFill>
                        <a:srgbClr val="D9D4C5"/>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50.000 email al mese senza limite giornaliero (oggi 100 al giorno): avvisi e scadenze non si bloccano; mittente della Fondazione</a:t>
                      </a:r>
                      <a:endParaRPr lang="en-US" sz="1150" dirty="0"/>
                    </a:p>
                  </a:txBody>
                  <a:tcPr marL="91440" marR="91440" marT="36576" marB="36576" anchor="ctr">
                    <a:lnL w="6350" cap="flat" cmpd="sng" algn="ctr">
                      <a:solidFill>
                        <a:srgbClr val="D9D4C5"/>
                      </a:solidFill>
                      <a:prstDash val="solid"/>
                      <a:round/>
                      <a:headEnd type="none" w="med" len="med"/>
                      <a:tailEnd type="none" w="med" len="med"/>
                    </a:lnL>
                    <a:lnR w="6350" cap="flat" cmpd="sng" algn="ctr">
                      <a:solidFill>
                        <a:srgbClr val="D9D4C5"/>
                      </a:solidFill>
                      <a:prstDash val="solid"/>
                      <a:round/>
                      <a:headEnd type="none" w="med" len="med"/>
                      <a:tailEnd type="none" w="med" len="med"/>
                    </a:lnR>
                    <a:lnT w="6350" cap="flat" cmpd="sng" algn="ctr">
                      <a:solidFill>
                        <a:srgbClr val="D9D4C5"/>
                      </a:solidFill>
                      <a:prstDash val="solid"/>
                      <a:round/>
                      <a:headEnd type="none" w="med" len="med"/>
                      <a:tailEnd type="none" w="med" len="med"/>
                    </a:lnT>
                    <a:lnB w="6350" cap="flat" cmpd="sng" algn="ctr">
                      <a:solidFill>
                        <a:srgbClr val="D9D4C5"/>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2"/>
                          </a:solidFill>
                        </a:rPr>
                        <a:t>20 $</a:t>
                      </a:r>
                      <a:endParaRPr lang="en-US" sz="1150" dirty="0"/>
                    </a:p>
                  </a:txBody>
                  <a:tcPr marL="91440" marR="91440" marT="36576" marB="36576" anchor="ctr">
                    <a:lnL w="6350" cap="flat" cmpd="sng" algn="ctr">
                      <a:solidFill>
                        <a:srgbClr val="D9D4C5"/>
                      </a:solidFill>
                      <a:prstDash val="solid"/>
                      <a:round/>
                      <a:headEnd type="none" w="med" len="med"/>
                      <a:tailEnd type="none" w="med" len="med"/>
                    </a:lnL>
                    <a:lnR w="6350" cap="flat" cmpd="sng" algn="ctr">
                      <a:solidFill>
                        <a:srgbClr val="D9D4C5"/>
                      </a:solidFill>
                      <a:prstDash val="solid"/>
                      <a:round/>
                      <a:headEnd type="none" w="med" len="med"/>
                      <a:tailEnd type="none" w="med" len="med"/>
                    </a:lnR>
                    <a:lnT w="6350" cap="flat" cmpd="sng" algn="ctr">
                      <a:solidFill>
                        <a:srgbClr val="D9D4C5"/>
                      </a:solidFill>
                      <a:prstDash val="solid"/>
                      <a:round/>
                      <a:headEnd type="none" w="med" len="med"/>
                      <a:tailEnd type="none" w="med" len="med"/>
                    </a:lnT>
                    <a:lnB w="6350" cap="flat" cmpd="sng" algn="ctr">
                      <a:solidFill>
                        <a:srgbClr val="D9D4C5"/>
                      </a:solidFill>
                      <a:prstDash val="solid"/>
                      <a:round/>
                      <a:headEnd type="none" w="med" len="med"/>
                      <a:tailEnd type="none" w="med" len="med"/>
                    </a:lnB>
                    <a:solidFill>
                      <a:schemeClr val="bg2"/>
                    </a:solidFill>
                  </a:tcPr>
                </a:tc>
              </a:tr>
              <a:tr h="502920">
                <a:tc>
                  <a:txBody>
                    <a:bodyPr/>
                    <a:lstStyle/>
                    <a:p>
                      <a:pPr indent="0" marL="0">
                        <a:buNone/>
                      </a:pPr>
                      <a:r>
                        <a:rPr lang="en-US" sz="1150" b="1" dirty="0">
                          <a:solidFill>
                            <a:schemeClr val="tx1"/>
                          </a:solidFill>
                        </a:rPr>
                        <a:t>Sentry</a:t>
                      </a:r>
                      <a:endParaRPr lang="en-US" sz="1150" dirty="0"/>
                    </a:p>
                    <a:p>
                      <a:pPr indent="0" marL="0">
                        <a:buNone/>
                      </a:pPr>
                      <a:r>
                        <a:rPr lang="en-US" sz="1150" b="1" dirty="0">
                          <a:solidFill>
                            <a:schemeClr val="tx1"/>
                          </a:solidFill>
                        </a:rPr>
                        <a:t>monitoraggio errori</a:t>
                      </a:r>
                      <a:endParaRPr lang="en-US" sz="1150" dirty="0"/>
                    </a:p>
                  </a:txBody>
                  <a:tcPr marL="91440" marR="91440" marT="36576" marB="36576" anchor="ctr">
                    <a:lnL w="6350" cap="flat" cmpd="sng" algn="ctr">
                      <a:solidFill>
                        <a:srgbClr val="D9D4C5"/>
                      </a:solidFill>
                      <a:prstDash val="solid"/>
                      <a:round/>
                      <a:headEnd type="none" w="med" len="med"/>
                      <a:tailEnd type="none" w="med" len="med"/>
                    </a:lnL>
                    <a:lnR w="6350" cap="flat" cmpd="sng" algn="ctr">
                      <a:solidFill>
                        <a:srgbClr val="D9D4C5"/>
                      </a:solidFill>
                      <a:prstDash val="solid"/>
                      <a:round/>
                      <a:headEnd type="none" w="med" len="med"/>
                      <a:tailEnd type="none" w="med" len="med"/>
                    </a:lnR>
                    <a:lnT w="6350" cap="flat" cmpd="sng" algn="ctr">
                      <a:solidFill>
                        <a:srgbClr val="D9D4C5"/>
                      </a:solidFill>
                      <a:prstDash val="solid"/>
                      <a:round/>
                      <a:headEnd type="none" w="med" len="med"/>
                      <a:tailEnd type="none" w="med" len="med"/>
                    </a:lnT>
                    <a:lnB w="6350" cap="flat" cmpd="sng" algn="ctr">
                      <a:solidFill>
                        <a:srgbClr val="D9D4C5"/>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Developer (gratuito)</a:t>
                      </a:r>
                      <a:endParaRPr lang="en-US" sz="1150" dirty="0"/>
                    </a:p>
                  </a:txBody>
                  <a:tcPr marL="91440" marR="91440" marT="36576" marB="36576" anchor="ctr">
                    <a:lnL w="6350" cap="flat" cmpd="sng" algn="ctr">
                      <a:solidFill>
                        <a:srgbClr val="D9D4C5"/>
                      </a:solidFill>
                      <a:prstDash val="solid"/>
                      <a:round/>
                      <a:headEnd type="none" w="med" len="med"/>
                      <a:tailEnd type="none" w="med" len="med"/>
                    </a:lnL>
                    <a:lnR w="6350" cap="flat" cmpd="sng" algn="ctr">
                      <a:solidFill>
                        <a:srgbClr val="D9D4C5"/>
                      </a:solidFill>
                      <a:prstDash val="solid"/>
                      <a:round/>
                      <a:headEnd type="none" w="med" len="med"/>
                      <a:tailEnd type="none" w="med" len="med"/>
                    </a:lnR>
                    <a:lnT w="6350" cap="flat" cmpd="sng" algn="ctr">
                      <a:solidFill>
                        <a:srgbClr val="D9D4C5"/>
                      </a:solidFill>
                      <a:prstDash val="solid"/>
                      <a:round/>
                      <a:headEnd type="none" w="med" len="med"/>
                      <a:tailEnd type="none" w="med" len="med"/>
                    </a:lnT>
                    <a:lnB w="6350" cap="flat" cmpd="sng" algn="ctr">
                      <a:solidFill>
                        <a:srgbClr val="D9D4C5"/>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Avviso immediato quando una pagina va in errore; piano Team (26 $) se servono più utenti</a:t>
                      </a:r>
                      <a:endParaRPr lang="en-US" sz="1150" dirty="0"/>
                    </a:p>
                  </a:txBody>
                  <a:tcPr marL="91440" marR="91440" marT="36576" marB="36576" anchor="ctr">
                    <a:lnL w="6350" cap="flat" cmpd="sng" algn="ctr">
                      <a:solidFill>
                        <a:srgbClr val="D9D4C5"/>
                      </a:solidFill>
                      <a:prstDash val="solid"/>
                      <a:round/>
                      <a:headEnd type="none" w="med" len="med"/>
                      <a:tailEnd type="none" w="med" len="med"/>
                    </a:lnL>
                    <a:lnR w="6350" cap="flat" cmpd="sng" algn="ctr">
                      <a:solidFill>
                        <a:srgbClr val="D9D4C5"/>
                      </a:solidFill>
                      <a:prstDash val="solid"/>
                      <a:round/>
                      <a:headEnd type="none" w="med" len="med"/>
                      <a:tailEnd type="none" w="med" len="med"/>
                    </a:lnR>
                    <a:lnT w="6350" cap="flat" cmpd="sng" algn="ctr">
                      <a:solidFill>
                        <a:srgbClr val="D9D4C5"/>
                      </a:solidFill>
                      <a:prstDash val="solid"/>
                      <a:round/>
                      <a:headEnd type="none" w="med" len="med"/>
                      <a:tailEnd type="none" w="med" len="med"/>
                    </a:lnT>
                    <a:lnB w="6350" cap="flat" cmpd="sng" algn="ctr">
                      <a:solidFill>
                        <a:srgbClr val="D9D4C5"/>
                      </a:solidFill>
                      <a:prstDash val="solid"/>
                      <a:round/>
                      <a:headEnd type="none" w="med" len="med"/>
                      <a:tailEnd type="none" w="med" len="med"/>
                    </a:lnB>
                    <a:solidFill>
                      <a:schemeClr val="bg1"/>
                    </a:solidFill>
                  </a:tcPr>
                </a:tc>
                <a:tc>
                  <a:txBody>
                    <a:bodyPr/>
                    <a:lstStyle/>
                    <a:p>
                      <a:pPr indent="0" marL="0">
                        <a:buNone/>
                      </a:pPr>
                      <a:r>
                        <a:rPr lang="en-US" sz="1150" dirty="0">
                          <a:solidFill>
                            <a:schemeClr val="accent2"/>
                          </a:solidFill>
                        </a:rPr>
                        <a:t>0 $</a:t>
                      </a:r>
                      <a:endParaRPr lang="en-US" sz="1150" dirty="0"/>
                    </a:p>
                  </a:txBody>
                  <a:tcPr marL="91440" marR="91440" marT="36576" marB="36576" anchor="ctr">
                    <a:lnL w="6350" cap="flat" cmpd="sng" algn="ctr">
                      <a:solidFill>
                        <a:srgbClr val="D9D4C5"/>
                      </a:solidFill>
                      <a:prstDash val="solid"/>
                      <a:round/>
                      <a:headEnd type="none" w="med" len="med"/>
                      <a:tailEnd type="none" w="med" len="med"/>
                    </a:lnL>
                    <a:lnR w="6350" cap="flat" cmpd="sng" algn="ctr">
                      <a:solidFill>
                        <a:srgbClr val="D9D4C5"/>
                      </a:solidFill>
                      <a:prstDash val="solid"/>
                      <a:round/>
                      <a:headEnd type="none" w="med" len="med"/>
                      <a:tailEnd type="none" w="med" len="med"/>
                    </a:lnR>
                    <a:lnT w="6350" cap="flat" cmpd="sng" algn="ctr">
                      <a:solidFill>
                        <a:srgbClr val="D9D4C5"/>
                      </a:solidFill>
                      <a:prstDash val="solid"/>
                      <a:round/>
                      <a:headEnd type="none" w="med" len="med"/>
                      <a:tailEnd type="none" w="med" len="med"/>
                    </a:lnT>
                    <a:lnB w="6350" cap="flat" cmpd="sng" algn="ctr">
                      <a:solidFill>
                        <a:srgbClr val="D9D4C5"/>
                      </a:solidFill>
                      <a:prstDash val="solid"/>
                      <a:round/>
                      <a:headEnd type="none" w="med" len="med"/>
                      <a:tailEnd type="none" w="med" len="med"/>
                    </a:lnB>
                    <a:solidFill>
                      <a:schemeClr val="bg1"/>
                    </a:solidFill>
                  </a:tcPr>
                </a:tc>
              </a:tr>
            </a:tbl>
          </a:graphicData>
        </a:graphic>
      </p:graphicFrame>
      <p:sp>
        <p:nvSpPr>
          <p:cNvPr id="4" name="Totale Indispensabili per l'avvio"/>
          <p:cNvSpPr/>
          <p:nvPr/>
        </p:nvSpPr>
        <p:spPr>
          <a:xfrm>
            <a:off x="548640" y="5440680"/>
            <a:ext cx="5440680" cy="777240"/>
          </a:xfrm>
          <a:prstGeom prst="roundRect">
            <a:avLst>
              <a:gd name="adj" fmla="val 14118"/>
            </a:avLst>
          </a:prstGeom>
          <a:solidFill>
            <a:schemeClr val="accent3"/>
          </a:solidFill>
          <a:ln w="12700">
            <a:solidFill>
              <a:schemeClr val="accent3"/>
            </a:solidFill>
            <a:prstDash val="solid"/>
          </a:ln>
        </p:spPr>
      </p:sp>
      <p:sp>
        <p:nvSpPr>
          <p:cNvPr id="5" name="Text 2"/>
          <p:cNvSpPr txBox="1"/>
          <p:nvPr/>
        </p:nvSpPr>
        <p:spPr>
          <a:xfrm>
            <a:off x="731520" y="5440680"/>
            <a:ext cx="5120640" cy="777240"/>
          </a:xfrm>
          <a:prstGeom prst="rect">
            <a:avLst/>
          </a:prstGeom>
          <a:noFill/>
          <a:ln/>
        </p:spPr>
        <p:txBody>
          <a:bodyPr wrap="square" lIns="0" tIns="0" rIns="0" bIns="0" rtlCol="0" anchor="ctr"/>
          <a:lstStyle/>
          <a:p>
            <a:pPr indent="0" marL="0">
              <a:buNone/>
            </a:pPr>
            <a:r>
              <a:rPr lang="en-US" sz="1400" b="1" dirty="0">
                <a:solidFill>
                  <a:schemeClr val="tx2"/>
                </a:solidFill>
              </a:rPr>
              <a:t>Indispensabili per l'avvio: </a:t>
            </a:r>
            <a:pPr indent="0" marL="0">
              <a:buNone/>
            </a:pPr>
            <a:r>
              <a:rPr lang="en-US" sz="1400" b="1" dirty="0">
                <a:solidFill>
                  <a:schemeClr val="accent2"/>
                </a:solidFill>
              </a:rPr>
              <a:t>≈ 74 $ al mese</a:t>
            </a:r>
            <a:pPr indent="0" marL="0">
              <a:buNone/>
            </a:pPr>
            <a:endParaRPr lang="en-US" sz="1400" dirty="0"/>
          </a:p>
          <a:p>
            <a:pPr indent="0" marL="0">
              <a:buNone/>
            </a:pPr>
            <a:r>
              <a:rPr lang="en-US" sz="1100" dirty="0">
                <a:solidFill>
                  <a:schemeClr val="tx1"/>
                </a:solidFill>
              </a:rPr>
              <a:t>GitHub Team, Vercel Pro, Supabase Pro con calcolo Small, Resend Pro</a:t>
            </a:r>
            <a:endParaRPr lang="en-US" sz="1400" dirty="0"/>
          </a:p>
        </p:txBody>
      </p:sp>
      <p:sp>
        <p:nvSpPr>
          <p:cNvPr id="6" name="Totale Con le opzioni consigliate"/>
          <p:cNvSpPr/>
          <p:nvPr/>
        </p:nvSpPr>
        <p:spPr>
          <a:xfrm>
            <a:off x="6172200" y="5440680"/>
            <a:ext cx="5440680" cy="777240"/>
          </a:xfrm>
          <a:prstGeom prst="roundRect">
            <a:avLst>
              <a:gd name="adj" fmla="val 14118"/>
            </a:avLst>
          </a:prstGeom>
          <a:solidFill>
            <a:schemeClr val="accent4"/>
          </a:solidFill>
          <a:ln w="12700">
            <a:solidFill>
              <a:schemeClr val="accent4"/>
            </a:solidFill>
            <a:prstDash val="solid"/>
          </a:ln>
        </p:spPr>
      </p:sp>
      <p:sp>
        <p:nvSpPr>
          <p:cNvPr id="7" name="Text 4"/>
          <p:cNvSpPr txBox="1"/>
          <p:nvPr/>
        </p:nvSpPr>
        <p:spPr>
          <a:xfrm>
            <a:off x="6355080" y="5440680"/>
            <a:ext cx="5120640" cy="777240"/>
          </a:xfrm>
          <a:prstGeom prst="rect">
            <a:avLst/>
          </a:prstGeom>
          <a:noFill/>
          <a:ln/>
        </p:spPr>
        <p:txBody>
          <a:bodyPr wrap="square" lIns="0" tIns="0" rIns="0" bIns="0" rtlCol="0" anchor="ctr"/>
          <a:lstStyle/>
          <a:p>
            <a:pPr indent="0" marL="0">
              <a:buNone/>
            </a:pPr>
            <a:r>
              <a:rPr lang="en-US" sz="1400" b="1" dirty="0">
                <a:solidFill>
                  <a:schemeClr val="tx2"/>
                </a:solidFill>
              </a:rPr>
              <a:t>Con le opzioni consigliate: </a:t>
            </a:r>
            <a:pPr indent="0" marL="0">
              <a:buNone/>
            </a:pPr>
            <a:r>
              <a:rPr lang="en-US" sz="1400" b="1" dirty="0">
                <a:solidFill>
                  <a:schemeClr val="accent2"/>
                </a:solidFill>
              </a:rPr>
              <a:t>≈ 200 $ al mese</a:t>
            </a:r>
            <a:pPr indent="0" marL="0">
              <a:buNone/>
            </a:pPr>
            <a:endParaRPr lang="en-US" sz="1400" dirty="0"/>
          </a:p>
          <a:p>
            <a:pPr indent="0" marL="0">
              <a:buNone/>
            </a:pPr>
            <a:r>
              <a:rPr lang="en-US" sz="1100" dirty="0">
                <a:solidFill>
                  <a:schemeClr val="tx1"/>
                </a:solidFill>
              </a:rPr>
              <a:t>più ripristino PITR, ambiente di prova e blocco delle chiavi su GitHub</a:t>
            </a:r>
            <a:endParaRPr lang="en-US" sz="1400" dirty="0"/>
          </a:p>
        </p:txBody>
      </p:sp>
      <p:sp>
        <p:nvSpPr>
          <p:cNvPr id="8" name="Text 5"/>
          <p:cNvSpPr/>
          <p:nvPr/>
        </p:nvSpPr>
        <p:spPr>
          <a:xfrm>
            <a:off x="548640" y="6217920"/>
            <a:ext cx="10424160" cy="201168"/>
          </a:xfrm>
          <a:prstGeom prst="rect">
            <a:avLst/>
          </a:prstGeom>
          <a:noFill/>
          <a:ln/>
        </p:spPr>
        <p:txBody>
          <a:bodyPr wrap="square" lIns="0" tIns="0" rIns="0" bIns="0" rtlCol="0" anchor="ctr"/>
          <a:lstStyle/>
          <a:p>
            <a:pPr indent="0" marL="0">
              <a:buNone/>
            </a:pPr>
            <a:r>
              <a:rPr lang="en-US" sz="950" i="1" dirty="0">
                <a:solidFill>
                  <a:schemeClr val="accent6"/>
                </a:solidFill>
              </a:rPr>
              <a:t>Listini di ottobre 2026, in dollari, IVA esclusa. Gratis e da attivare subito: verifica in due passaggi sugli account GitHub, Vercel, Supabase e Resend.</a:t>
            </a:r>
            <a:endParaRPr lang="en-US" sz="9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Scelte ancora da prendere</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4846320"/>
                <a:gridCol w="4389120"/>
                <a:gridCol w="1828800"/>
              </a:tblGrid>
              <a:tr h="512064">
                <a:tc>
                  <a:txBody>
                    <a:bodyPr/>
                    <a:lstStyle/>
                    <a:p>
                      <a:pPr indent="0" marL="0">
                        <a:buNone/>
                      </a:pPr>
                      <a:r>
                        <a:rPr lang="en-US" sz="1300" b="1" dirty="0">
                          <a:solidFill>
                            <a:schemeClr val="bg1"/>
                          </a:solidFill>
                        </a:rPr>
                        <a:t>Scelta</a:t>
                      </a:r>
                      <a:endParaRPr lang="en-US" sz="1300" dirty="0"/>
                    </a:p>
                  </a:txBody>
                  <a:tcPr marL="109728" marR="109728" marT="36576" marB="36576" anchor="ctr">
                    <a:lnL w="6350" cap="flat" cmpd="sng" algn="ctr">
                      <a:solidFill>
                        <a:srgbClr val="D9D4C5"/>
                      </a:solidFill>
                      <a:prstDash val="solid"/>
                      <a:round/>
                      <a:headEnd type="none" w="med" len="med"/>
                      <a:tailEnd type="none" w="med" len="med"/>
                    </a:lnL>
                    <a:lnR w="6350" cap="flat" cmpd="sng" algn="ctr">
                      <a:solidFill>
                        <a:srgbClr val="D9D4C5"/>
                      </a:solidFill>
                      <a:prstDash val="solid"/>
                      <a:round/>
                      <a:headEnd type="none" w="med" len="med"/>
                      <a:tailEnd type="none" w="med" len="med"/>
                    </a:lnR>
                    <a:lnT w="6350" cap="flat" cmpd="sng" algn="ctr">
                      <a:solidFill>
                        <a:srgbClr val="D9D4C5"/>
                      </a:solidFill>
                      <a:prstDash val="solid"/>
                      <a:round/>
                      <a:headEnd type="none" w="med" len="med"/>
                      <a:tailEnd type="none" w="med" len="med"/>
                    </a:lnT>
                    <a:lnB w="6350" cap="flat" cmpd="sng" algn="ctr">
                      <a:solidFill>
                        <a:srgbClr val="D9D4C5"/>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Cosa dicono i documenti CWP</a:t>
                      </a:r>
                      <a:endParaRPr lang="en-US" sz="1300" dirty="0"/>
                    </a:p>
                  </a:txBody>
                  <a:tcPr marL="109728" marR="109728" marT="36576" marB="36576" anchor="ctr">
                    <a:lnL w="6350" cap="flat" cmpd="sng" algn="ctr">
                      <a:solidFill>
                        <a:srgbClr val="D9D4C5"/>
                      </a:solidFill>
                      <a:prstDash val="solid"/>
                      <a:round/>
                      <a:headEnd type="none" w="med" len="med"/>
                      <a:tailEnd type="none" w="med" len="med"/>
                    </a:lnL>
                    <a:lnR w="6350" cap="flat" cmpd="sng" algn="ctr">
                      <a:solidFill>
                        <a:srgbClr val="D9D4C5"/>
                      </a:solidFill>
                      <a:prstDash val="solid"/>
                      <a:round/>
                      <a:headEnd type="none" w="med" len="med"/>
                      <a:tailEnd type="none" w="med" len="med"/>
                    </a:lnR>
                    <a:lnT w="6350" cap="flat" cmpd="sng" algn="ctr">
                      <a:solidFill>
                        <a:srgbClr val="D9D4C5"/>
                      </a:solidFill>
                      <a:prstDash val="solid"/>
                      <a:round/>
                      <a:headEnd type="none" w="med" len="med"/>
                      <a:tailEnd type="none" w="med" len="med"/>
                    </a:lnT>
                    <a:lnB w="6350" cap="flat" cmpd="sng" algn="ctr">
                      <a:solidFill>
                        <a:srgbClr val="D9D4C5"/>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Chi decide</a:t>
                      </a:r>
                      <a:endParaRPr lang="en-US" sz="1300" dirty="0"/>
                    </a:p>
                  </a:txBody>
                  <a:tcPr marL="109728" marR="109728" marT="36576" marB="36576" anchor="ctr">
                    <a:lnL w="6350" cap="flat" cmpd="sng" algn="ctr">
                      <a:solidFill>
                        <a:srgbClr val="D9D4C5"/>
                      </a:solidFill>
                      <a:prstDash val="solid"/>
                      <a:round/>
                      <a:headEnd type="none" w="med" len="med"/>
                      <a:tailEnd type="none" w="med" len="med"/>
                    </a:lnL>
                    <a:lnR w="6350" cap="flat" cmpd="sng" algn="ctr">
                      <a:solidFill>
                        <a:srgbClr val="D9D4C5"/>
                      </a:solidFill>
                      <a:prstDash val="solid"/>
                      <a:round/>
                      <a:headEnd type="none" w="med" len="med"/>
                      <a:tailEnd type="none" w="med" len="med"/>
                    </a:lnR>
                    <a:lnT w="6350" cap="flat" cmpd="sng" algn="ctr">
                      <a:solidFill>
                        <a:srgbClr val="D9D4C5"/>
                      </a:solidFill>
                      <a:prstDash val="solid"/>
                      <a:round/>
                      <a:headEnd type="none" w="med" len="med"/>
                      <a:tailEnd type="none" w="med" len="med"/>
                    </a:lnT>
                    <a:lnB w="6350" cap="flat" cmpd="sng" algn="ctr">
                      <a:solidFill>
                        <a:srgbClr val="D9D4C5"/>
                      </a:solidFill>
                      <a:prstDash val="solid"/>
                      <a:round/>
                      <a:headEnd type="none" w="med" len="med"/>
                      <a:tailEnd type="none" w="med" len="med"/>
                    </a:lnB>
                    <a:solidFill>
                      <a:schemeClr val="tx2"/>
                    </a:solidFill>
                  </a:tcPr>
                </a:tc>
              </a:tr>
              <a:tr h="512064">
                <a:tc>
                  <a:txBody>
                    <a:bodyPr/>
                    <a:lstStyle/>
                    <a:p>
                      <a:pPr indent="0" marL="0">
                        <a:buNone/>
                      </a:pPr>
                      <a:r>
                        <a:rPr lang="en-US" sz="1300" b="1" dirty="0">
                          <a:solidFill>
                            <a:schemeClr val="tx1"/>
                          </a:solidFill>
                        </a:rPr>
                        <a:t>Accesso con SPID, CIE o CNS al feedback pubblico</a:t>
                      </a:r>
                      <a:endParaRPr lang="en-US" sz="1300" dirty="0"/>
                    </a:p>
                  </a:txBody>
                  <a:tcPr marL="109728" marR="109728" marT="36576" marB="36576" anchor="ctr">
                    <a:lnL w="6350" cap="flat" cmpd="sng" algn="ctr">
                      <a:solidFill>
                        <a:srgbClr val="D9D4C5"/>
                      </a:solidFill>
                      <a:prstDash val="solid"/>
                      <a:round/>
                      <a:headEnd type="none" w="med" len="med"/>
                      <a:tailEnd type="none" w="med" len="med"/>
                    </a:lnL>
                    <a:lnR w="6350" cap="flat" cmpd="sng" algn="ctr">
                      <a:solidFill>
                        <a:srgbClr val="D9D4C5"/>
                      </a:solidFill>
                      <a:prstDash val="solid"/>
                      <a:round/>
                      <a:headEnd type="none" w="med" len="med"/>
                      <a:tailEnd type="none" w="med" len="med"/>
                    </a:lnR>
                    <a:lnT w="6350" cap="flat" cmpd="sng" algn="ctr">
                      <a:solidFill>
                        <a:srgbClr val="D9D4C5"/>
                      </a:solidFill>
                      <a:prstDash val="solid"/>
                      <a:round/>
                      <a:headEnd type="none" w="med" len="med"/>
                      <a:tailEnd type="none" w="med" len="med"/>
                    </a:lnT>
                    <a:lnB w="6350" cap="flat" cmpd="sng" algn="ctr">
                      <a:solidFill>
                        <a:srgbClr val="D9D4C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Previsto dalla Guida 3.9: serve l'adesione come fornitore di servizi</a:t>
                      </a:r>
                      <a:endParaRPr lang="en-US" sz="1300" dirty="0"/>
                    </a:p>
                  </a:txBody>
                  <a:tcPr marL="109728" marR="109728" marT="36576" marB="36576" anchor="ctr">
                    <a:lnL w="6350" cap="flat" cmpd="sng" algn="ctr">
                      <a:solidFill>
                        <a:srgbClr val="D9D4C5"/>
                      </a:solidFill>
                      <a:prstDash val="solid"/>
                      <a:round/>
                      <a:headEnd type="none" w="med" len="med"/>
                      <a:tailEnd type="none" w="med" len="med"/>
                    </a:lnL>
                    <a:lnR w="6350" cap="flat" cmpd="sng" algn="ctr">
                      <a:solidFill>
                        <a:srgbClr val="D9D4C5"/>
                      </a:solidFill>
                      <a:prstDash val="solid"/>
                      <a:round/>
                      <a:headEnd type="none" w="med" len="med"/>
                      <a:tailEnd type="none" w="med" len="med"/>
                    </a:lnR>
                    <a:lnT w="6350" cap="flat" cmpd="sng" algn="ctr">
                      <a:solidFill>
                        <a:srgbClr val="D9D4C5"/>
                      </a:solidFill>
                      <a:prstDash val="solid"/>
                      <a:round/>
                      <a:headEnd type="none" w="med" len="med"/>
                      <a:tailEnd type="none" w="med" len="med"/>
                    </a:lnT>
                    <a:lnB w="6350" cap="flat" cmpd="sng" algn="ctr">
                      <a:solidFill>
                        <a:srgbClr val="D9D4C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Fondazione</a:t>
                      </a:r>
                      <a:endParaRPr lang="en-US" sz="1300" dirty="0"/>
                    </a:p>
                  </a:txBody>
                  <a:tcPr marL="109728" marR="109728" marT="36576" marB="36576" anchor="ctr">
                    <a:lnL w="6350" cap="flat" cmpd="sng" algn="ctr">
                      <a:solidFill>
                        <a:srgbClr val="D9D4C5"/>
                      </a:solidFill>
                      <a:prstDash val="solid"/>
                      <a:round/>
                      <a:headEnd type="none" w="med" len="med"/>
                      <a:tailEnd type="none" w="med" len="med"/>
                    </a:lnL>
                    <a:lnR w="6350" cap="flat" cmpd="sng" algn="ctr">
                      <a:solidFill>
                        <a:srgbClr val="D9D4C5"/>
                      </a:solidFill>
                      <a:prstDash val="solid"/>
                      <a:round/>
                      <a:headEnd type="none" w="med" len="med"/>
                      <a:tailEnd type="none" w="med" len="med"/>
                    </a:lnR>
                    <a:lnT w="6350" cap="flat" cmpd="sng" algn="ctr">
                      <a:solidFill>
                        <a:srgbClr val="D9D4C5"/>
                      </a:solidFill>
                      <a:prstDash val="solid"/>
                      <a:round/>
                      <a:headEnd type="none" w="med" len="med"/>
                      <a:tailEnd type="none" w="med" len="med"/>
                    </a:lnT>
                    <a:lnB w="6350" cap="flat" cmpd="sng" algn="ctr">
                      <a:solidFill>
                        <a:srgbClr val="D9D4C5"/>
                      </a:solidFill>
                      <a:prstDash val="solid"/>
                      <a:round/>
                      <a:headEnd type="none" w="med" len="med"/>
                      <a:tailEnd type="none" w="med" len="med"/>
                    </a:lnB>
                    <a:solidFill>
                      <a:schemeClr val="bg2"/>
                    </a:solidFill>
                  </a:tcPr>
                </a:tc>
              </a:tr>
              <a:tr h="512064">
                <a:tc>
                  <a:txBody>
                    <a:bodyPr/>
                    <a:lstStyle/>
                    <a:p>
                      <a:pPr indent="0" marL="0">
                        <a:buNone/>
                      </a:pPr>
                      <a:r>
                        <a:rPr lang="en-US" sz="1300" b="1" dirty="0">
                          <a:solidFill>
                            <a:schemeClr val="tx1"/>
                          </a:solidFill>
                        </a:rPr>
                        <a:t>Rapporti prima della registrazione del Progetto: oggi ammessi</a:t>
                      </a:r>
                      <a:endParaRPr lang="en-US" sz="1300" dirty="0"/>
                    </a:p>
                  </a:txBody>
                  <a:tcPr marL="109728" marR="109728" marT="36576" marB="36576" anchor="ctr">
                    <a:lnL w="6350" cap="flat" cmpd="sng" algn="ctr">
                      <a:solidFill>
                        <a:srgbClr val="D9D4C5"/>
                      </a:solidFill>
                      <a:prstDash val="solid"/>
                      <a:round/>
                      <a:headEnd type="none" w="med" len="med"/>
                      <a:tailEnd type="none" w="med" len="med"/>
                    </a:lnL>
                    <a:lnR w="6350" cap="flat" cmpd="sng" algn="ctr">
                      <a:solidFill>
                        <a:srgbClr val="D9D4C5"/>
                      </a:solidFill>
                      <a:prstDash val="solid"/>
                      <a:round/>
                      <a:headEnd type="none" w="med" len="med"/>
                      <a:tailEnd type="none" w="med" len="med"/>
                    </a:lnR>
                    <a:lnT w="6350" cap="flat" cmpd="sng" algn="ctr">
                      <a:solidFill>
                        <a:srgbClr val="D9D4C5"/>
                      </a:solidFill>
                      <a:prstDash val="solid"/>
                      <a:round/>
                      <a:headEnd type="none" w="med" len="med"/>
                      <a:tailEnd type="none" w="med" len="med"/>
                    </a:lnT>
                    <a:lnB w="6350" cap="flat" cmpd="sng" algn="ctr">
                      <a:solidFill>
                        <a:srgbClr val="D9D4C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Lo Standard 4.5 li prevede dopo «progetto registrato» (i crediti già lo richiedono)</a:t>
                      </a:r>
                      <a:endParaRPr lang="en-US" sz="1300" dirty="0"/>
                    </a:p>
                  </a:txBody>
                  <a:tcPr marL="109728" marR="109728" marT="36576" marB="36576" anchor="ctr">
                    <a:lnL w="6350" cap="flat" cmpd="sng" algn="ctr">
                      <a:solidFill>
                        <a:srgbClr val="D9D4C5"/>
                      </a:solidFill>
                      <a:prstDash val="solid"/>
                      <a:round/>
                      <a:headEnd type="none" w="med" len="med"/>
                      <a:tailEnd type="none" w="med" len="med"/>
                    </a:lnL>
                    <a:lnR w="6350" cap="flat" cmpd="sng" algn="ctr">
                      <a:solidFill>
                        <a:srgbClr val="D9D4C5"/>
                      </a:solidFill>
                      <a:prstDash val="solid"/>
                      <a:round/>
                      <a:headEnd type="none" w="med" len="med"/>
                      <a:tailEnd type="none" w="med" len="med"/>
                    </a:lnR>
                    <a:lnT w="6350" cap="flat" cmpd="sng" algn="ctr">
                      <a:solidFill>
                        <a:srgbClr val="D9D4C5"/>
                      </a:solidFill>
                      <a:prstDash val="solid"/>
                      <a:round/>
                      <a:headEnd type="none" w="med" len="med"/>
                      <a:tailEnd type="none" w="med" len="med"/>
                    </a:lnT>
                    <a:lnB w="6350" cap="flat" cmpd="sng" algn="ctr">
                      <a:solidFill>
                        <a:srgbClr val="D9D4C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Fondazione</a:t>
                      </a:r>
                      <a:endParaRPr lang="en-US" sz="1300" dirty="0"/>
                    </a:p>
                  </a:txBody>
                  <a:tcPr marL="109728" marR="109728" marT="36576" marB="36576" anchor="ctr">
                    <a:lnL w="6350" cap="flat" cmpd="sng" algn="ctr">
                      <a:solidFill>
                        <a:srgbClr val="D9D4C5"/>
                      </a:solidFill>
                      <a:prstDash val="solid"/>
                      <a:round/>
                      <a:headEnd type="none" w="med" len="med"/>
                      <a:tailEnd type="none" w="med" len="med"/>
                    </a:lnL>
                    <a:lnR w="6350" cap="flat" cmpd="sng" algn="ctr">
                      <a:solidFill>
                        <a:srgbClr val="D9D4C5"/>
                      </a:solidFill>
                      <a:prstDash val="solid"/>
                      <a:round/>
                      <a:headEnd type="none" w="med" len="med"/>
                      <a:tailEnd type="none" w="med" len="med"/>
                    </a:lnR>
                    <a:lnT w="6350" cap="flat" cmpd="sng" algn="ctr">
                      <a:solidFill>
                        <a:srgbClr val="D9D4C5"/>
                      </a:solidFill>
                      <a:prstDash val="solid"/>
                      <a:round/>
                      <a:headEnd type="none" w="med" len="med"/>
                      <a:tailEnd type="none" w="med" len="med"/>
                    </a:lnT>
                    <a:lnB w="6350" cap="flat" cmpd="sng" algn="ctr">
                      <a:solidFill>
                        <a:srgbClr val="D9D4C5"/>
                      </a:solidFill>
                      <a:prstDash val="solid"/>
                      <a:round/>
                      <a:headEnd type="none" w="med" len="med"/>
                      <a:tailEnd type="none" w="med" len="med"/>
                    </a:lnB>
                    <a:solidFill>
                      <a:schemeClr val="bg1"/>
                    </a:solidFill>
                  </a:tcPr>
                </a:tc>
              </a:tr>
              <a:tr h="512064">
                <a:tc>
                  <a:txBody>
                    <a:bodyPr/>
                    <a:lstStyle/>
                    <a:p>
                      <a:pPr indent="0" marL="0">
                        <a:buNone/>
                      </a:pPr>
                      <a:r>
                        <a:rPr lang="en-US" sz="1300" b="1" dirty="0">
                          <a:solidFill>
                            <a:schemeClr val="tx1"/>
                          </a:solidFill>
                        </a:rPr>
                        <a:t>Importi delle tariffe da applicare</a:t>
                      </a:r>
                      <a:endParaRPr lang="en-US" sz="1300" dirty="0"/>
                    </a:p>
                  </a:txBody>
                  <a:tcPr marL="109728" marR="109728" marT="36576" marB="36576" anchor="ctr">
                    <a:lnL w="6350" cap="flat" cmpd="sng" algn="ctr">
                      <a:solidFill>
                        <a:srgbClr val="D9D4C5"/>
                      </a:solidFill>
                      <a:prstDash val="solid"/>
                      <a:round/>
                      <a:headEnd type="none" w="med" len="med"/>
                      <a:tailEnd type="none" w="med" len="med"/>
                    </a:lnL>
                    <a:lnR w="6350" cap="flat" cmpd="sng" algn="ctr">
                      <a:solidFill>
                        <a:srgbClr val="D9D4C5"/>
                      </a:solidFill>
                      <a:prstDash val="solid"/>
                      <a:round/>
                      <a:headEnd type="none" w="med" len="med"/>
                      <a:tailEnd type="none" w="med" len="med"/>
                    </a:lnR>
                    <a:lnT w="6350" cap="flat" cmpd="sng" algn="ctr">
                      <a:solidFill>
                        <a:srgbClr val="D9D4C5"/>
                      </a:solidFill>
                      <a:prstDash val="solid"/>
                      <a:round/>
                      <a:headEnd type="none" w="med" len="med"/>
                      <a:tailEnd type="none" w="med" len="med"/>
                    </a:lnT>
                    <a:lnB w="6350" cap="flat" cmpd="sng" algn="ctr">
                      <a:solidFill>
                        <a:srgbClr val="D9D4C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Lo Schema tariffario indica tariffe massime, IVA esclusa</a:t>
                      </a:r>
                      <a:endParaRPr lang="en-US" sz="1300" dirty="0"/>
                    </a:p>
                  </a:txBody>
                  <a:tcPr marL="109728" marR="109728" marT="36576" marB="36576" anchor="ctr">
                    <a:lnL w="6350" cap="flat" cmpd="sng" algn="ctr">
                      <a:solidFill>
                        <a:srgbClr val="D9D4C5"/>
                      </a:solidFill>
                      <a:prstDash val="solid"/>
                      <a:round/>
                      <a:headEnd type="none" w="med" len="med"/>
                      <a:tailEnd type="none" w="med" len="med"/>
                    </a:lnL>
                    <a:lnR w="6350" cap="flat" cmpd="sng" algn="ctr">
                      <a:solidFill>
                        <a:srgbClr val="D9D4C5"/>
                      </a:solidFill>
                      <a:prstDash val="solid"/>
                      <a:round/>
                      <a:headEnd type="none" w="med" len="med"/>
                      <a:tailEnd type="none" w="med" len="med"/>
                    </a:lnR>
                    <a:lnT w="6350" cap="flat" cmpd="sng" algn="ctr">
                      <a:solidFill>
                        <a:srgbClr val="D9D4C5"/>
                      </a:solidFill>
                      <a:prstDash val="solid"/>
                      <a:round/>
                      <a:headEnd type="none" w="med" len="med"/>
                      <a:tailEnd type="none" w="med" len="med"/>
                    </a:lnT>
                    <a:lnB w="6350" cap="flat" cmpd="sng" algn="ctr">
                      <a:solidFill>
                        <a:srgbClr val="D9D4C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Fondazione</a:t>
                      </a:r>
                      <a:endParaRPr lang="en-US" sz="1300" dirty="0"/>
                    </a:p>
                  </a:txBody>
                  <a:tcPr marL="109728" marR="109728" marT="36576" marB="36576" anchor="ctr">
                    <a:lnL w="6350" cap="flat" cmpd="sng" algn="ctr">
                      <a:solidFill>
                        <a:srgbClr val="D9D4C5"/>
                      </a:solidFill>
                      <a:prstDash val="solid"/>
                      <a:round/>
                      <a:headEnd type="none" w="med" len="med"/>
                      <a:tailEnd type="none" w="med" len="med"/>
                    </a:lnL>
                    <a:lnR w="6350" cap="flat" cmpd="sng" algn="ctr">
                      <a:solidFill>
                        <a:srgbClr val="D9D4C5"/>
                      </a:solidFill>
                      <a:prstDash val="solid"/>
                      <a:round/>
                      <a:headEnd type="none" w="med" len="med"/>
                      <a:tailEnd type="none" w="med" len="med"/>
                    </a:lnR>
                    <a:lnT w="6350" cap="flat" cmpd="sng" algn="ctr">
                      <a:solidFill>
                        <a:srgbClr val="D9D4C5"/>
                      </a:solidFill>
                      <a:prstDash val="solid"/>
                      <a:round/>
                      <a:headEnd type="none" w="med" len="med"/>
                      <a:tailEnd type="none" w="med" len="med"/>
                    </a:lnT>
                    <a:lnB w="6350" cap="flat" cmpd="sng" algn="ctr">
                      <a:solidFill>
                        <a:srgbClr val="D9D4C5"/>
                      </a:solidFill>
                      <a:prstDash val="solid"/>
                      <a:round/>
                      <a:headEnd type="none" w="med" len="med"/>
                      <a:tailEnd type="none" w="med" len="med"/>
                    </a:lnB>
                    <a:solidFill>
                      <a:schemeClr val="bg2"/>
                    </a:solidFill>
                  </a:tcPr>
                </a:tc>
              </a:tr>
              <a:tr h="512064">
                <a:tc>
                  <a:txBody>
                    <a:bodyPr/>
                    <a:lstStyle/>
                    <a:p>
                      <a:pPr indent="0" marL="0">
                        <a:buNone/>
                      </a:pPr>
                      <a:r>
                        <a:rPr lang="en-US" sz="1300" b="1" dirty="0">
                          <a:solidFill>
                            <a:schemeClr val="tx1"/>
                          </a:solidFill>
                        </a:rPr>
                        <a:t>Scelte interpretative del calcolo (FEdes, segno del riuso, buffer, Tabella 16, frazioni vuote per utenza)</a:t>
                      </a:r>
                      <a:endParaRPr lang="en-US" sz="1300" dirty="0"/>
                    </a:p>
                  </a:txBody>
                  <a:tcPr marL="109728" marR="109728" marT="36576" marB="36576" anchor="ctr">
                    <a:lnL w="6350" cap="flat" cmpd="sng" algn="ctr">
                      <a:solidFill>
                        <a:srgbClr val="D9D4C5"/>
                      </a:solidFill>
                      <a:prstDash val="solid"/>
                      <a:round/>
                      <a:headEnd type="none" w="med" len="med"/>
                      <a:tailEnd type="none" w="med" len="med"/>
                    </a:lnL>
                    <a:lnR w="6350" cap="flat" cmpd="sng" algn="ctr">
                      <a:solidFill>
                        <a:srgbClr val="D9D4C5"/>
                      </a:solidFill>
                      <a:prstDash val="solid"/>
                      <a:round/>
                      <a:headEnd type="none" w="med" len="med"/>
                      <a:tailEnd type="none" w="med" len="med"/>
                    </a:lnR>
                    <a:lnT w="6350" cap="flat" cmpd="sng" algn="ctr">
                      <a:solidFill>
                        <a:srgbClr val="D9D4C5"/>
                      </a:solidFill>
                      <a:prstDash val="solid"/>
                      <a:round/>
                      <a:headEnd type="none" w="med" len="med"/>
                      <a:tailEnd type="none" w="med" len="med"/>
                    </a:lnT>
                    <a:lnB w="6350" cap="flat" cmpd="sng" algn="ctr">
                      <a:solidFill>
                        <a:srgbClr val="D9D4C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Determinano il valore dei crediti</a:t>
                      </a:r>
                      <a:endParaRPr lang="en-US" sz="1300" dirty="0"/>
                    </a:p>
                  </a:txBody>
                  <a:tcPr marL="109728" marR="109728" marT="36576" marB="36576" anchor="ctr">
                    <a:lnL w="6350" cap="flat" cmpd="sng" algn="ctr">
                      <a:solidFill>
                        <a:srgbClr val="D9D4C5"/>
                      </a:solidFill>
                      <a:prstDash val="solid"/>
                      <a:round/>
                      <a:headEnd type="none" w="med" len="med"/>
                      <a:tailEnd type="none" w="med" len="med"/>
                    </a:lnL>
                    <a:lnR w="6350" cap="flat" cmpd="sng" algn="ctr">
                      <a:solidFill>
                        <a:srgbClr val="D9D4C5"/>
                      </a:solidFill>
                      <a:prstDash val="solid"/>
                      <a:round/>
                      <a:headEnd type="none" w="med" len="med"/>
                      <a:tailEnd type="none" w="med" len="med"/>
                    </a:lnR>
                    <a:lnT w="6350" cap="flat" cmpd="sng" algn="ctr">
                      <a:solidFill>
                        <a:srgbClr val="D9D4C5"/>
                      </a:solidFill>
                      <a:prstDash val="solid"/>
                      <a:round/>
                      <a:headEnd type="none" w="med" len="med"/>
                      <a:tailEnd type="none" w="med" len="med"/>
                    </a:lnT>
                    <a:lnB w="6350" cap="flat" cmpd="sng" algn="ctr">
                      <a:solidFill>
                        <a:srgbClr val="D9D4C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Fondazione con l'ente</a:t>
                      </a:r>
                      <a:endParaRPr lang="en-US" sz="1300" dirty="0"/>
                    </a:p>
                  </a:txBody>
                  <a:tcPr marL="109728" marR="109728" marT="36576" marB="36576" anchor="ctr">
                    <a:lnL w="6350" cap="flat" cmpd="sng" algn="ctr">
                      <a:solidFill>
                        <a:srgbClr val="D9D4C5"/>
                      </a:solidFill>
                      <a:prstDash val="solid"/>
                      <a:round/>
                      <a:headEnd type="none" w="med" len="med"/>
                      <a:tailEnd type="none" w="med" len="med"/>
                    </a:lnL>
                    <a:lnR w="6350" cap="flat" cmpd="sng" algn="ctr">
                      <a:solidFill>
                        <a:srgbClr val="D9D4C5"/>
                      </a:solidFill>
                      <a:prstDash val="solid"/>
                      <a:round/>
                      <a:headEnd type="none" w="med" len="med"/>
                      <a:tailEnd type="none" w="med" len="med"/>
                    </a:lnR>
                    <a:lnT w="6350" cap="flat" cmpd="sng" algn="ctr">
                      <a:solidFill>
                        <a:srgbClr val="D9D4C5"/>
                      </a:solidFill>
                      <a:prstDash val="solid"/>
                      <a:round/>
                      <a:headEnd type="none" w="med" len="med"/>
                      <a:tailEnd type="none" w="med" len="med"/>
                    </a:lnT>
                    <a:lnB w="6350" cap="flat" cmpd="sng" algn="ctr">
                      <a:solidFill>
                        <a:srgbClr val="D9D4C5"/>
                      </a:solidFill>
                      <a:prstDash val="solid"/>
                      <a:round/>
                      <a:headEnd type="none" w="med" len="med"/>
                      <a:tailEnd type="none" w="med" len="med"/>
                    </a:lnB>
                    <a:solidFill>
                      <a:schemeClr val="bg1"/>
                    </a:solidFill>
                  </a:tcPr>
                </a:tc>
              </a:tr>
              <a:tr h="512064">
                <a:tc>
                  <a:txBody>
                    <a:bodyPr/>
                    <a:lstStyle/>
                    <a:p>
                      <a:pPr indent="0" marL="0">
                        <a:buNone/>
                      </a:pPr>
                      <a:r>
                        <a:rPr lang="en-US" sz="1300" b="1" dirty="0">
                          <a:solidFill>
                            <a:schemeClr val="tx1"/>
                          </a:solidFill>
                        </a:rPr>
                        <a:t>Procedura di fine conservazione e ambito dell'assistente virtuale</a:t>
                      </a:r>
                      <a:endParaRPr lang="en-US" sz="1300" dirty="0"/>
                    </a:p>
                  </a:txBody>
                  <a:tcPr marL="109728" marR="109728" marT="36576" marB="36576" anchor="ctr">
                    <a:lnL w="6350" cap="flat" cmpd="sng" algn="ctr">
                      <a:solidFill>
                        <a:srgbClr val="D9D4C5"/>
                      </a:solidFill>
                      <a:prstDash val="solid"/>
                      <a:round/>
                      <a:headEnd type="none" w="med" len="med"/>
                      <a:tailEnd type="none" w="med" len="med"/>
                    </a:lnL>
                    <a:lnR w="6350" cap="flat" cmpd="sng" algn="ctr">
                      <a:solidFill>
                        <a:srgbClr val="D9D4C5"/>
                      </a:solidFill>
                      <a:prstDash val="solid"/>
                      <a:round/>
                      <a:headEnd type="none" w="med" len="med"/>
                      <a:tailEnd type="none" w="med" len="med"/>
                    </a:lnR>
                    <a:lnT w="6350" cap="flat" cmpd="sng" algn="ctr">
                      <a:solidFill>
                        <a:srgbClr val="D9D4C5"/>
                      </a:solidFill>
                      <a:prstDash val="solid"/>
                      <a:round/>
                      <a:headEnd type="none" w="med" len="med"/>
                      <a:tailEnd type="none" w="med" len="med"/>
                    </a:lnT>
                    <a:lnB w="6350" cap="flat" cmpd="sng" algn="ctr">
                      <a:solidFill>
                        <a:srgbClr val="D9D4C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12 anni (Guida 6.2.1); assistente fuori dal flusso decisionale</a:t>
                      </a:r>
                      <a:endParaRPr lang="en-US" sz="1300" dirty="0"/>
                    </a:p>
                  </a:txBody>
                  <a:tcPr marL="109728" marR="109728" marT="36576" marB="36576" anchor="ctr">
                    <a:lnL w="6350" cap="flat" cmpd="sng" algn="ctr">
                      <a:solidFill>
                        <a:srgbClr val="D9D4C5"/>
                      </a:solidFill>
                      <a:prstDash val="solid"/>
                      <a:round/>
                      <a:headEnd type="none" w="med" len="med"/>
                      <a:tailEnd type="none" w="med" len="med"/>
                    </a:lnL>
                    <a:lnR w="6350" cap="flat" cmpd="sng" algn="ctr">
                      <a:solidFill>
                        <a:srgbClr val="D9D4C5"/>
                      </a:solidFill>
                      <a:prstDash val="solid"/>
                      <a:round/>
                      <a:headEnd type="none" w="med" len="med"/>
                      <a:tailEnd type="none" w="med" len="med"/>
                    </a:lnR>
                    <a:lnT w="6350" cap="flat" cmpd="sng" algn="ctr">
                      <a:solidFill>
                        <a:srgbClr val="D9D4C5"/>
                      </a:solidFill>
                      <a:prstDash val="solid"/>
                      <a:round/>
                      <a:headEnd type="none" w="med" len="med"/>
                      <a:tailEnd type="none" w="med" len="med"/>
                    </a:lnT>
                    <a:lnB w="6350" cap="flat" cmpd="sng" algn="ctr">
                      <a:solidFill>
                        <a:srgbClr val="D9D4C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Fondazione</a:t>
                      </a:r>
                      <a:endParaRPr lang="en-US" sz="1300" dirty="0"/>
                    </a:p>
                  </a:txBody>
                  <a:tcPr marL="109728" marR="109728" marT="36576" marB="36576" anchor="ctr">
                    <a:lnL w="6350" cap="flat" cmpd="sng" algn="ctr">
                      <a:solidFill>
                        <a:srgbClr val="D9D4C5"/>
                      </a:solidFill>
                      <a:prstDash val="solid"/>
                      <a:round/>
                      <a:headEnd type="none" w="med" len="med"/>
                      <a:tailEnd type="none" w="med" len="med"/>
                    </a:lnL>
                    <a:lnR w="6350" cap="flat" cmpd="sng" algn="ctr">
                      <a:solidFill>
                        <a:srgbClr val="D9D4C5"/>
                      </a:solidFill>
                      <a:prstDash val="solid"/>
                      <a:round/>
                      <a:headEnd type="none" w="med" len="med"/>
                      <a:tailEnd type="none" w="med" len="med"/>
                    </a:lnR>
                    <a:lnT w="6350" cap="flat" cmpd="sng" algn="ctr">
                      <a:solidFill>
                        <a:srgbClr val="D9D4C5"/>
                      </a:solidFill>
                      <a:prstDash val="solid"/>
                      <a:round/>
                      <a:headEnd type="none" w="med" len="med"/>
                      <a:tailEnd type="none" w="med" len="med"/>
                    </a:lnT>
                    <a:lnB w="6350" cap="flat" cmpd="sng" algn="ctr">
                      <a:solidFill>
                        <a:srgbClr val="D9D4C5"/>
                      </a:solidFill>
                      <a:prstDash val="solid"/>
                      <a:round/>
                      <a:headEnd type="none" w="med" len="med"/>
                      <a:tailEnd type="none" w="med" len="med"/>
                    </a:lnB>
                    <a:solidFill>
                      <a:schemeClr val="bg2"/>
                    </a:solidFill>
                  </a:tcPr>
                </a:tc>
              </a:tr>
              <a:tr h="512064">
                <a:tc>
                  <a:txBody>
                    <a:bodyPr/>
                    <a:lstStyle/>
                    <a:p>
                      <a:pPr indent="0" marL="0">
                        <a:buNone/>
                      </a:pPr>
                      <a:r>
                        <a:rPr lang="en-US" sz="1300" b="1" dirty="0">
                          <a:solidFill>
                            <a:schemeClr val="tx1"/>
                          </a:solidFill>
                        </a:rPr>
                        <a:t>Simulatore: metodo per le proposte, variabilità tra utenze (ipotesi 30%), chi vede gli scenari</a:t>
                      </a:r>
                      <a:endParaRPr lang="en-US" sz="1300" dirty="0"/>
                    </a:p>
                  </a:txBody>
                  <a:tcPr marL="109728" marR="109728" marT="36576" marB="36576" anchor="ctr">
                    <a:lnL w="6350" cap="flat" cmpd="sng" algn="ctr">
                      <a:solidFill>
                        <a:srgbClr val="D9D4C5"/>
                      </a:solidFill>
                      <a:prstDash val="solid"/>
                      <a:round/>
                      <a:headEnd type="none" w="med" len="med"/>
                      <a:tailEnd type="none" w="med" len="med"/>
                    </a:lnL>
                    <a:lnR w="6350" cap="flat" cmpd="sng" algn="ctr">
                      <a:solidFill>
                        <a:srgbClr val="D9D4C5"/>
                      </a:solidFill>
                      <a:prstDash val="solid"/>
                      <a:round/>
                      <a:headEnd type="none" w="med" len="med"/>
                      <a:tailEnd type="none" w="med" len="med"/>
                    </a:lnR>
                    <a:lnT w="6350" cap="flat" cmpd="sng" algn="ctr">
                      <a:solidFill>
                        <a:srgbClr val="D9D4C5"/>
                      </a:solidFill>
                      <a:prstDash val="solid"/>
                      <a:round/>
                      <a:headEnd type="none" w="med" len="med"/>
                      <a:tailEnd type="none" w="med" len="med"/>
                    </a:lnT>
                    <a:lnB w="6350" cap="flat" cmpd="sng" algn="ctr">
                      <a:solidFill>
                        <a:srgbClr val="D9D4C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Solo utenze virtuose con buffer (Metodologia 4.6 e Cap. 7), come l'Allegato A EsaCom</a:t>
                      </a:r>
                      <a:endParaRPr lang="en-US" sz="1300" dirty="0"/>
                    </a:p>
                  </a:txBody>
                  <a:tcPr marL="109728" marR="109728" marT="36576" marB="36576" anchor="ctr">
                    <a:lnL w="6350" cap="flat" cmpd="sng" algn="ctr">
                      <a:solidFill>
                        <a:srgbClr val="D9D4C5"/>
                      </a:solidFill>
                      <a:prstDash val="solid"/>
                      <a:round/>
                      <a:headEnd type="none" w="med" len="med"/>
                      <a:tailEnd type="none" w="med" len="med"/>
                    </a:lnL>
                    <a:lnR w="6350" cap="flat" cmpd="sng" algn="ctr">
                      <a:solidFill>
                        <a:srgbClr val="D9D4C5"/>
                      </a:solidFill>
                      <a:prstDash val="solid"/>
                      <a:round/>
                      <a:headEnd type="none" w="med" len="med"/>
                      <a:tailEnd type="none" w="med" len="med"/>
                    </a:lnR>
                    <a:lnT w="6350" cap="flat" cmpd="sng" algn="ctr">
                      <a:solidFill>
                        <a:srgbClr val="D9D4C5"/>
                      </a:solidFill>
                      <a:prstDash val="solid"/>
                      <a:round/>
                      <a:headEnd type="none" w="med" len="med"/>
                      <a:tailEnd type="none" w="med" len="med"/>
                    </a:lnT>
                    <a:lnB w="6350" cap="flat" cmpd="sng" algn="ctr">
                      <a:solidFill>
                        <a:srgbClr val="D9D4C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Fondazione</a:t>
                      </a:r>
                      <a:endParaRPr lang="en-US" sz="1300" dirty="0"/>
                    </a:p>
                  </a:txBody>
                  <a:tcPr marL="109728" marR="109728" marT="36576" marB="36576" anchor="ctr">
                    <a:lnL w="6350" cap="flat" cmpd="sng" algn="ctr">
                      <a:solidFill>
                        <a:srgbClr val="D9D4C5"/>
                      </a:solidFill>
                      <a:prstDash val="solid"/>
                      <a:round/>
                      <a:headEnd type="none" w="med" len="med"/>
                      <a:tailEnd type="none" w="med" len="med"/>
                    </a:lnL>
                    <a:lnR w="6350" cap="flat" cmpd="sng" algn="ctr">
                      <a:solidFill>
                        <a:srgbClr val="D9D4C5"/>
                      </a:solidFill>
                      <a:prstDash val="solid"/>
                      <a:round/>
                      <a:headEnd type="none" w="med" len="med"/>
                      <a:tailEnd type="none" w="med" len="med"/>
                    </a:lnR>
                    <a:lnT w="6350" cap="flat" cmpd="sng" algn="ctr">
                      <a:solidFill>
                        <a:srgbClr val="D9D4C5"/>
                      </a:solidFill>
                      <a:prstDash val="solid"/>
                      <a:round/>
                      <a:headEnd type="none" w="med" len="med"/>
                      <a:tailEnd type="none" w="med" len="med"/>
                    </a:lnT>
                    <a:lnB w="6350" cap="flat" cmpd="sng" algn="ctr">
                      <a:solidFill>
                        <a:srgbClr val="D9D4C5"/>
                      </a:solidFill>
                      <a:prstDash val="solid"/>
                      <a:round/>
                      <a:headEnd type="none" w="med" len="med"/>
                      <a:tailEnd type="none" w="med" len="med"/>
                    </a:lnB>
                    <a:solidFill>
                      <a:schemeClr val="bg1"/>
                    </a:solidFill>
                  </a:tcPr>
                </a:tc>
              </a:tr>
              <a:tr h="512064">
                <a:tc>
                  <a:txBody>
                    <a:bodyPr/>
                    <a:lstStyle/>
                    <a:p>
                      <a:pPr indent="0" marL="0">
                        <a:buNone/>
                      </a:pPr>
                      <a:r>
                        <a:rPr lang="en-US" sz="1300" b="1" dirty="0">
                          <a:solidFill>
                            <a:schemeClr val="tx1"/>
                          </a:solidFill>
                        </a:rPr>
                        <a:t>Qualificazione ACN del portale</a:t>
                      </a:r>
                      <a:endParaRPr lang="en-US" sz="1300" dirty="0"/>
                    </a:p>
                  </a:txBody>
                  <a:tcPr marL="109728" marR="109728" marT="36576" marB="36576" anchor="ctr">
                    <a:lnL w="6350" cap="flat" cmpd="sng" algn="ctr">
                      <a:solidFill>
                        <a:srgbClr val="D9D4C5"/>
                      </a:solidFill>
                      <a:prstDash val="solid"/>
                      <a:round/>
                      <a:headEnd type="none" w="med" len="med"/>
                      <a:tailEnd type="none" w="med" len="med"/>
                    </a:lnL>
                    <a:lnR w="6350" cap="flat" cmpd="sng" algn="ctr">
                      <a:solidFill>
                        <a:srgbClr val="D9D4C5"/>
                      </a:solidFill>
                      <a:prstDash val="solid"/>
                      <a:round/>
                      <a:headEnd type="none" w="med" len="med"/>
                      <a:tailEnd type="none" w="med" len="med"/>
                    </a:lnR>
                    <a:lnT w="6350" cap="flat" cmpd="sng" algn="ctr">
                      <a:solidFill>
                        <a:srgbClr val="D9D4C5"/>
                      </a:solidFill>
                      <a:prstDash val="solid"/>
                      <a:round/>
                      <a:headEnd type="none" w="med" len="med"/>
                      <a:tailEnd type="none" w="med" len="med"/>
                    </a:lnT>
                    <a:lnB w="6350" cap="flat" cmpd="sng" algn="ctr">
                      <a:solidFill>
                        <a:srgbClr val="D9D4C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Valutata non necessaria: qualifica il modello, il Comune non acquista un servizio cloud</a:t>
                      </a:r>
                      <a:endParaRPr lang="en-US" sz="1300" dirty="0"/>
                    </a:p>
                  </a:txBody>
                  <a:tcPr marL="109728" marR="109728" marT="36576" marB="36576" anchor="ctr">
                    <a:lnL w="6350" cap="flat" cmpd="sng" algn="ctr">
                      <a:solidFill>
                        <a:srgbClr val="D9D4C5"/>
                      </a:solidFill>
                      <a:prstDash val="solid"/>
                      <a:round/>
                      <a:headEnd type="none" w="med" len="med"/>
                      <a:tailEnd type="none" w="med" len="med"/>
                    </a:lnL>
                    <a:lnR w="6350" cap="flat" cmpd="sng" algn="ctr">
                      <a:solidFill>
                        <a:srgbClr val="D9D4C5"/>
                      </a:solidFill>
                      <a:prstDash val="solid"/>
                      <a:round/>
                      <a:headEnd type="none" w="med" len="med"/>
                      <a:tailEnd type="none" w="med" len="med"/>
                    </a:lnR>
                    <a:lnT w="6350" cap="flat" cmpd="sng" algn="ctr">
                      <a:solidFill>
                        <a:srgbClr val="D9D4C5"/>
                      </a:solidFill>
                      <a:prstDash val="solid"/>
                      <a:round/>
                      <a:headEnd type="none" w="med" len="med"/>
                      <a:tailEnd type="none" w="med" len="med"/>
                    </a:lnT>
                    <a:lnB w="6350" cap="flat" cmpd="sng" algn="ctr">
                      <a:solidFill>
                        <a:srgbClr val="D9D4C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Parere legale</a:t>
                      </a:r>
                      <a:endParaRPr lang="en-US" sz="1300" dirty="0"/>
                    </a:p>
                  </a:txBody>
                  <a:tcPr marL="109728" marR="109728" marT="36576" marB="36576" anchor="ctr">
                    <a:lnL w="6350" cap="flat" cmpd="sng" algn="ctr">
                      <a:solidFill>
                        <a:srgbClr val="D9D4C5"/>
                      </a:solidFill>
                      <a:prstDash val="solid"/>
                      <a:round/>
                      <a:headEnd type="none" w="med" len="med"/>
                      <a:tailEnd type="none" w="med" len="med"/>
                    </a:lnL>
                    <a:lnR w="6350" cap="flat" cmpd="sng" algn="ctr">
                      <a:solidFill>
                        <a:srgbClr val="D9D4C5"/>
                      </a:solidFill>
                      <a:prstDash val="solid"/>
                      <a:round/>
                      <a:headEnd type="none" w="med" len="med"/>
                      <a:tailEnd type="none" w="med" len="med"/>
                    </a:lnR>
                    <a:lnT w="6350" cap="flat" cmpd="sng" algn="ctr">
                      <a:solidFill>
                        <a:srgbClr val="D9D4C5"/>
                      </a:solidFill>
                      <a:prstDash val="solid"/>
                      <a:round/>
                      <a:headEnd type="none" w="med" len="med"/>
                      <a:tailEnd type="none" w="med" len="med"/>
                    </a:lnT>
                    <a:lnB w="6350" cap="flat" cmpd="sng" algn="ctr">
                      <a:solidFill>
                        <a:srgbClr val="D9D4C5"/>
                      </a:solidFill>
                      <a:prstDash val="solid"/>
                      <a:round/>
                      <a:headEnd type="none" w="med" len="med"/>
                      <a:tailEnd type="none" w="med" len="med"/>
                    </a:lnB>
                    <a:solidFill>
                      <a:schemeClr val="bg2"/>
                    </a:solidFill>
                  </a:tcPr>
                </a:tc>
              </a:tr>
              <a:tr h="512064">
                <a:tc>
                  <a:txBody>
                    <a:bodyPr/>
                    <a:lstStyle/>
                    <a:p>
                      <a:pPr indent="0" marL="0">
                        <a:buNone/>
                      </a:pPr>
                      <a:r>
                        <a:rPr lang="en-US" sz="1300" b="1" dirty="0">
                          <a:solidFill>
                            <a:schemeClr val="tx1"/>
                          </a:solidFill>
                        </a:rPr>
                        <a:t>Servizi: dominio operate.it, piani a pagamento, verifica in due passaggi, antivirus, DPIA e accordo art. 28 per i dati delle utenze, Comune per il collaudo</a:t>
                      </a:r>
                      <a:endParaRPr lang="en-US" sz="1300" dirty="0"/>
                    </a:p>
                  </a:txBody>
                  <a:tcPr marL="109728" marR="109728" marT="36576" marB="36576" anchor="ctr">
                    <a:lnL w="6350" cap="flat" cmpd="sng" algn="ctr">
                      <a:solidFill>
                        <a:srgbClr val="D9D4C5"/>
                      </a:solidFill>
                      <a:prstDash val="solid"/>
                      <a:round/>
                      <a:headEnd type="none" w="med" len="med"/>
                      <a:tailEnd type="none" w="med" len="med"/>
                    </a:lnL>
                    <a:lnR w="6350" cap="flat" cmpd="sng" algn="ctr">
                      <a:solidFill>
                        <a:srgbClr val="D9D4C5"/>
                      </a:solidFill>
                      <a:prstDash val="solid"/>
                      <a:round/>
                      <a:headEnd type="none" w="med" len="med"/>
                      <a:tailEnd type="none" w="med" len="med"/>
                    </a:lnR>
                    <a:lnT w="6350" cap="flat" cmpd="sng" algn="ctr">
                      <a:solidFill>
                        <a:srgbClr val="D9D4C5"/>
                      </a:solidFill>
                      <a:prstDash val="solid"/>
                      <a:round/>
                      <a:headEnd type="none" w="med" len="med"/>
                      <a:tailEnd type="none" w="med" len="med"/>
                    </a:lnT>
                    <a:lnB w="6350" cap="flat" cmpd="sng" algn="ctr">
                      <a:solidFill>
                        <a:srgbClr val="D9D4C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Avvio in esercizio</a:t>
                      </a:r>
                      <a:endParaRPr lang="en-US" sz="1300" dirty="0"/>
                    </a:p>
                  </a:txBody>
                  <a:tcPr marL="109728" marR="109728" marT="36576" marB="36576" anchor="ctr">
                    <a:lnL w="6350" cap="flat" cmpd="sng" algn="ctr">
                      <a:solidFill>
                        <a:srgbClr val="D9D4C5"/>
                      </a:solidFill>
                      <a:prstDash val="solid"/>
                      <a:round/>
                      <a:headEnd type="none" w="med" len="med"/>
                      <a:tailEnd type="none" w="med" len="med"/>
                    </a:lnL>
                    <a:lnR w="6350" cap="flat" cmpd="sng" algn="ctr">
                      <a:solidFill>
                        <a:srgbClr val="D9D4C5"/>
                      </a:solidFill>
                      <a:prstDash val="solid"/>
                      <a:round/>
                      <a:headEnd type="none" w="med" len="med"/>
                      <a:tailEnd type="none" w="med" len="med"/>
                    </a:lnR>
                    <a:lnT w="6350" cap="flat" cmpd="sng" algn="ctr">
                      <a:solidFill>
                        <a:srgbClr val="D9D4C5"/>
                      </a:solidFill>
                      <a:prstDash val="solid"/>
                      <a:round/>
                      <a:headEnd type="none" w="med" len="med"/>
                      <a:tailEnd type="none" w="med" len="med"/>
                    </a:lnT>
                    <a:lnB w="6350" cap="flat" cmpd="sng" algn="ctr">
                      <a:solidFill>
                        <a:srgbClr val="D9D4C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Fondazione e Luca Moretti</a:t>
                      </a:r>
                      <a:endParaRPr lang="en-US" sz="1300" dirty="0"/>
                    </a:p>
                  </a:txBody>
                  <a:tcPr marL="109728" marR="109728" marT="36576" marB="36576" anchor="ctr">
                    <a:lnL w="6350" cap="flat" cmpd="sng" algn="ctr">
                      <a:solidFill>
                        <a:srgbClr val="D9D4C5"/>
                      </a:solidFill>
                      <a:prstDash val="solid"/>
                      <a:round/>
                      <a:headEnd type="none" w="med" len="med"/>
                      <a:tailEnd type="none" w="med" len="med"/>
                    </a:lnL>
                    <a:lnR w="6350" cap="flat" cmpd="sng" algn="ctr">
                      <a:solidFill>
                        <a:srgbClr val="D9D4C5"/>
                      </a:solidFill>
                      <a:prstDash val="solid"/>
                      <a:round/>
                      <a:headEnd type="none" w="med" len="med"/>
                      <a:tailEnd type="none" w="med" len="med"/>
                    </a:lnR>
                    <a:lnT w="6350" cap="flat" cmpd="sng" algn="ctr">
                      <a:solidFill>
                        <a:srgbClr val="D9D4C5"/>
                      </a:solidFill>
                      <a:prstDash val="solid"/>
                      <a:round/>
                      <a:headEnd type="none" w="med" len="med"/>
                      <a:tailEnd type="none" w="med" len="med"/>
                    </a:lnT>
                    <a:lnB w="6350" cap="flat" cmpd="sng" algn="ctr">
                      <a:solidFill>
                        <a:srgbClr val="D9D4C5"/>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Carbon WastePrint">
  <a:themeElements>
    <a:clrScheme name="Carbon WastePrint">
      <a:dk1>
        <a:srgbClr val="1B2118"/>
      </a:dk1>
      <a:lt1>
        <a:srgbClr val="FFFFFF"/>
      </a:lt1>
      <a:dk2>
        <a:srgbClr val="2F5D3A"/>
      </a:dk2>
      <a:lt2>
        <a:srgbClr val="F1F3EF"/>
      </a:lt2>
      <a:accent1>
        <a:srgbClr val="2F5D3A"/>
      </a:accent1>
      <a:accent2>
        <a:srgbClr val="B06A2F"/>
      </a:accent2>
      <a:accent3>
        <a:srgbClr val="E4EDE1"/>
      </a:accent3>
      <a:accent4>
        <a:srgbClr val="F6E9DA"/>
      </a:accent4>
      <a:accent5>
        <a:srgbClr val="A23B2C"/>
      </a:accent5>
      <a:accent6>
        <a:srgbClr val="5A5E54"/>
      </a:accent6>
      <a:hlink>
        <a:srgbClr val="2F5D3A"/>
      </a:hlink>
      <a:folHlink>
        <a:srgbClr val="B06A2F"/>
      </a:folHlink>
    </a:clrScheme>
    <a:fontScheme name="Carbon WastePrin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Fondazione Operate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Portale Carbon WastePrint — stato dei lavori e recap</dc:title>
  <dc:subject>PptxGenJS Presentation</dc:subject>
  <dc:creator>Fondazione Operate</dc:creator>
  <cp:lastModifiedBy>Fondazione Operate</cp:lastModifiedBy>
  <cp:revision>1</cp:revision>
  <dcterms:created xsi:type="dcterms:W3CDTF">2026-10-23T08:55:20Z</dcterms:created>
  <dcterms:modified xsi:type="dcterms:W3CDTF">2026-10-23T08:55:20Z</dcterms:modified>
</cp:coreProperties>
</file>