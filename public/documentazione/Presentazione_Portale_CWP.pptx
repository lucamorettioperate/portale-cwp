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da20ac0-d03a-a5c3-40b2-3ab2798de5aa}">
          <p14:sldIdLst>
            <p14:sldId id="256"/>
          </p14:sldIdLst>
        </p14:section>
        <p14:section name="Metodologia" id="{8f98600f-1c8c-7b18-ba77-9121aa41e473}">
          <p14:sldIdLst>
            <p14:sldId id="257"/>
          </p14:sldIdLst>
        </p14:section>
        <p14:section name="Analisi funzionale" id="{140d3ef0-8407-bd94-3320-8a095b0aa0a2}">
          <p14:sldIdLst>
            <p14:sldId id="258"/>
            <p14:sldId id="259"/>
          </p14:sldIdLst>
        </p14:section>
        <p14:section name="Già realtà" id="{f1b685e6-1c2d-4d4b-50c7-8bdb029bdbba}">
          <p14:sldIdLst>
            <p14:sldId id="260"/>
          </p14:sldIdLst>
        </p14:section>
        <p14:section name="Architettura e ruoli" id="{8771927b-0f33-7a12-b483-b9293a00953a}">
          <p14:sldIdLst>
            <p14:sldId id="261"/>
            <p14:sldId id="262"/>
          </p14:sldIdLst>
        </p14:section>
        <p14:section name="Novità" id="{606f21dd-ff25-da0a-34bd-c57ef5f8ef71}">
          <p14:sldIdLst>
            <p14:sldId id="263"/>
            <p14:sldId id="264"/>
            <p14:sldId id="265"/>
            <p14:sldId id="266"/>
          </p14:sldIdLst>
        </p14:section>
        <p14:section name="Punti aperti" id="{3becb8ee-9210-68fd-608b-cf965e01752b}">
          <p14:sldIdLst>
            <p14:sldId id="267"/>
            <p14:sldId id="268"/>
            <p14:sldId id="269"/>
            <p14:sldId id="270"/>
            <p14:sldId id="271"/>
          </p14:sldIdLst>
        </p14:section>
        <p14:section name="Scelte da prendere" id="{50087bd3-b351-ed7b-97f1-696de3ce7ed0}">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26 ottobre 2026 (revisione 4.3):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213 versioni, 47 script del database e 8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Sezione Marketing, richiesta di Luca del 23 ottobre 2026, solo Amministratori. Banche dati: tutti i Comuni italiani (elenco ISTAT con abitanti, poi dall'Indice dei domicili digitali della PA, IndicePA, PEC, email generica, sito, sindaco e responsabili degli uffici tributi, ambiente, finanziario e tecnico) e i gestori iscritti all'Albo Nazionale Gestori Ambientali in categoria 1 ordinaria, sezione per sezione, con verifica sui siti delle attività di raccolta e di gestione della tariffa e dei referenti. Campagne: testo con grafica, invito a scoprire le risorse economiche per 7, 10 o 21 anni; per ogni campagna si scelgono i destinatari (Comuni e gestori, regioni, abitanti, attività); invio solo agli indirizzi email generici, mai alle PEC, con informativa e collegamento per non ricevere altre comunicazioni. Il pulsante «Approfondisci» porta alla pagina pubblica /scopri: il Comune inserisce abitanti, rifiuti totali e secco residuo, durata e listino e vede crediti, ricavi, costi e margine anno per anno con il motore del simulatore; può scaricare il fascicolo informativo e chiedere la registrazione, che arriva a tutti gli Amministratori. Dal 25 ottobre il portale legge da solo i siti di Comuni e gestori (contatti, uffici, amministrazione trasparente, organigramma) e completa email generica, PEC, telefono, uffici tributi e ambiente e amministratori, con la pagina di provenienza: regole fisse nel codice, nessun servizio a pagamento. Prima degli invii reali: dominio email verificato su Resend e verifica legale delle comunicazioni promozionali via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25 e 26 ottobre 2026. Pratiche: un Rapporto di Monitoraggio si crea solo per un Progetto registrato, cioè con la fase 6 completata (script 45). Listino: ogni Progetto ha sempre il Caso 1 o il Caso 2 (script 47); i 5 Progetti esistenti sono passati a Caso 1 con la voce nell'audit e hanno gli abitanti, quindi la Dashboard mostra il valore dei progetti. Simulatore: scenari di stima per i 5 Comuni dei Progetti con i valori medi del cluster SOSE 4 della Tabella 3, perché sono Comuni di prova senza dati ISPRA; con il metodo bilancio del Comune i ricavi risultano inferiori al costo del Caso 1, da discutere con la Fondazione. Marketing: l'elenco dei Comuni senza filtri ora si carica subito (regole di accesso più veloci); il portale legge in automatico e gratis i siti di Comuni e gestori: nel primo giro 5.535 siti letti, 985 rifiutano i programmi automatici; 6.182 Comuni con email generica e 3.092 con l'email dell'ufficio tributi o ambiente. Per i gestori senza sito conosciuto il sito va prima trovato con una ricerca, a giri di circa 90 imprese.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26 ottobre 2026 · rev. 4.3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26 ottobre 2026 · rev. 4.3</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47</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8</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≈44.600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213</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47</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≈44.600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prezzo di riferimento 32 €</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Marketing: Comuni, gestori e campagne</a:t>
            </a:r>
            <a:endParaRPr lang="en-US" sz="3000" dirty="0"/>
          </a:p>
        </p:txBody>
      </p:sp>
      <p:pic>
        <p:nvPicPr>
          <p:cNvPr id="3" name="Schermata micro simulazione" descr="Pagina Approfondisci: micro simulazione di un Comune con margine, ricavi, costi e grafico per anno (dati di prova)">    </p:cNvPr>
          <p:cNvPicPr>
            <a:picLocks noChangeAspect="1"/>
          </p:cNvPicPr>
          <p:nvPr/>
        </p:nvPicPr>
        <p:blipFill>
          <a:blip r:embed="rId1"/>
          <a:stretch>
            <a:fillRect/>
          </a:stretch>
        </p:blipFill>
        <p:spPr>
          <a:xfrm>
            <a:off x="548640" y="1188720"/>
            <a:ext cx="6949440" cy="3817298"/>
          </a:xfrm>
          <a:prstGeom prst="rect">
            <a:avLst/>
          </a:prstGeom>
        </p:spPr>
      </p:pic>
      <p:sp>
        <p:nvSpPr>
          <p:cNvPr id="4" name="Text 1"/>
          <p:cNvSpPr txBox="1"/>
          <p:nvPr/>
        </p:nvSpPr>
        <p:spPr>
          <a:xfrm>
            <a:off x="548640" y="505173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Pagina «Approfondisci»: micro simulazione di un Comune di 16.735 abitanti, 10 anni, Caso 1</a:t>
            </a:r>
            <a:endParaRPr lang="en-US" sz="1000" dirty="0"/>
          </a:p>
        </p:txBody>
      </p:sp>
      <p:sp>
        <p:nvSpPr>
          <p:cNvPr id="5" name="Sezione Marketing"/>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6" name="Text 3"/>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Comuni</a:t>
            </a:r>
            <a:endParaRPr lang="en-US" sz="1350" dirty="0"/>
          </a:p>
          <a:p>
            <a:pPr indent="0" marL="0">
              <a:spcAft>
                <a:spcPts val="500"/>
              </a:spcAft>
              <a:buNone/>
            </a:pPr>
            <a:r>
              <a:rPr lang="en-US" sz="1200" dirty="0">
                <a:solidFill>
                  <a:schemeClr val="tx1"/>
                </a:solidFill>
              </a:rPr>
              <a:t>tutti i 7.904 Comuni per regione e provincia (ISTAT), con PEC, email generica, sito, sindaco e responsabili di tributi e ambiente (IndicePA)</a:t>
            </a:r>
            <a:endParaRPr lang="en-US" sz="1350" dirty="0"/>
          </a:p>
          <a:p>
            <a:pPr indent="0" marL="0">
              <a:spcAft>
                <a:spcPts val="500"/>
              </a:spcAft>
              <a:buNone/>
            </a:pPr>
            <a:r>
              <a:rPr lang="en-US" sz="1350" b="1" dirty="0">
                <a:solidFill>
                  <a:schemeClr val="tx2"/>
                </a:solidFill>
              </a:rPr>
              <a:t>Gestori</a:t>
            </a:r>
            <a:endParaRPr lang="en-US" sz="1350" dirty="0"/>
          </a:p>
          <a:p>
            <a:pPr indent="0" marL="0">
              <a:spcAft>
                <a:spcPts val="500"/>
              </a:spcAft>
              <a:buNone/>
            </a:pPr>
            <a:r>
              <a:rPr lang="en-US" sz="1200" dirty="0">
                <a:solidFill>
                  <a:schemeClr val="tx1"/>
                </a:solidFill>
              </a:rPr>
              <a:t>imprese dell'Albo Gestori Ambientali in categoria 1, con attività di raccolta e tariffa, PEC, email e referenti</a:t>
            </a:r>
            <a:endParaRPr lang="en-US" sz="1350" dirty="0"/>
          </a:p>
          <a:p>
            <a:pPr indent="0" marL="0">
              <a:spcAft>
                <a:spcPts val="500"/>
              </a:spcAft>
              <a:buNone/>
            </a:pPr>
            <a:r>
              <a:rPr lang="en-US" sz="1350" b="1" dirty="0">
                <a:solidFill>
                  <a:schemeClr val="tx2"/>
                </a:solidFill>
              </a:rPr>
              <a:t>Lettura dei siti</a:t>
            </a:r>
            <a:endParaRPr lang="en-US" sz="1350" dirty="0"/>
          </a:p>
          <a:p>
            <a:pPr indent="0" marL="0">
              <a:spcAft>
                <a:spcPts val="500"/>
              </a:spcAft>
              <a:buNone/>
            </a:pPr>
            <a:r>
              <a:rPr lang="en-US" sz="1200" dirty="0">
                <a:solidFill>
                  <a:schemeClr val="tx1"/>
                </a:solidFill>
              </a:rPr>
              <a:t>il portale legge da solo i siti di Comuni e gestori e completa recapiti e uffici, con la fonte (regole fisse, gratuito)</a:t>
            </a:r>
            <a:endParaRPr lang="en-US" sz="1350" dirty="0"/>
          </a:p>
          <a:p>
            <a:pPr indent="0" marL="0">
              <a:spcAft>
                <a:spcPts val="500"/>
              </a:spcAft>
              <a:buNone/>
            </a:pPr>
            <a:r>
              <a:rPr lang="en-US" sz="1350" b="1" dirty="0">
                <a:solidFill>
                  <a:schemeClr val="tx2"/>
                </a:solidFill>
              </a:rPr>
              <a:t>Campagne</a:t>
            </a:r>
            <a:endParaRPr lang="en-US" sz="1350" dirty="0"/>
          </a:p>
          <a:p>
            <a:pPr indent="0" marL="0">
              <a:spcAft>
                <a:spcPts val="500"/>
              </a:spcAft>
              <a:buNone/>
            </a:pPr>
            <a:r>
              <a:rPr lang="en-US" sz="1200" dirty="0">
                <a:solidFill>
                  <a:schemeClr val="tx1"/>
                </a:solidFill>
              </a:rPr>
              <a:t>testo e grafica, destinatari scelti per ogni campagna, solo email generiche (mai PEC), disiscrizione e informativa</a:t>
            </a:r>
            <a:endParaRPr lang="en-US" sz="1350" dirty="0"/>
          </a:p>
          <a:p>
            <a:pPr indent="0" marL="0">
              <a:spcAft>
                <a:spcPts val="500"/>
              </a:spcAft>
              <a:buNone/>
            </a:pPr>
            <a:r>
              <a:rPr lang="en-US" sz="1350" b="1" dirty="0">
                <a:solidFill>
                  <a:schemeClr val="tx2"/>
                </a:solidFill>
              </a:rPr>
              <a:t>Approfondisci</a:t>
            </a:r>
            <a:endParaRPr lang="en-US" sz="1350" dirty="0"/>
          </a:p>
          <a:p>
            <a:pPr indent="0" marL="0">
              <a:spcAft>
                <a:spcPts val="500"/>
              </a:spcAft>
              <a:buNone/>
            </a:pPr>
            <a:r>
              <a:rPr lang="en-US" sz="1200" dirty="0">
                <a:solidFill>
                  <a:schemeClr val="tx1"/>
                </a:solidFill>
              </a:rPr>
              <a:t>simulazione di costi e ricavi per 7, 10 o 21 anni, fascicolo PDF, richiesta di registrazione a tutti gli Amministratori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25 e 26 ottobre</a:t>
            </a:r>
            <a:endParaRPr lang="en-US" sz="3000" dirty="0"/>
          </a:p>
        </p:txBody>
      </p:sp>
      <p:sp>
        <p:nvSpPr>
          <p:cNvPr id="3" name="Numero Comuni in banca dati"/>
          <p:cNvSpPr/>
          <p:nvPr/>
        </p:nvSpPr>
        <p:spPr>
          <a:xfrm>
            <a:off x="548640" y="1188720"/>
            <a:ext cx="2194560" cy="1417320"/>
          </a:xfrm>
          <a:prstGeom prst="roundRect">
            <a:avLst>
              <a:gd name="adj" fmla="val 7742"/>
            </a:avLst>
          </a:prstGeom>
          <a:solidFill>
            <a:schemeClr val="accent3"/>
          </a:solidFill>
          <a:ln w="12700">
            <a:solidFill>
              <a:schemeClr val="accent3"/>
            </a:solidFill>
            <a:prstDash val="solid"/>
          </a:ln>
        </p:spPr>
      </p:sp>
      <p:sp>
        <p:nvSpPr>
          <p:cNvPr id="4" name="Text 2"/>
          <p:cNvSpPr txBox="1"/>
          <p:nvPr/>
        </p:nvSpPr>
        <p:spPr>
          <a:xfrm>
            <a:off x="68580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7.904</a:t>
            </a:r>
            <a:endParaRPr lang="en-US" sz="2600" dirty="0"/>
          </a:p>
          <a:p>
            <a:pPr indent="0" marL="0">
              <a:buNone/>
            </a:pPr>
            <a:r>
              <a:rPr lang="en-US" sz="1200" b="1" dirty="0">
                <a:solidFill>
                  <a:schemeClr val="tx1"/>
                </a:solidFill>
              </a:rPr>
              <a:t>Comuni in banca dati</a:t>
            </a:r>
            <a:endParaRPr lang="en-US" sz="2600" dirty="0"/>
          </a:p>
          <a:p>
            <a:pPr indent="0" marL="0">
              <a:buNone/>
            </a:pPr>
            <a:r>
              <a:rPr lang="en-US" sz="1050" dirty="0">
                <a:solidFill>
                  <a:schemeClr val="tx1"/>
                </a:solidFill>
              </a:rPr>
              <a:t>6.182 con email generica, 7.504 con PEC</a:t>
            </a:r>
            <a:endParaRPr lang="en-US" sz="2600" dirty="0"/>
          </a:p>
        </p:txBody>
      </p:sp>
      <p:sp>
        <p:nvSpPr>
          <p:cNvPr id="5" name="Numero Comuni con email tributi o ambiente"/>
          <p:cNvSpPr/>
          <p:nvPr/>
        </p:nvSpPr>
        <p:spPr>
          <a:xfrm>
            <a:off x="2926080" y="1188720"/>
            <a:ext cx="2194560" cy="1417320"/>
          </a:xfrm>
          <a:prstGeom prst="roundRect">
            <a:avLst>
              <a:gd name="adj" fmla="val 7742"/>
            </a:avLst>
          </a:prstGeom>
          <a:solidFill>
            <a:schemeClr val="bg2"/>
          </a:solidFill>
          <a:ln w="12700">
            <a:solidFill>
              <a:schemeClr val="bg2"/>
            </a:solidFill>
            <a:prstDash val="solid"/>
          </a:ln>
        </p:spPr>
      </p:sp>
      <p:sp>
        <p:nvSpPr>
          <p:cNvPr id="6" name="Text 4"/>
          <p:cNvSpPr txBox="1"/>
          <p:nvPr/>
        </p:nvSpPr>
        <p:spPr>
          <a:xfrm>
            <a:off x="306324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3.092</a:t>
            </a:r>
            <a:endParaRPr lang="en-US" sz="2600" dirty="0"/>
          </a:p>
          <a:p>
            <a:pPr indent="0" marL="0">
              <a:buNone/>
            </a:pPr>
            <a:r>
              <a:rPr lang="en-US" sz="1200" b="1" dirty="0">
                <a:solidFill>
                  <a:schemeClr val="tx1"/>
                </a:solidFill>
              </a:rPr>
              <a:t>Comuni con email tributi o ambiente</a:t>
            </a:r>
            <a:endParaRPr lang="en-US" sz="2600" dirty="0"/>
          </a:p>
          <a:p>
            <a:pPr indent="0" marL="0">
              <a:buNone/>
            </a:pPr>
            <a:r>
              <a:rPr lang="en-US" sz="1050" dirty="0">
                <a:solidFill>
                  <a:schemeClr val="tx1"/>
                </a:solidFill>
              </a:rPr>
              <a:t>lette dai siti, con la pagina di provenienza</a:t>
            </a:r>
            <a:endParaRPr lang="en-US" sz="2600" dirty="0"/>
          </a:p>
        </p:txBody>
      </p:sp>
      <p:sp>
        <p:nvSpPr>
          <p:cNvPr id="7" name="Numero siti letti in automatico"/>
          <p:cNvSpPr/>
          <p:nvPr/>
        </p:nvSpPr>
        <p:spPr>
          <a:xfrm>
            <a:off x="5303520" y="1188720"/>
            <a:ext cx="219456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544068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5.535</a:t>
            </a:r>
            <a:endParaRPr lang="en-US" sz="2600" dirty="0"/>
          </a:p>
          <a:p>
            <a:pPr indent="0" marL="0">
              <a:buNone/>
            </a:pPr>
            <a:r>
              <a:rPr lang="en-US" sz="1200" b="1" dirty="0">
                <a:solidFill>
                  <a:schemeClr val="tx1"/>
                </a:solidFill>
              </a:rPr>
              <a:t>siti letti in automatico</a:t>
            </a:r>
            <a:endParaRPr lang="en-US" sz="2600" dirty="0"/>
          </a:p>
          <a:p>
            <a:pPr indent="0" marL="0">
              <a:buNone/>
            </a:pPr>
            <a:r>
              <a:rPr lang="en-US" sz="1050" dirty="0">
                <a:solidFill>
                  <a:schemeClr val="tx1"/>
                </a:solidFill>
              </a:rPr>
              <a:t>gratis; 985 rifiutano i programmi automatici</a:t>
            </a:r>
            <a:endParaRPr lang="en-US" sz="2600" dirty="0"/>
          </a:p>
        </p:txBody>
      </p:sp>
      <p:sp>
        <p:nvSpPr>
          <p:cNvPr id="9" name="Lettura dei siti"/>
          <p:cNvSpPr/>
          <p:nvPr/>
        </p:nvSpPr>
        <p:spPr>
          <a:xfrm>
            <a:off x="548640" y="2834640"/>
            <a:ext cx="6949440" cy="2011680"/>
          </a:xfrm>
          <a:prstGeom prst="roundRect">
            <a:avLst>
              <a:gd name="adj" fmla="val 5455"/>
            </a:avLst>
          </a:prstGeom>
          <a:solidFill>
            <a:schemeClr val="bg2"/>
          </a:solidFill>
          <a:ln w="12700">
            <a:solidFill>
              <a:schemeClr val="bg2"/>
            </a:solidFill>
            <a:prstDash val="solid"/>
          </a:ln>
        </p:spPr>
      </p:sp>
      <p:sp>
        <p:nvSpPr>
          <p:cNvPr id="10" name="Text 8"/>
          <p:cNvSpPr txBox="1"/>
          <p:nvPr/>
        </p:nvSpPr>
        <p:spPr>
          <a:xfrm>
            <a:off x="731520" y="2926080"/>
            <a:ext cx="6583680" cy="1828800"/>
          </a:xfrm>
          <a:prstGeom prst="rect">
            <a:avLst/>
          </a:prstGeom>
          <a:noFill/>
          <a:ln/>
        </p:spPr>
        <p:txBody>
          <a:bodyPr wrap="square" lIns="0" tIns="0" rIns="0" bIns="0" rtlCol="0" anchor="t"/>
          <a:lstStyle/>
          <a:p>
            <a:pPr indent="0" marL="0">
              <a:buNone/>
            </a:pPr>
            <a:r>
              <a:rPr lang="en-US" sz="1350" b="1" dirty="0">
                <a:solidFill>
                  <a:schemeClr val="tx2"/>
                </a:solidFill>
              </a:rPr>
              <a:t>Lettura dei siti di Comuni e gestori</a:t>
            </a:r>
            <a:endParaRPr lang="en-US" sz="1350" dirty="0"/>
          </a:p>
          <a:p>
            <a:pPr indent="0" marL="0">
              <a:buNone/>
            </a:pPr>
            <a:r>
              <a:rPr lang="en-US" sz="1250" dirty="0">
                <a:solidFill>
                  <a:schemeClr val="tx1"/>
                </a:solidFill>
              </a:rPr>
              <a:t>Il portale legge da solo home page, contatti, uffici, amministrazione trasparente e organigramma (rispetta robots.txt, una pagina alla volta) e completa email generica, PEC, telefono, uffici tributi e ambiente con i responsabili, amministratori e direttori dei gestori. Regole fisse nel codice, nessun servizio a pagamento (scelta di Luca). Riempie solo i campi vuoti; ogni dato ha la pagina da cui è preso. Gestori: 166 imprese lombarde delle classi A-C verificate a mano; per i circa 5.650 gestori senza sito il sito va prima trovato.</a:t>
            </a:r>
            <a:endParaRPr lang="en-US" sz="1350" dirty="0"/>
          </a:p>
        </p:txBody>
      </p:sp>
      <p:sp>
        <p:nvSpPr>
          <p:cNvPr id="11" name="Elenco novità 25-26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2" name="Text 10"/>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Pratiche</a:t>
            </a:r>
            <a:endParaRPr lang="en-US" sz="1350" dirty="0"/>
          </a:p>
          <a:p>
            <a:pPr indent="0" marL="0">
              <a:spcAft>
                <a:spcPts val="500"/>
              </a:spcAft>
              <a:buNone/>
            </a:pPr>
            <a:r>
              <a:rPr lang="en-US" sz="1200" dirty="0">
                <a:solidFill>
                  <a:schemeClr val="tx1"/>
                </a:solidFill>
              </a:rPr>
              <a:t>Rapporto di Monitoraggio solo per Progetti registrati (fase 6 completata)</a:t>
            </a:r>
            <a:endParaRPr lang="en-US" sz="1350" dirty="0"/>
          </a:p>
          <a:p>
            <a:pPr indent="0" marL="0">
              <a:spcAft>
                <a:spcPts val="500"/>
              </a:spcAft>
              <a:buNone/>
            </a:pPr>
            <a:r>
              <a:rPr lang="en-US" sz="1350" b="1" dirty="0">
                <a:solidFill>
                  <a:schemeClr val="tx2"/>
                </a:solidFill>
              </a:rPr>
              <a:t>Listino</a:t>
            </a:r>
            <a:endParaRPr lang="en-US" sz="1350" dirty="0"/>
          </a:p>
          <a:p>
            <a:pPr indent="0" marL="0">
              <a:spcAft>
                <a:spcPts val="500"/>
              </a:spcAft>
              <a:buNone/>
            </a:pPr>
            <a:r>
              <a:rPr lang="en-US" sz="1200" dirty="0">
                <a:solidFill>
                  <a:schemeClr val="tx1"/>
                </a:solidFill>
              </a:rPr>
              <a:t>Caso 1 o Caso 2 obbligatorio per ogni Progetto; i 5 Progetti esistenti a Caso 1 con abitanti</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scenari di stima per i 5 Comuni dei Progetti (cluster SOSE 4, Tabella 3)</a:t>
            </a:r>
            <a:endParaRPr lang="en-US" sz="1350" dirty="0"/>
          </a:p>
          <a:p>
            <a:pPr indent="0" marL="0">
              <a:spcAft>
                <a:spcPts val="500"/>
              </a:spcAft>
              <a:buNone/>
            </a:pPr>
            <a:r>
              <a:rPr lang="en-US" sz="1350" b="1" dirty="0">
                <a:solidFill>
                  <a:schemeClr val="tx2"/>
                </a:solidFill>
              </a:rPr>
              <a:t>Marketing</a:t>
            </a:r>
            <a:endParaRPr lang="en-US" sz="1350" dirty="0"/>
          </a:p>
          <a:p>
            <a:pPr indent="0" marL="0">
              <a:spcAft>
                <a:spcPts val="500"/>
              </a:spcAft>
              <a:buNone/>
            </a:pPr>
            <a:r>
              <a:rPr lang="en-US" sz="1200" dirty="0">
                <a:solidFill>
                  <a:schemeClr val="tx1"/>
                </a:solidFill>
              </a:rPr>
              <a:t>elenco dei Comuni senza filtri veloce; lettura automatica dei siti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2026-10-26T07:02:52Z</dcterms:created>
  <dcterms:modified xsi:type="dcterms:W3CDTF">2026-10-26T07:02:52Z</dcterms:modified>
</cp:coreProperties>
</file>