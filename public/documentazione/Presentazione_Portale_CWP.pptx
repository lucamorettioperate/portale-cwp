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103ac4f-330f-8b9a-6a33-6bf452a07465}">
          <p14:sldIdLst>
            <p14:sldId id="256"/>
          </p14:sldIdLst>
        </p14:section>
        <p14:section name="Metodologia" id="{bb27aa64-3b49-3a30-d8b8-47b0b77dd9a0}">
          <p14:sldIdLst>
            <p14:sldId id="257"/>
          </p14:sldIdLst>
        </p14:section>
        <p14:section name="Analisi funzionale" id="{23e48304-e601-6c43-a5da-16576dc01039}">
          <p14:sldIdLst>
            <p14:sldId id="258"/>
            <p14:sldId id="259"/>
          </p14:sldIdLst>
        </p14:section>
        <p14:section name="Già realtà" id="{f6af8de7-3c6a-c460-0512-f6d8dca2b699}">
          <p14:sldIdLst>
            <p14:sldId id="260"/>
          </p14:sldIdLst>
        </p14:section>
        <p14:section name="Architettura e ruoli" id="{e99a87d7-9d68-2c42-a284-9388b3179635}">
          <p14:sldIdLst>
            <p14:sldId id="261"/>
            <p14:sldId id="262"/>
          </p14:sldIdLst>
        </p14:section>
        <p14:section name="Novità" id="{6c762d9e-0e45-61c9-c5a5-8ae9aff5ecfa}">
          <p14:sldIdLst>
            <p14:sldId id="263"/>
            <p14:sldId id="264"/>
            <p14:sldId id="265"/>
          </p14:sldIdLst>
        </p14:section>
        <p14:section name="Punti aperti" id="{117c4e4a-8f3b-c2bd-5126-b6675b037cf7}">
          <p14:sldIdLst>
            <p14:sldId id="266"/>
            <p14:sldId id="267"/>
            <p14:sldId id="268"/>
            <p14:sldId id="269"/>
            <p14:sldId id="270"/>
          </p14:sldIdLst>
        </p14:section>
        <p14:section name="Scelte da prendere" id="{a64c973e-abd3-e1a4-989f-28d49209850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23 ottobre 2026 (revisione 4.1):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184 versioni, 44 script del database e 8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Sezione Marketing, richiesta di Luca del 23 ottobre 2026, solo Amministratori. Banche dati: tutti i Comuni italiani (elenco ISTAT con abitanti, poi dall'Indice dei domicili digitali della PA, IndicePA, PEC, email generica, sito, sindaco e responsabili degli uffici tributi, ambiente, finanziario e tecnico) e i gestori iscritti all'Albo Nazionale Gestori Ambientali in categoria 1 ordinaria, sezione per sezione, con verifica sui siti delle attività di raccolta e di gestione della tariffa e dei referenti. Campagne: testo con grafica, invito a scoprire le risorse economiche per 7, 10 o 21 anni; per ogni campagna si scelgono i destinatari (Comuni e gestori, regioni, abitanti, attività); invio solo agli indirizzi email generici, mai alle PEC, con informativa e collegamento per non ricevere altre comunicazioni. Il pulsante «Approfondisci» porta alla pagina pubblica /scopri: il Comune inserisce abitanti, rifiuti totali e secco residuo, durata e listino e vede crediti, ricavi, costi e margine anno per anno con il motore del simulatore; può scaricare il fascicolo informativo e chiedere la registrazione, che arriva a tutti gli Amministratori. Prima degli invii reali: dominio email verificato su Resend e verifica legale delle comunicazioni promozionali via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23 ottobre 2026 · rev. 4.1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23 ottobre 2026 · rev. 4.1</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44</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8</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≈42.900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184</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44</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≈42.900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prezzo di riferimento 32 €</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Marketing: Comuni, gestori e campagne</a:t>
            </a:r>
            <a:endParaRPr lang="en-US" sz="3000" dirty="0"/>
          </a:p>
        </p:txBody>
      </p:sp>
      <p:pic>
        <p:nvPicPr>
          <p:cNvPr id="3" name="Schermata micro simulazione" descr="Pagina Approfondisci: micro simulazione di un Comune con margine, ricavi, costi e grafico per anno (dati di prova)">    </p:cNvPr>
          <p:cNvPicPr>
            <a:picLocks noChangeAspect="1"/>
          </p:cNvPicPr>
          <p:nvPr/>
        </p:nvPicPr>
        <p:blipFill>
          <a:blip r:embed="rId1"/>
          <a:stretch>
            <a:fillRect/>
          </a:stretch>
        </p:blipFill>
        <p:spPr>
          <a:xfrm>
            <a:off x="548640" y="1188720"/>
            <a:ext cx="6949440" cy="3817298"/>
          </a:xfrm>
          <a:prstGeom prst="rect">
            <a:avLst/>
          </a:prstGeom>
        </p:spPr>
      </p:pic>
      <p:sp>
        <p:nvSpPr>
          <p:cNvPr id="4" name="Text 1"/>
          <p:cNvSpPr txBox="1"/>
          <p:nvPr/>
        </p:nvSpPr>
        <p:spPr>
          <a:xfrm>
            <a:off x="548640" y="505173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Pagina «Approfondisci»: micro simulazione di un Comune di 16.735 abitanti, 10 anni, Caso 1</a:t>
            </a:r>
            <a:endParaRPr lang="en-US" sz="1000" dirty="0"/>
          </a:p>
        </p:txBody>
      </p:sp>
      <p:sp>
        <p:nvSpPr>
          <p:cNvPr id="5" name="Sezione Marketing"/>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6" name="Text 3"/>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Comuni</a:t>
            </a:r>
            <a:endParaRPr lang="en-US" sz="1350" dirty="0"/>
          </a:p>
          <a:p>
            <a:pPr indent="0" marL="0">
              <a:spcAft>
                <a:spcPts val="500"/>
              </a:spcAft>
              <a:buNone/>
            </a:pPr>
            <a:r>
              <a:rPr lang="en-US" sz="1200" dirty="0">
                <a:solidFill>
                  <a:schemeClr val="tx1"/>
                </a:solidFill>
              </a:rPr>
              <a:t>tutti i 7.904 Comuni per regione e provincia (ISTAT), con PEC, email generica, sito, sindaco e responsabili di tributi e ambiente (IndicePA)</a:t>
            </a:r>
            <a:endParaRPr lang="en-US" sz="1350" dirty="0"/>
          </a:p>
          <a:p>
            <a:pPr indent="0" marL="0">
              <a:spcAft>
                <a:spcPts val="500"/>
              </a:spcAft>
              <a:buNone/>
            </a:pPr>
            <a:r>
              <a:rPr lang="en-US" sz="1350" b="1" dirty="0">
                <a:solidFill>
                  <a:schemeClr val="tx2"/>
                </a:solidFill>
              </a:rPr>
              <a:t>Gestori</a:t>
            </a:r>
            <a:endParaRPr lang="en-US" sz="1350" dirty="0"/>
          </a:p>
          <a:p>
            <a:pPr indent="0" marL="0">
              <a:spcAft>
                <a:spcPts val="500"/>
              </a:spcAft>
              <a:buNone/>
            </a:pPr>
            <a:r>
              <a:rPr lang="en-US" sz="1200" dirty="0">
                <a:solidFill>
                  <a:schemeClr val="tx1"/>
                </a:solidFill>
              </a:rPr>
              <a:t>imprese dell'Albo Gestori Ambientali in categoria 1, con attività di raccolta e tariffa, PEC, email e referenti</a:t>
            </a:r>
            <a:endParaRPr lang="en-US" sz="1350" dirty="0"/>
          </a:p>
          <a:p>
            <a:pPr indent="0" marL="0">
              <a:spcAft>
                <a:spcPts val="500"/>
              </a:spcAft>
              <a:buNone/>
            </a:pPr>
            <a:r>
              <a:rPr lang="en-US" sz="1350" b="1" dirty="0">
                <a:solidFill>
                  <a:schemeClr val="tx2"/>
                </a:solidFill>
              </a:rPr>
              <a:t>Campagne</a:t>
            </a:r>
            <a:endParaRPr lang="en-US" sz="1350" dirty="0"/>
          </a:p>
          <a:p>
            <a:pPr indent="0" marL="0">
              <a:spcAft>
                <a:spcPts val="500"/>
              </a:spcAft>
              <a:buNone/>
            </a:pPr>
            <a:r>
              <a:rPr lang="en-US" sz="1200" dirty="0">
                <a:solidFill>
                  <a:schemeClr val="tx1"/>
                </a:solidFill>
              </a:rPr>
              <a:t>testo e grafica, destinatari scelti per ogni campagna, solo email generiche (mai PEC), disiscrizione e informativa</a:t>
            </a:r>
            <a:endParaRPr lang="en-US" sz="1350" dirty="0"/>
          </a:p>
          <a:p>
            <a:pPr indent="0" marL="0">
              <a:spcAft>
                <a:spcPts val="500"/>
              </a:spcAft>
              <a:buNone/>
            </a:pPr>
            <a:r>
              <a:rPr lang="en-US" sz="1350" b="1" dirty="0">
                <a:solidFill>
                  <a:schemeClr val="tx2"/>
                </a:solidFill>
              </a:rPr>
              <a:t>Approfondisci</a:t>
            </a:r>
            <a:endParaRPr lang="en-US" sz="1350" dirty="0"/>
          </a:p>
          <a:p>
            <a:pPr indent="0" marL="0">
              <a:spcAft>
                <a:spcPts val="500"/>
              </a:spcAft>
              <a:buNone/>
            </a:pPr>
            <a:r>
              <a:rPr lang="en-US" sz="1200" dirty="0">
                <a:solidFill>
                  <a:schemeClr val="tx1"/>
                </a:solidFill>
              </a:rPr>
              <a:t>simulazione di costi e ricavi per 7, 10 o 21 anni, fascicolo PDF, richiesta di registrazione a tutti gli Amministratori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2026-10-23T10:06:40Z</dcterms:created>
  <dcterms:modified xsi:type="dcterms:W3CDTF">2026-10-23T10:06:40Z</dcterms:modified>
</cp:coreProperties>
</file>