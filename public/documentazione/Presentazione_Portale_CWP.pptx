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fc84a41-0759-46c6-cfb0-e646a4743456}">
          <p14:sldIdLst>
            <p14:sldId id="256"/>
          </p14:sldIdLst>
        </p14:section>
        <p14:section name="Metodologia" id="{86a7953c-9bf7-6359-6ae0-ac8f5fc69c79}">
          <p14:sldIdLst>
            <p14:sldId id="257"/>
          </p14:sldIdLst>
        </p14:section>
        <p14:section name="Analisi funzionale" id="{09b1036f-fe66-5ea3-4ca0-b6acbd336499}">
          <p14:sldIdLst>
            <p14:sldId id="258"/>
            <p14:sldId id="259"/>
          </p14:sldIdLst>
        </p14:section>
        <p14:section name="Già realtà" id="{2f735003-5174-9e82-df6c-e87b764d6476}">
          <p14:sldIdLst>
            <p14:sldId id="260"/>
          </p14:sldIdLst>
        </p14:section>
        <p14:section name="Architettura e ruoli" id="{c1337424-0e3b-529c-518d-b7e24061ef5b}">
          <p14:sldIdLst>
            <p14:sldId id="261"/>
            <p14:sldId id="262"/>
          </p14:sldIdLst>
        </p14:section>
        <p14:section name="Novità" id="{0dbbb492-fb8f-ba6c-9932-e492b9995047}">
          <p14:sldIdLst>
            <p14:sldId id="263"/>
            <p14:sldId id="264"/>
            <p14:sldId id="265"/>
          </p14:sldIdLst>
        </p14:section>
        <p14:section name="Punti aperti" id="{f70e330d-7b20-31a9-631c-185d2e099f7b}">
          <p14:sldIdLst>
            <p14:sldId id="266"/>
            <p14:sldId id="267"/>
            <p14:sldId id="268"/>
            <p14:sldId id="269"/>
            <p14:sldId id="270"/>
          </p14:sldIdLst>
        </p14:section>
        <p14:section name="Scelte da prendere" id="{ab9ef203-faad-135c-47f6-2e14a39efa4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25 ottobre 2026 (revisione 4.2):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204 versioni, 46 script del database e 8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22 e 23 ottobre 2026. Collaudo: i rilievi N01-N04 della terza sessione sono corretti e in produzione dal 22/10 alle 14:30 (script 39); N05 e N06 aspettano una regola della Fondazione. Smartphone: fino a 760 px l'intestazione è compatta con il pulsante Menu, Dashboard e Audit diventano schede, le pratiche si aprono una alla volta e l'assistente occupa lo schermo. Banca Dati Utenze per utenza (script 40, 22/10): ogni anno il Comune o il gestore compila il modello Excel con l'elenco completo delle utenze, domestiche e non domestiche, con kg e svuotamenti per frazione e categoria tariffaria; il portale propone la categoria di simulazione uguale alla tariffaria e la si può cambiare da un modulo per ogni utenza. Dal 23/10 (script 41) «Calcola» usa le utenze: la categoria di simulazione decide la classe della delibera e quindi i rifiuti attesi, i kg sono i rifiuti prodotti, le frazioni lasciate vuote non entrano nel calcolo di quell'utenza; utenze senza categoria o con categoria fuori delibera restano fuori e bloccano la conferma. Nomi e indirizzi sono visibili solo allo staff, con ogni consultazione nell'Audit; servono DPIA e accordo art. 28 con i Comuni prima dei dati reali. Dashboard (script 42, 23/10): valore complessivo dei crediti in simulazione (ultimo scenario per Comune, crediti ed euro del periodo) e in fase esecutiva (calcoli ex post confermati, lotti emessi, vendite), con prezzo di riferimento di 32 € modificabile in Impostazioni; gli utenti dei Comuni vedono gli stessi riquadri con i soli propri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Sezione Marketing, richiesta di Luca del 23 ottobre 2026, solo Amministratori. Banche dati: tutti i Comuni italiani (elenco ISTAT con abitanti, poi dall'Indice dei domicili digitali della PA, IndicePA, PEC, email generica, sito, sindaco e responsabili degli uffici tributi, ambiente, finanziario e tecnico) e i gestori iscritti all'Albo Nazionale Gestori Ambientali in categoria 1 ordinaria, sezione per sezione, con verifica sui siti delle attività di raccolta e di gestione della tariffa e dei referenti. Campagne: testo con grafica, invito a scoprire le risorse economiche per 7, 10 o 21 anni; per ogni campagna si scelgono i destinatari (Comuni e gestori, regioni, abitanti, attività); invio solo agli indirizzi email generici, mai alle PEC, con informativa e collegamento per non ricevere altre comunicazioni. Il pulsante «Approfondisci» porta alla pagina pubblica /scopri: il Comune inserisce abitanti, rifiuti totali e secco residuo, durata e listino e vede crediti, ricavi, costi e margine anno per anno con il motore del simulatore; può scaricare il fascicolo informativo e chiedere la registrazione, che arriva a tutti gli Amministratori. Dal 25 ottobre il portale legge da solo i siti di Comuni e gestori (contatti, uffici, amministrazione trasparente, organigramma) e completa email generica, PEC, telefono, uffici tributi e ambiente e amministratori, con la pagina di provenienza: regole fisse nel codice, nessun servizio a pagamento. Prima degli invii reali: dominio email verificato su Resend e verifica legale delle comunicazioni promozionali via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25 ottobre 2026 · rev. 4.2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25 ottobre 2026 · rev. 4.2</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46</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8</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≈44.400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204</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46</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≈44.400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22 e 23 ottobre</a:t>
            </a:r>
            <a:endParaRPr lang="en-US" sz="3000" dirty="0"/>
          </a:p>
        </p:txBody>
      </p:sp>
      <p:pic>
        <p:nvPicPr>
          <p:cNvPr id="3" name="Schermata valore dei crediti" descr="Dashboard: riquadri del valore dei crediti in simulazione e in fase esecutiva (dati di prova)">    </p:cNvPr>
          <p:cNvPicPr>
            <a:picLocks noChangeAspect="1"/>
          </p:cNvPicPr>
          <p:nvPr/>
        </p:nvPicPr>
        <p:blipFill>
          <a:blip r:embed="rId1"/>
          <a:stretch>
            <a:fillRect/>
          </a:stretch>
        </p:blipFill>
        <p:spPr>
          <a:xfrm>
            <a:off x="548640" y="1188720"/>
            <a:ext cx="6949440" cy="1493268"/>
          </a:xfrm>
          <a:prstGeom prst="rect">
            <a:avLst/>
          </a:prstGeom>
        </p:spPr>
      </p:pic>
      <p:sp>
        <p:nvSpPr>
          <p:cNvPr id="4" name="Text 1"/>
          <p:cNvSpPr txBox="1"/>
          <p:nvPr/>
        </p:nvSpPr>
        <p:spPr>
          <a:xfrm>
            <a:off x="548640" y="272770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valore dei crediti, dati di prova</a:t>
            </a:r>
            <a:endParaRPr lang="en-US" sz="1000" dirty="0"/>
          </a:p>
        </p:txBody>
      </p:sp>
      <p:sp>
        <p:nvSpPr>
          <p:cNvPr id="5" name="Valore crediti In simulazione"/>
          <p:cNvSpPr/>
          <p:nvPr/>
        </p:nvSpPr>
        <p:spPr>
          <a:xfrm>
            <a:off x="548640" y="3063240"/>
            <a:ext cx="2194560" cy="960120"/>
          </a:xfrm>
          <a:prstGeom prst="roundRect">
            <a:avLst>
              <a:gd name="adj" fmla="val 11429"/>
            </a:avLst>
          </a:prstGeom>
          <a:solidFill>
            <a:schemeClr val="accent3"/>
          </a:solidFill>
          <a:ln w="12700">
            <a:solidFill>
              <a:schemeClr val="accent3"/>
            </a:solidFill>
            <a:prstDash val="solid"/>
          </a:ln>
        </p:spPr>
      </p:sp>
      <p:sp>
        <p:nvSpPr>
          <p:cNvPr id="6" name="Text 3"/>
          <p:cNvSpPr txBox="1"/>
          <p:nvPr/>
        </p:nvSpPr>
        <p:spPr>
          <a:xfrm>
            <a:off x="68580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simulazione</a:t>
            </a:r>
            <a:endParaRPr lang="en-US" sz="1300" dirty="0"/>
          </a:p>
          <a:p>
            <a:pPr indent="0" marL="0">
              <a:buNone/>
            </a:pPr>
            <a:r>
              <a:rPr lang="en-US" sz="1150" dirty="0">
                <a:solidFill>
                  <a:schemeClr val="tx1"/>
                </a:solidFill>
              </a:rPr>
              <a:t>ultimo scenario per Comune, crediti ed euro del periodo</a:t>
            </a:r>
            <a:endParaRPr lang="en-US" sz="1300" dirty="0"/>
          </a:p>
        </p:txBody>
      </p:sp>
      <p:sp>
        <p:nvSpPr>
          <p:cNvPr id="7" name="Valore crediti In fase esecutiva"/>
          <p:cNvSpPr/>
          <p:nvPr/>
        </p:nvSpPr>
        <p:spPr>
          <a:xfrm>
            <a:off x="2926080" y="3063240"/>
            <a:ext cx="2194560" cy="960120"/>
          </a:xfrm>
          <a:prstGeom prst="roundRect">
            <a:avLst>
              <a:gd name="adj" fmla="val 11429"/>
            </a:avLst>
          </a:prstGeom>
          <a:solidFill>
            <a:schemeClr val="bg2"/>
          </a:solidFill>
          <a:ln w="12700">
            <a:solidFill>
              <a:schemeClr val="bg2"/>
            </a:solidFill>
            <a:prstDash val="solid"/>
          </a:ln>
        </p:spPr>
      </p:sp>
      <p:sp>
        <p:nvSpPr>
          <p:cNvPr id="8" name="Text 5"/>
          <p:cNvSpPr txBox="1"/>
          <p:nvPr/>
        </p:nvSpPr>
        <p:spPr>
          <a:xfrm>
            <a:off x="306324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fase esecutiva</a:t>
            </a:r>
            <a:endParaRPr lang="en-US" sz="1300" dirty="0"/>
          </a:p>
          <a:p>
            <a:pPr indent="0" marL="0">
              <a:buNone/>
            </a:pPr>
            <a:r>
              <a:rPr lang="en-US" sz="1150" dirty="0">
                <a:solidFill>
                  <a:schemeClr val="tx1"/>
                </a:solidFill>
              </a:rPr>
              <a:t>calcolati, emessi e venduti; prezzo di riferimento 32 €</a:t>
            </a:r>
            <a:endParaRPr lang="en-US" sz="1300" dirty="0"/>
          </a:p>
        </p:txBody>
      </p:sp>
      <p:sp>
        <p:nvSpPr>
          <p:cNvPr id="9" name="Valore crediti Valore progetti"/>
          <p:cNvSpPr/>
          <p:nvPr/>
        </p:nvSpPr>
        <p:spPr>
          <a:xfrm>
            <a:off x="5303520" y="3063240"/>
            <a:ext cx="2194560" cy="960120"/>
          </a:xfrm>
          <a:prstGeom prst="roundRect">
            <a:avLst>
              <a:gd name="adj" fmla="val 11429"/>
            </a:avLst>
          </a:prstGeom>
          <a:solidFill>
            <a:schemeClr val="bg2"/>
          </a:solidFill>
          <a:ln w="12700">
            <a:solidFill>
              <a:schemeClr val="bg2"/>
            </a:solidFill>
            <a:prstDash val="solid"/>
          </a:ln>
        </p:spPr>
      </p:sp>
      <p:sp>
        <p:nvSpPr>
          <p:cNvPr id="10" name="Text 7"/>
          <p:cNvSpPr txBox="1"/>
          <p:nvPr/>
        </p:nvSpPr>
        <p:spPr>
          <a:xfrm>
            <a:off x="544068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Valore progetti</a:t>
            </a:r>
            <a:endParaRPr lang="en-US" sz="1300" dirty="0"/>
          </a:p>
          <a:p>
            <a:pPr indent="0" marL="0">
              <a:buNone/>
            </a:pPr>
            <a:r>
              <a:rPr lang="en-US" sz="1150" dirty="0">
                <a:solidFill>
                  <a:schemeClr val="tx1"/>
                </a:solidFill>
              </a:rPr>
              <a:t>quanto paga il cliente, listino Caso 1 o Caso 2 scelto sul Progetto</a:t>
            </a:r>
            <a:endParaRPr lang="en-US" sz="1300" dirty="0"/>
          </a:p>
        </p:txBody>
      </p:sp>
      <p:sp>
        <p:nvSpPr>
          <p:cNvPr id="11" name="Banca Dati Utenze per utenza"/>
          <p:cNvSpPr/>
          <p:nvPr/>
        </p:nvSpPr>
        <p:spPr>
          <a:xfrm>
            <a:off x="548640" y="4206240"/>
            <a:ext cx="6949440" cy="2057400"/>
          </a:xfrm>
          <a:prstGeom prst="roundRect">
            <a:avLst>
              <a:gd name="adj" fmla="val 5333"/>
            </a:avLst>
          </a:prstGeom>
          <a:solidFill>
            <a:schemeClr val="accent4"/>
          </a:solidFill>
          <a:ln w="12700">
            <a:solidFill>
              <a:schemeClr val="accent4"/>
            </a:solidFill>
            <a:prstDash val="solid"/>
          </a:ln>
        </p:spPr>
      </p:sp>
      <p:sp>
        <p:nvSpPr>
          <p:cNvPr id="12" name="Text 9"/>
          <p:cNvSpPr txBox="1"/>
          <p:nvPr/>
        </p:nvSpPr>
        <p:spPr>
          <a:xfrm>
            <a:off x="731520" y="4251960"/>
            <a:ext cx="6583680" cy="1965960"/>
          </a:xfrm>
          <a:prstGeom prst="rect">
            <a:avLst/>
          </a:prstGeom>
          <a:noFill/>
          <a:ln/>
        </p:spPr>
        <p:txBody>
          <a:bodyPr wrap="square" lIns="0" tIns="0" rIns="0" bIns="0" rtlCol="0" anchor="ctr"/>
          <a:lstStyle/>
          <a:p>
            <a:pPr indent="0" marL="0">
              <a:buNone/>
            </a:pPr>
            <a:r>
              <a:rPr lang="en-US" sz="1350" b="1" dirty="0">
                <a:solidFill>
                  <a:schemeClr val="tx2"/>
                </a:solidFill>
              </a:rPr>
              <a:t>Banca Dati Utenze per utenza (calcolo dei crediti)</a:t>
            </a:r>
            <a:endParaRPr lang="en-US" sz="1350" dirty="0"/>
          </a:p>
          <a:p>
            <a:pPr indent="0" marL="0">
              <a:buNone/>
            </a:pPr>
            <a:r>
              <a:rPr lang="en-US" sz="1200" dirty="0">
                <a:solidFill>
                  <a:schemeClr val="tx1"/>
                </a:solidFill>
              </a:rPr>
              <a:t>Ogni anno l'elenco completo delle utenze, domestiche e non domestiche, dal modello Excel: kg e svuotamenti per frazione, categoria tariffaria e di simulazione. Passo «5a» con schede, ricerca e un modulo per ogni utenza; «Calcola» usa le utenze (classe = categoria di simulazione, kg misurati). Nomi visibili solo allo staff, ogni consultazione nell'Audit.</a:t>
            </a:r>
            <a:endParaRPr lang="en-US" sz="1350" dirty="0"/>
          </a:p>
        </p:txBody>
      </p:sp>
      <p:sp>
        <p:nvSpPr>
          <p:cNvPr id="13" name="Elenco novità 22-23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Collaudo</a:t>
            </a:r>
            <a:endParaRPr lang="en-US" sz="1350" dirty="0"/>
          </a:p>
          <a:p>
            <a:pPr indent="0" marL="0">
              <a:spcAft>
                <a:spcPts val="500"/>
              </a:spcAft>
              <a:buNone/>
            </a:pPr>
            <a:r>
              <a:rPr lang="en-US" sz="1200" dirty="0">
                <a:solidFill>
                  <a:schemeClr val="tx1"/>
                </a:solidFill>
              </a:rPr>
              <a:t>rilievi N01-N04 corretti e in produzione (22/10); N05 e N06 in attesa della regola della Fondazione</a:t>
            </a:r>
            <a:endParaRPr lang="en-US" sz="1350" dirty="0"/>
          </a:p>
          <a:p>
            <a:pPr indent="0" marL="0">
              <a:spcAft>
                <a:spcPts val="500"/>
              </a:spcAft>
              <a:buNone/>
            </a:pPr>
            <a:r>
              <a:rPr lang="en-US" sz="1350" b="1" dirty="0">
                <a:solidFill>
                  <a:schemeClr val="tx2"/>
                </a:solidFill>
              </a:rPr>
              <a:t>Smartphone</a:t>
            </a:r>
            <a:endParaRPr lang="en-US" sz="1350" dirty="0"/>
          </a:p>
          <a:p>
            <a:pPr indent="0" marL="0">
              <a:spcAft>
                <a:spcPts val="500"/>
              </a:spcAft>
              <a:buNone/>
            </a:pPr>
            <a:r>
              <a:rPr lang="en-US" sz="1200" dirty="0">
                <a:solidFill>
                  <a:schemeClr val="tx1"/>
                </a:solidFill>
              </a:rPr>
              <a:t>menu a pannello, schede al posto delle tabelle, pratiche una alla volta, assistente a schermo intero (22/10)</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fasi aperte senza scadenza (22/10); valore dei crediti in simulazione e in fase esecutiva e valore dei progetti per il cliente (Caso 1 / Caso 2), anche per i Comuni (23/10)</a:t>
            </a:r>
            <a:endParaRPr lang="en-US" sz="1350" dirty="0"/>
          </a:p>
          <a:p>
            <a:pPr indent="0" marL="0">
              <a:spcAft>
                <a:spcPts val="500"/>
              </a:spcAft>
              <a:buNone/>
            </a:pPr>
            <a:r>
              <a:rPr lang="en-US" sz="1350" b="1" dirty="0">
                <a:solidFill>
                  <a:schemeClr val="tx2"/>
                </a:solidFill>
              </a:rPr>
              <a:t>Calcolo crediti</a:t>
            </a:r>
            <a:endParaRPr lang="en-US" sz="1350" dirty="0"/>
          </a:p>
          <a:p>
            <a:pPr indent="0" marL="0">
              <a:spcAft>
                <a:spcPts val="500"/>
              </a:spcAft>
              <a:buNone/>
            </a:pPr>
            <a:r>
              <a:rPr lang="en-US" sz="1200" dirty="0">
                <a:solidFill>
                  <a:schemeClr val="tx1"/>
                </a:solidFill>
              </a:rPr>
              <a:t>Banca Dati Utenze per utenza e collegamento al motore; calcolo di prova con 20 + 20 utenze inventate (22-23/10)</a:t>
            </a:r>
            <a:endParaRPr lang="en-US" sz="1350" dirty="0"/>
          </a:p>
          <a:p>
            <a:pPr indent="0" marL="0">
              <a:spcAft>
                <a:spcPts val="500"/>
              </a:spcAft>
              <a:buNone/>
            </a:pPr>
            <a:r>
              <a:rPr lang="en-US" sz="1350" b="1" dirty="0">
                <a:solidFill>
                  <a:schemeClr val="tx2"/>
                </a:solidFill>
              </a:rPr>
              <a:t>Notizie CO2 e backup</a:t>
            </a:r>
            <a:endParaRPr lang="en-US" sz="1350" dirty="0"/>
          </a:p>
          <a:p>
            <a:pPr indent="0" marL="0">
              <a:spcAft>
                <a:spcPts val="500"/>
              </a:spcAft>
              <a:buNone/>
            </a:pPr>
            <a:r>
              <a:rPr lang="en-US" sz="1200" dirty="0">
                <a:solidFill>
                  <a:schemeClr val="tx1"/>
                </a:solidFill>
              </a:rPr>
              <a:t>14 siti verificati; backup giornaliero dal Mac pronto da installare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Marketing: Comuni, gestori e campagne</a:t>
            </a:r>
            <a:endParaRPr lang="en-US" sz="3000" dirty="0"/>
          </a:p>
        </p:txBody>
      </p:sp>
      <p:pic>
        <p:nvPicPr>
          <p:cNvPr id="3" name="Schermata micro simulazione" descr="Pagina Approfondisci: micro simulazione di un Comune con margine, ricavi, costi e grafico per anno (dati di prova)">    </p:cNvPr>
          <p:cNvPicPr>
            <a:picLocks noChangeAspect="1"/>
          </p:cNvPicPr>
          <p:nvPr/>
        </p:nvPicPr>
        <p:blipFill>
          <a:blip r:embed="rId1"/>
          <a:stretch>
            <a:fillRect/>
          </a:stretch>
        </p:blipFill>
        <p:spPr>
          <a:xfrm>
            <a:off x="548640" y="1188720"/>
            <a:ext cx="6949440" cy="3817298"/>
          </a:xfrm>
          <a:prstGeom prst="rect">
            <a:avLst/>
          </a:prstGeom>
        </p:spPr>
      </p:pic>
      <p:sp>
        <p:nvSpPr>
          <p:cNvPr id="4" name="Text 1"/>
          <p:cNvSpPr txBox="1"/>
          <p:nvPr/>
        </p:nvSpPr>
        <p:spPr>
          <a:xfrm>
            <a:off x="548640" y="505173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Pagina «Approfondisci»: micro simulazione di un Comune di 16.735 abitanti, 10 anni, Caso 1</a:t>
            </a:r>
            <a:endParaRPr lang="en-US" sz="1000" dirty="0"/>
          </a:p>
        </p:txBody>
      </p:sp>
      <p:sp>
        <p:nvSpPr>
          <p:cNvPr id="5" name="Sezione Marketing"/>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6" name="Text 3"/>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Comuni</a:t>
            </a:r>
            <a:endParaRPr lang="en-US" sz="1350" dirty="0"/>
          </a:p>
          <a:p>
            <a:pPr indent="0" marL="0">
              <a:spcAft>
                <a:spcPts val="500"/>
              </a:spcAft>
              <a:buNone/>
            </a:pPr>
            <a:r>
              <a:rPr lang="en-US" sz="1200" dirty="0">
                <a:solidFill>
                  <a:schemeClr val="tx1"/>
                </a:solidFill>
              </a:rPr>
              <a:t>tutti i 7.904 Comuni per regione e provincia (ISTAT), con PEC, email generica, sito, sindaco e responsabili di tributi e ambiente (IndicePA)</a:t>
            </a:r>
            <a:endParaRPr lang="en-US" sz="1350" dirty="0"/>
          </a:p>
          <a:p>
            <a:pPr indent="0" marL="0">
              <a:spcAft>
                <a:spcPts val="500"/>
              </a:spcAft>
              <a:buNone/>
            </a:pPr>
            <a:r>
              <a:rPr lang="en-US" sz="1350" b="1" dirty="0">
                <a:solidFill>
                  <a:schemeClr val="tx2"/>
                </a:solidFill>
              </a:rPr>
              <a:t>Gestori</a:t>
            </a:r>
            <a:endParaRPr lang="en-US" sz="1350" dirty="0"/>
          </a:p>
          <a:p>
            <a:pPr indent="0" marL="0">
              <a:spcAft>
                <a:spcPts val="500"/>
              </a:spcAft>
              <a:buNone/>
            </a:pPr>
            <a:r>
              <a:rPr lang="en-US" sz="1200" dirty="0">
                <a:solidFill>
                  <a:schemeClr val="tx1"/>
                </a:solidFill>
              </a:rPr>
              <a:t>imprese dell'Albo Gestori Ambientali in categoria 1, con attività di raccolta e tariffa, PEC, email e referenti</a:t>
            </a:r>
            <a:endParaRPr lang="en-US" sz="1350" dirty="0"/>
          </a:p>
          <a:p>
            <a:pPr indent="0" marL="0">
              <a:spcAft>
                <a:spcPts val="500"/>
              </a:spcAft>
              <a:buNone/>
            </a:pPr>
            <a:r>
              <a:rPr lang="en-US" sz="1350" b="1" dirty="0">
                <a:solidFill>
                  <a:schemeClr val="tx2"/>
                </a:solidFill>
              </a:rPr>
              <a:t>Lettura dei siti</a:t>
            </a:r>
            <a:endParaRPr lang="en-US" sz="1350" dirty="0"/>
          </a:p>
          <a:p>
            <a:pPr indent="0" marL="0">
              <a:spcAft>
                <a:spcPts val="500"/>
              </a:spcAft>
              <a:buNone/>
            </a:pPr>
            <a:r>
              <a:rPr lang="en-US" sz="1200" dirty="0">
                <a:solidFill>
                  <a:schemeClr val="tx1"/>
                </a:solidFill>
              </a:rPr>
              <a:t>il portale legge da solo i siti di Comuni e gestori e completa recapiti e uffici, con la fonte (regole fisse, gratuito)</a:t>
            </a:r>
            <a:endParaRPr lang="en-US" sz="1350" dirty="0"/>
          </a:p>
          <a:p>
            <a:pPr indent="0" marL="0">
              <a:spcAft>
                <a:spcPts val="500"/>
              </a:spcAft>
              <a:buNone/>
            </a:pPr>
            <a:r>
              <a:rPr lang="en-US" sz="1350" b="1" dirty="0">
                <a:solidFill>
                  <a:schemeClr val="tx2"/>
                </a:solidFill>
              </a:rPr>
              <a:t>Campagne</a:t>
            </a:r>
            <a:endParaRPr lang="en-US" sz="1350" dirty="0"/>
          </a:p>
          <a:p>
            <a:pPr indent="0" marL="0">
              <a:spcAft>
                <a:spcPts val="500"/>
              </a:spcAft>
              <a:buNone/>
            </a:pPr>
            <a:r>
              <a:rPr lang="en-US" sz="1200" dirty="0">
                <a:solidFill>
                  <a:schemeClr val="tx1"/>
                </a:solidFill>
              </a:rPr>
              <a:t>testo e grafica, destinatari scelti per ogni campagna, solo email generiche (mai PEC), disiscrizione e informativa</a:t>
            </a:r>
            <a:endParaRPr lang="en-US" sz="1350" dirty="0"/>
          </a:p>
          <a:p>
            <a:pPr indent="0" marL="0">
              <a:spcAft>
                <a:spcPts val="500"/>
              </a:spcAft>
              <a:buNone/>
            </a:pPr>
            <a:r>
              <a:rPr lang="en-US" sz="1350" b="1" dirty="0">
                <a:solidFill>
                  <a:schemeClr val="tx2"/>
                </a:solidFill>
              </a:rPr>
              <a:t>Approfondisci</a:t>
            </a:r>
            <a:endParaRPr lang="en-US" sz="1350" dirty="0"/>
          </a:p>
          <a:p>
            <a:pPr indent="0" marL="0">
              <a:spcAft>
                <a:spcPts val="500"/>
              </a:spcAft>
              <a:buNone/>
            </a:pPr>
            <a:r>
              <a:rPr lang="en-US" sz="1200" dirty="0">
                <a:solidFill>
                  <a:schemeClr val="tx1"/>
                </a:solidFill>
              </a:rPr>
              <a:t>simulazione di costi e ricavi per 7, 10 o 21 anni, fascicolo PDF, richiesta di registrazione a tutti gli Amministratori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valore dei crediti in Dashboard (23/10);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 frazioni vuote per utenza)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DPIA e accordo art. 28 per i dati delle utenze,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2026-10-25T11:03:10Z</dcterms:created>
  <dcterms:modified xsi:type="dcterms:W3CDTF">2026-10-25T11:03:10Z</dcterms:modified>
</cp:coreProperties>
</file>